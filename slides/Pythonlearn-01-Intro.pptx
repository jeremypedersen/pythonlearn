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tif" ContentType="image/ti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94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</p:sldIdLst>
  <p:sldSz cx="16256000" cy="9144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808080"/>
        </a:solidFill>
        <a:effectLst/>
        <a:uFillTx/>
        <a:latin typeface="+mn-lt"/>
        <a:ea typeface="+mn-ea"/>
        <a:cs typeface="+mn-cs"/>
        <a:sym typeface="Arial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808080"/>
        </a:solidFill>
        <a:effectLst/>
        <a:uFillTx/>
        <a:latin typeface="+mn-lt"/>
        <a:ea typeface="+mn-ea"/>
        <a:cs typeface="+mn-cs"/>
        <a:sym typeface="Arial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808080"/>
        </a:solidFill>
        <a:effectLst/>
        <a:uFillTx/>
        <a:latin typeface="+mn-lt"/>
        <a:ea typeface="+mn-ea"/>
        <a:cs typeface="+mn-cs"/>
        <a:sym typeface="Arial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808080"/>
        </a:solidFill>
        <a:effectLst/>
        <a:uFillTx/>
        <a:latin typeface="+mn-lt"/>
        <a:ea typeface="+mn-ea"/>
        <a:cs typeface="+mn-cs"/>
        <a:sym typeface="Arial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808080"/>
        </a:solidFill>
        <a:effectLst/>
        <a:uFillTx/>
        <a:latin typeface="+mn-lt"/>
        <a:ea typeface="+mn-ea"/>
        <a:cs typeface="+mn-cs"/>
        <a:sym typeface="Arial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808080"/>
        </a:solidFill>
        <a:effectLst/>
        <a:uFillTx/>
        <a:latin typeface="+mn-lt"/>
        <a:ea typeface="+mn-ea"/>
        <a:cs typeface="+mn-cs"/>
        <a:sym typeface="Arial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808080"/>
        </a:solidFill>
        <a:effectLst/>
        <a:uFillTx/>
        <a:latin typeface="+mn-lt"/>
        <a:ea typeface="+mn-ea"/>
        <a:cs typeface="+mn-cs"/>
        <a:sym typeface="Arial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808080"/>
        </a:solidFill>
        <a:effectLst/>
        <a:uFillTx/>
        <a:latin typeface="+mn-lt"/>
        <a:ea typeface="+mn-ea"/>
        <a:cs typeface="+mn-cs"/>
        <a:sym typeface="Arial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808080"/>
        </a:solidFill>
        <a:effectLst/>
        <a:uFillTx/>
        <a:latin typeface="+mn-lt"/>
        <a:ea typeface="+mn-ea"/>
        <a:cs typeface="+mn-cs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ED86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inor">
          <a:srgbClr val="808080"/>
        </a:fontRef>
        <a:srgbClr val="80808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7F3F4"/>
          </a:solidFill>
        </a:fill>
      </a:tcStyle>
    </a:wholeTbl>
    <a:band2H>
      <a:tcTxStyle/>
      <a:tcStyle>
        <a:tcBdr/>
        <a:fill>
          <a:solidFill>
            <a:srgbClr val="F3F9FA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808080"/>
        </a:fontRef>
        <a:srgbClr val="80808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2E2E2"/>
          </a:solidFill>
        </a:fill>
      </a:tcStyle>
    </a:wholeTbl>
    <a:band2H>
      <a:tcTxStyle/>
      <a:tcStyle>
        <a:tcBdr/>
        <a:fill>
          <a:solidFill>
            <a:srgbClr val="F1F1F1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808080"/>
        </a:fontRef>
        <a:srgbClr val="80808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CCCD9"/>
          </a:solidFill>
        </a:fill>
      </a:tcStyle>
    </a:wholeTbl>
    <a:band2H>
      <a:tcTxStyle/>
      <a:tcStyle>
        <a:tcBdr/>
        <a:fill>
          <a:solidFill>
            <a:srgbClr val="E7E7ED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808080"/>
        </a:fontRef>
        <a:srgbClr val="80808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CECEC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808080"/>
        </a:fontRef>
        <a:srgbClr val="80808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808080"/>
              </a:solidFill>
              <a:prstDash val="solid"/>
              <a:round/>
            </a:ln>
          </a:top>
          <a:bottom>
            <a:ln w="25400" cap="flat">
              <a:solidFill>
                <a:srgbClr val="80808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808080"/>
              </a:solidFill>
              <a:prstDash val="solid"/>
              <a:round/>
            </a:ln>
          </a:top>
          <a:bottom>
            <a:ln w="25400" cap="flat">
              <a:solidFill>
                <a:srgbClr val="80808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808080"/>
        </a:fontRef>
        <a:srgbClr val="80808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7D7D7"/>
          </a:solidFill>
        </a:fill>
      </a:tcStyle>
    </a:wholeTbl>
    <a:band2H>
      <a:tcTxStyle/>
      <a:tcStyle>
        <a:tcBdr/>
        <a:fill>
          <a:solidFill>
            <a:srgbClr val="ECECEC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80808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80808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80808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808080"/>
        </a:fontRef>
        <a:srgbClr val="808080"/>
      </a:tcTxStyle>
      <a:tcStyle>
        <a:tcBdr>
          <a:left>
            <a:ln w="12700" cap="flat">
              <a:solidFill>
                <a:srgbClr val="808080"/>
              </a:solidFill>
              <a:prstDash val="solid"/>
              <a:round/>
            </a:ln>
          </a:left>
          <a:right>
            <a:ln w="12700" cap="flat">
              <a:solidFill>
                <a:srgbClr val="808080"/>
              </a:solidFill>
              <a:prstDash val="solid"/>
              <a:round/>
            </a:ln>
          </a:right>
          <a:top>
            <a:ln w="12700" cap="flat">
              <a:solidFill>
                <a:srgbClr val="808080"/>
              </a:solidFill>
              <a:prstDash val="solid"/>
              <a:round/>
            </a:ln>
          </a:top>
          <a:bottom>
            <a:ln w="12700" cap="flat">
              <a:solidFill>
                <a:srgbClr val="808080"/>
              </a:solidFill>
              <a:prstDash val="solid"/>
              <a:round/>
            </a:ln>
          </a:bottom>
          <a:insideH>
            <a:ln w="12700" cap="flat">
              <a:solidFill>
                <a:srgbClr val="808080"/>
              </a:solidFill>
              <a:prstDash val="solid"/>
              <a:round/>
            </a:ln>
          </a:insideH>
          <a:insideV>
            <a:ln w="12700" cap="flat">
              <a:solidFill>
                <a:srgbClr val="808080"/>
              </a:solidFill>
              <a:prstDash val="solid"/>
              <a:round/>
            </a:ln>
          </a:insideV>
        </a:tcBdr>
        <a:fill>
          <a:solidFill>
            <a:srgbClr val="808080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808080"/>
        </a:fontRef>
        <a:srgbClr val="808080"/>
      </a:tcTxStyle>
      <a:tcStyle>
        <a:tcBdr>
          <a:left>
            <a:ln w="12700" cap="flat">
              <a:solidFill>
                <a:srgbClr val="808080"/>
              </a:solidFill>
              <a:prstDash val="solid"/>
              <a:round/>
            </a:ln>
          </a:left>
          <a:right>
            <a:ln w="12700" cap="flat">
              <a:solidFill>
                <a:srgbClr val="808080"/>
              </a:solidFill>
              <a:prstDash val="solid"/>
              <a:round/>
            </a:ln>
          </a:right>
          <a:top>
            <a:ln w="12700" cap="flat">
              <a:solidFill>
                <a:srgbClr val="808080"/>
              </a:solidFill>
              <a:prstDash val="solid"/>
              <a:round/>
            </a:ln>
          </a:top>
          <a:bottom>
            <a:ln w="12700" cap="flat">
              <a:solidFill>
                <a:srgbClr val="808080"/>
              </a:solidFill>
              <a:prstDash val="solid"/>
              <a:round/>
            </a:ln>
          </a:bottom>
          <a:insideH>
            <a:ln w="12700" cap="flat">
              <a:solidFill>
                <a:srgbClr val="808080"/>
              </a:solidFill>
              <a:prstDash val="solid"/>
              <a:round/>
            </a:ln>
          </a:insideH>
          <a:insideV>
            <a:ln w="12700" cap="flat">
              <a:solidFill>
                <a:srgbClr val="808080"/>
              </a:solidFill>
              <a:prstDash val="solid"/>
              <a:round/>
            </a:ln>
          </a:insideV>
        </a:tcBdr>
        <a:fill>
          <a:solidFill>
            <a:srgbClr val="808080">
              <a:alpha val="20000"/>
            </a:srgbClr>
          </a:solidFill>
        </a:fill>
      </a:tcStyle>
    </a:firstCol>
    <a:lastRow>
      <a:tcTxStyle b="on" i="off">
        <a:fontRef idx="minor">
          <a:srgbClr val="808080"/>
        </a:fontRef>
        <a:srgbClr val="808080"/>
      </a:tcTxStyle>
      <a:tcStyle>
        <a:tcBdr>
          <a:left>
            <a:ln w="12700" cap="flat">
              <a:solidFill>
                <a:srgbClr val="808080"/>
              </a:solidFill>
              <a:prstDash val="solid"/>
              <a:round/>
            </a:ln>
          </a:left>
          <a:right>
            <a:ln w="12700" cap="flat">
              <a:solidFill>
                <a:srgbClr val="808080"/>
              </a:solidFill>
              <a:prstDash val="solid"/>
              <a:round/>
            </a:ln>
          </a:right>
          <a:top>
            <a:ln w="50800" cap="flat">
              <a:solidFill>
                <a:srgbClr val="808080"/>
              </a:solidFill>
              <a:prstDash val="solid"/>
              <a:round/>
            </a:ln>
          </a:top>
          <a:bottom>
            <a:ln w="12700" cap="flat">
              <a:solidFill>
                <a:srgbClr val="808080"/>
              </a:solidFill>
              <a:prstDash val="solid"/>
              <a:round/>
            </a:ln>
          </a:bottom>
          <a:insideH>
            <a:ln w="12700" cap="flat">
              <a:solidFill>
                <a:srgbClr val="808080"/>
              </a:solidFill>
              <a:prstDash val="solid"/>
              <a:round/>
            </a:ln>
          </a:insideH>
          <a:insideV>
            <a:ln w="12700" cap="flat">
              <a:solidFill>
                <a:srgbClr val="80808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808080"/>
        </a:fontRef>
        <a:srgbClr val="808080"/>
      </a:tcTxStyle>
      <a:tcStyle>
        <a:tcBdr>
          <a:left>
            <a:ln w="12700" cap="flat">
              <a:solidFill>
                <a:srgbClr val="808080"/>
              </a:solidFill>
              <a:prstDash val="solid"/>
              <a:round/>
            </a:ln>
          </a:left>
          <a:right>
            <a:ln w="12700" cap="flat">
              <a:solidFill>
                <a:srgbClr val="808080"/>
              </a:solidFill>
              <a:prstDash val="solid"/>
              <a:round/>
            </a:ln>
          </a:right>
          <a:top>
            <a:ln w="12700" cap="flat">
              <a:solidFill>
                <a:srgbClr val="808080"/>
              </a:solidFill>
              <a:prstDash val="solid"/>
              <a:round/>
            </a:ln>
          </a:top>
          <a:bottom>
            <a:ln w="25400" cap="flat">
              <a:solidFill>
                <a:srgbClr val="808080"/>
              </a:solidFill>
              <a:prstDash val="solid"/>
              <a:round/>
            </a:ln>
          </a:bottom>
          <a:insideH>
            <a:ln w="12700" cap="flat">
              <a:solidFill>
                <a:srgbClr val="808080"/>
              </a:solidFill>
              <a:prstDash val="solid"/>
              <a:round/>
            </a:ln>
          </a:insideH>
          <a:insideV>
            <a:ln w="12700" cap="flat">
              <a:solidFill>
                <a:srgbClr val="80808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0"/>
    <p:restoredTop sz="94637"/>
  </p:normalViewPr>
  <p:slideViewPr>
    <p:cSldViewPr snapToGrid="0" snapToObjects="1">
      <p:cViewPr varScale="1">
        <p:scale>
          <a:sx n="77" d="100"/>
          <a:sy n="77" d="100"/>
        </p:scale>
        <p:origin x="928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Shape 45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6" name="Shape 46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n-lt"/>
        <a:ea typeface="+mn-ea"/>
        <a:cs typeface="+mn-cs"/>
        <a:sym typeface="Arial"/>
      </a:defRPr>
    </a:lvl1pPr>
    <a:lvl2pPr indent="228600" latinLnBrk="0">
      <a:defRPr sz="1200">
        <a:latin typeface="+mn-lt"/>
        <a:ea typeface="+mn-ea"/>
        <a:cs typeface="+mn-cs"/>
        <a:sym typeface="Arial"/>
      </a:defRPr>
    </a:lvl2pPr>
    <a:lvl3pPr indent="457200" latinLnBrk="0">
      <a:defRPr sz="1200">
        <a:latin typeface="+mn-lt"/>
        <a:ea typeface="+mn-ea"/>
        <a:cs typeface="+mn-cs"/>
        <a:sym typeface="Arial"/>
      </a:defRPr>
    </a:lvl3pPr>
    <a:lvl4pPr indent="685800" latinLnBrk="0">
      <a:defRPr sz="1200">
        <a:latin typeface="+mn-lt"/>
        <a:ea typeface="+mn-ea"/>
        <a:cs typeface="+mn-cs"/>
        <a:sym typeface="Arial"/>
      </a:defRPr>
    </a:lvl4pPr>
    <a:lvl5pPr indent="914400" latinLnBrk="0">
      <a:defRPr sz="1200">
        <a:latin typeface="+mn-lt"/>
        <a:ea typeface="+mn-ea"/>
        <a:cs typeface="+mn-cs"/>
        <a:sym typeface="Arial"/>
      </a:defRPr>
    </a:lvl5pPr>
    <a:lvl6pPr indent="1143000" latinLnBrk="0">
      <a:defRPr sz="1200">
        <a:latin typeface="+mn-lt"/>
        <a:ea typeface="+mn-ea"/>
        <a:cs typeface="+mn-cs"/>
        <a:sym typeface="Arial"/>
      </a:defRPr>
    </a:lvl6pPr>
    <a:lvl7pPr indent="1371600" latinLnBrk="0">
      <a:defRPr sz="1200">
        <a:latin typeface="+mn-lt"/>
        <a:ea typeface="+mn-ea"/>
        <a:cs typeface="+mn-cs"/>
        <a:sym typeface="Arial"/>
      </a:defRPr>
    </a:lvl7pPr>
    <a:lvl8pPr indent="1600200" latinLnBrk="0">
      <a:defRPr sz="1200">
        <a:latin typeface="+mn-lt"/>
        <a:ea typeface="+mn-ea"/>
        <a:cs typeface="+mn-cs"/>
        <a:sym typeface="Arial"/>
      </a:defRPr>
    </a:lvl8pPr>
    <a:lvl9pPr indent="1828800" latinLnBrk="0">
      <a:defRPr sz="1200">
        <a:latin typeface="+mn-lt"/>
        <a:ea typeface="+mn-ea"/>
        <a:cs typeface="+mn-cs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Shape 52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3" name="Shape 53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58158"/>
                </a:solidFill>
              </a:defRPr>
            </a:lvl1pPr>
          </a:lstStyle>
          <a:p>
            <a:endParaRPr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Text"/>
          <p:cNvSpPr txBox="1">
            <a:spLocks noGrp="1"/>
          </p:cNvSpPr>
          <p:nvPr>
            <p:ph type="title"/>
          </p:nvPr>
        </p:nvSpPr>
        <p:spPr>
          <a:xfrm>
            <a:off x="1155700" y="1536700"/>
            <a:ext cx="13931900" cy="3086100"/>
          </a:xfrm>
          <a:prstGeom prst="rect">
            <a:avLst/>
          </a:prstGeom>
        </p:spPr>
        <p:txBody>
          <a:bodyPr anchor="b"/>
          <a:lstStyle/>
          <a:p>
            <a:r>
              <a:t>Title Text</a:t>
            </a:r>
          </a:p>
        </p:txBody>
      </p:sp>
      <p:sp>
        <p:nvSpPr>
          <p:cNvPr id="14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155700" y="4711700"/>
            <a:ext cx="13931900" cy="1054100"/>
          </a:xfrm>
          <a:prstGeom prst="rect">
            <a:avLst/>
          </a:prstGeom>
        </p:spPr>
        <p:txBody>
          <a:bodyPr/>
          <a:lstStyle>
            <a:lvl1pPr marL="342900" indent="-342900" algn="ctr">
              <a:spcBef>
                <a:spcPts val="0"/>
              </a:spcBef>
              <a:buClrTx/>
              <a:buSzTx/>
              <a:buFontTx/>
              <a:buNone/>
            </a:lvl1pPr>
            <a:lvl2pPr marL="342900" indent="114300" algn="ctr">
              <a:spcBef>
                <a:spcPts val="0"/>
              </a:spcBef>
              <a:buClrTx/>
              <a:buSzTx/>
              <a:buFontTx/>
              <a:buNone/>
            </a:lvl2pPr>
            <a:lvl3pPr marL="342900" indent="571500" algn="ctr">
              <a:spcBef>
                <a:spcPts val="0"/>
              </a:spcBef>
              <a:buClrTx/>
              <a:buSzTx/>
              <a:buFontTx/>
              <a:buNone/>
            </a:lvl3pPr>
            <a:lvl4pPr marL="342900" indent="1028700" algn="ctr">
              <a:spcBef>
                <a:spcPts val="0"/>
              </a:spcBef>
              <a:buClrTx/>
              <a:buSzTx/>
              <a:buFontTx/>
              <a:buNone/>
            </a:lvl4pPr>
            <a:lvl5pPr marL="342900" indent="1485900" algn="ctr">
              <a:spcBef>
                <a:spcPts val="0"/>
              </a:spcBef>
              <a:buClrTx/>
              <a:buSzTx/>
              <a:buFontTx/>
              <a:buNone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23" name="Body Level One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3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3"/>
          <p:cNvSpPr/>
          <p:nvPr/>
        </p:nvSpPr>
        <p:spPr>
          <a:xfrm>
            <a:off x="0" y="0"/>
            <a:ext cx="16256000" cy="768096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/>
          <a:lstStyle/>
          <a:p>
            <a:pPr algn="ctr">
              <a:defRPr sz="36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" name="Rectangle 3"/>
          <p:cNvSpPr/>
          <p:nvPr/>
        </p:nvSpPr>
        <p:spPr>
          <a:xfrm>
            <a:off x="0" y="8357616"/>
            <a:ext cx="16256000" cy="786385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/>
          <a:lstStyle/>
          <a:p>
            <a:pPr algn="ctr">
              <a:defRPr sz="36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" name="Title Text"/>
          <p:cNvSpPr txBox="1">
            <a:spLocks noGrp="1"/>
          </p:cNvSpPr>
          <p:nvPr>
            <p:ph type="title"/>
          </p:nvPr>
        </p:nvSpPr>
        <p:spPr>
          <a:xfrm>
            <a:off x="812800" y="768095"/>
            <a:ext cx="14630400" cy="13655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91424" tIns="91424" rIns="91424" bIns="91424">
            <a:normAutofit/>
          </a:bodyPr>
          <a:lstStyle/>
          <a:p>
            <a:r>
              <a:t>Title Text</a:t>
            </a:r>
          </a:p>
        </p:txBody>
      </p:sp>
      <p:sp>
        <p:nvSpPr>
          <p:cNvPr id="5" name="Body Level One…"/>
          <p:cNvSpPr txBox="1">
            <a:spLocks noGrp="1"/>
          </p:cNvSpPr>
          <p:nvPr>
            <p:ph type="body" idx="1"/>
          </p:nvPr>
        </p:nvSpPr>
        <p:spPr>
          <a:xfrm>
            <a:off x="812800" y="2133600"/>
            <a:ext cx="14630400" cy="6034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91424" tIns="91424" rIns="91424" bIns="91424">
            <a:normAutofit/>
          </a:bodyPr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6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7857066" y="8231716"/>
            <a:ext cx="3793068" cy="486834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>
                <a:solidFill>
                  <a:srgbClr val="000000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transition spd="med"/>
  <p:txStyles>
    <p:titleStyle>
      <a:lvl1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4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Arial"/>
        </a:defRPr>
      </a:lvl1pPr>
      <a:lvl2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4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Arial"/>
        </a:defRPr>
      </a:lvl2pPr>
      <a:lvl3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4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Arial"/>
        </a:defRPr>
      </a:lvl3pPr>
      <a:lvl4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4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Arial"/>
        </a:defRPr>
      </a:lvl4pPr>
      <a:lvl5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4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Arial"/>
        </a:defRPr>
      </a:lvl5pPr>
      <a:lvl6pPr marL="0" marR="0" indent="45720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4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Arial"/>
        </a:defRPr>
      </a:lvl6pPr>
      <a:lvl7pPr marL="0" marR="0" indent="91440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4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Arial"/>
        </a:defRPr>
      </a:lvl7pPr>
      <a:lvl8pPr marL="0" marR="0" indent="137160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4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Arial"/>
        </a:defRPr>
      </a:lvl8pPr>
      <a:lvl9pPr marL="0" marR="0" indent="182880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4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Arial"/>
        </a:defRPr>
      </a:lvl9pPr>
    </p:titleStyle>
    <p:bodyStyle>
      <a:lvl1pPr marL="749300" marR="0" indent="-142494" algn="l" defTabSz="914400" rtl="0" latinLnBrk="0">
        <a:lnSpc>
          <a:spcPct val="100000"/>
        </a:lnSpc>
        <a:spcBef>
          <a:spcPts val="3500"/>
        </a:spcBef>
        <a:spcAft>
          <a:spcPts val="0"/>
        </a:spcAft>
        <a:buClr>
          <a:srgbClr val="FFFFFF"/>
        </a:buClr>
        <a:buSzPct val="100000"/>
        <a:buFont typeface="Helvetica"/>
        <a:buChar char="•"/>
        <a:tabLst/>
        <a:defRPr sz="40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Arial"/>
        </a:defRPr>
      </a:lvl1pPr>
      <a:lvl2pPr marL="1306031" marR="0" indent="-407125" algn="l" defTabSz="914400" rtl="0" latinLnBrk="0">
        <a:lnSpc>
          <a:spcPct val="100000"/>
        </a:lnSpc>
        <a:spcBef>
          <a:spcPts val="3500"/>
        </a:spcBef>
        <a:spcAft>
          <a:spcPts val="0"/>
        </a:spcAft>
        <a:buClr>
          <a:srgbClr val="FFFFFF"/>
        </a:buClr>
        <a:buSzPct val="100000"/>
        <a:buFont typeface="Helvetica"/>
        <a:buChar char="•"/>
        <a:tabLst/>
        <a:defRPr sz="40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Arial"/>
        </a:defRPr>
      </a:lvl2pPr>
      <a:lvl3pPr marL="1598131" marR="0" indent="-407125" algn="l" defTabSz="914400" rtl="0" latinLnBrk="0">
        <a:lnSpc>
          <a:spcPct val="100000"/>
        </a:lnSpc>
        <a:spcBef>
          <a:spcPts val="3500"/>
        </a:spcBef>
        <a:spcAft>
          <a:spcPts val="0"/>
        </a:spcAft>
        <a:buClr>
          <a:srgbClr val="FFFFFF"/>
        </a:buClr>
        <a:buSzPct val="100000"/>
        <a:buFont typeface="Helvetica"/>
        <a:buChar char="•"/>
        <a:tabLst/>
        <a:defRPr sz="40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Arial"/>
        </a:defRPr>
      </a:lvl3pPr>
      <a:lvl4pPr marL="1902931" marR="0" indent="-407125" algn="l" defTabSz="914400" rtl="0" latinLnBrk="0">
        <a:lnSpc>
          <a:spcPct val="100000"/>
        </a:lnSpc>
        <a:spcBef>
          <a:spcPts val="3500"/>
        </a:spcBef>
        <a:spcAft>
          <a:spcPts val="0"/>
        </a:spcAft>
        <a:buClr>
          <a:srgbClr val="FFFFFF"/>
        </a:buClr>
        <a:buSzPct val="100000"/>
        <a:buFont typeface="Helvetica"/>
        <a:buChar char="•"/>
        <a:tabLst/>
        <a:defRPr sz="40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Arial"/>
        </a:defRPr>
      </a:lvl4pPr>
      <a:lvl5pPr marL="2195031" marR="0" indent="-407125" algn="l" defTabSz="914400" rtl="0" latinLnBrk="0">
        <a:lnSpc>
          <a:spcPct val="100000"/>
        </a:lnSpc>
        <a:spcBef>
          <a:spcPts val="3500"/>
        </a:spcBef>
        <a:spcAft>
          <a:spcPts val="0"/>
        </a:spcAft>
        <a:buClr>
          <a:srgbClr val="FFFFFF"/>
        </a:buClr>
        <a:buSzPct val="100000"/>
        <a:buFont typeface="Helvetica"/>
        <a:buChar char="•"/>
        <a:tabLst/>
        <a:defRPr sz="40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Arial"/>
        </a:defRPr>
      </a:lvl5pPr>
      <a:lvl6pPr marL="2652231" marR="0" indent="-407125" algn="l" defTabSz="914400" rtl="0" latinLnBrk="0">
        <a:lnSpc>
          <a:spcPct val="100000"/>
        </a:lnSpc>
        <a:spcBef>
          <a:spcPts val="3500"/>
        </a:spcBef>
        <a:spcAft>
          <a:spcPts val="0"/>
        </a:spcAft>
        <a:buClr>
          <a:srgbClr val="FFFFFF"/>
        </a:buClr>
        <a:buSzPct val="100000"/>
        <a:buFont typeface="Helvetica"/>
        <a:buChar char="•"/>
        <a:tabLst/>
        <a:defRPr sz="40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Arial"/>
        </a:defRPr>
      </a:lvl6pPr>
      <a:lvl7pPr marL="3109431" marR="0" indent="-407125" algn="l" defTabSz="914400" rtl="0" latinLnBrk="0">
        <a:lnSpc>
          <a:spcPct val="100000"/>
        </a:lnSpc>
        <a:spcBef>
          <a:spcPts val="3500"/>
        </a:spcBef>
        <a:spcAft>
          <a:spcPts val="0"/>
        </a:spcAft>
        <a:buClr>
          <a:srgbClr val="FFFFFF"/>
        </a:buClr>
        <a:buSzPct val="100000"/>
        <a:buFont typeface="Helvetica"/>
        <a:buChar char="•"/>
        <a:tabLst/>
        <a:defRPr sz="40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Arial"/>
        </a:defRPr>
      </a:lvl7pPr>
      <a:lvl8pPr marL="3566631" marR="0" indent="-407125" algn="l" defTabSz="914400" rtl="0" latinLnBrk="0">
        <a:lnSpc>
          <a:spcPct val="100000"/>
        </a:lnSpc>
        <a:spcBef>
          <a:spcPts val="3500"/>
        </a:spcBef>
        <a:spcAft>
          <a:spcPts val="0"/>
        </a:spcAft>
        <a:buClr>
          <a:srgbClr val="FFFFFF"/>
        </a:buClr>
        <a:buSzPct val="100000"/>
        <a:buFont typeface="Helvetica"/>
        <a:buChar char="•"/>
        <a:tabLst/>
        <a:defRPr sz="40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Arial"/>
        </a:defRPr>
      </a:lvl8pPr>
      <a:lvl9pPr marL="4023831" marR="0" indent="-407125" algn="l" defTabSz="914400" rtl="0" latinLnBrk="0">
        <a:lnSpc>
          <a:spcPct val="100000"/>
        </a:lnSpc>
        <a:spcBef>
          <a:spcPts val="3500"/>
        </a:spcBef>
        <a:spcAft>
          <a:spcPts val="0"/>
        </a:spcAft>
        <a:buClr>
          <a:srgbClr val="FFFFFF"/>
        </a:buClr>
        <a:buSzPct val="100000"/>
        <a:buFont typeface="Helvetica"/>
        <a:buChar char="•"/>
        <a:tabLst/>
        <a:defRPr sz="40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Arial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1pPr>
      <a:lvl2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2pPr>
      <a:lvl3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3pPr>
      <a:lvl4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4pPr>
      <a:lvl5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5pPr>
      <a:lvl6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6pPr>
      <a:lvl7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7pPr>
      <a:lvl8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8pPr>
      <a:lvl9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://www.pythonlearn.com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tif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jpe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jpeg"/><Relationship Id="rId4" Type="http://schemas.openxmlformats.org/officeDocument/2006/relationships/image" Target="../media/image7.jpe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lickr.com/photos/93765931@N00/2147032210" TargetMode="External"/><Relationship Id="rId7" Type="http://schemas.openxmlformats.org/officeDocument/2006/relationships/hyperlink" Target="https://www.flickr.com/photos/rosino/3497574066/" TargetMode="External"/><Relationship Id="rId2" Type="http://schemas.openxmlformats.org/officeDocument/2006/relationships/hyperlink" Target="https://www.flickr.com/people/93765931@N00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flickr.com/people/84301190@N00" TargetMode="External"/><Relationship Id="rId5" Type="http://schemas.openxmlformats.org/officeDocument/2006/relationships/image" Target="../media/image10.jpeg"/><Relationship Id="rId4" Type="http://schemas.openxmlformats.org/officeDocument/2006/relationships/image" Target="../media/image9.jpe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hyperlink" Target="http://upload.wikimedia.org/wikipedia/commons/3/3d/RaspberryPi.jpg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hyperlink" Target="https://upload.wikimedia.org/wikipedia/commons/b/b5/Inside_armadnigenerals_computer.jpg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6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://www.dr-chuck.com/" TargetMode="Externa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Shape 211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lIns="38100" tIns="38100" rIns="38100" bIns="38100"/>
          <a:lstStyle>
            <a:lvl1pPr>
              <a:defRPr sz="7600">
                <a:solidFill>
                  <a:srgbClr val="FFD966"/>
                </a:solidFill>
              </a:defRPr>
            </a:lvl1pPr>
          </a:lstStyle>
          <a:p>
            <a:r>
              <a:t>Welcome To Class!</a:t>
            </a:r>
          </a:p>
        </p:txBody>
      </p:sp>
      <p:sp>
        <p:nvSpPr>
          <p:cNvPr id="49" name="Shape 212"/>
          <p:cNvSpPr txBox="1">
            <a:spLocks noGrp="1"/>
          </p:cNvSpPr>
          <p:nvPr>
            <p:ph type="subTitle" sz="quarter" idx="1"/>
          </p:nvPr>
        </p:nvSpPr>
        <p:spPr>
          <a:prstGeom prst="rect">
            <a:avLst/>
          </a:prstGeom>
        </p:spPr>
        <p:txBody>
          <a:bodyPr lIns="38100" tIns="38100" rIns="38100" bIns="38100"/>
          <a:lstStyle>
            <a:lvl1pPr marL="0" indent="0">
              <a:defRPr sz="4800"/>
            </a:lvl1pPr>
          </a:lstStyle>
          <a:p>
            <a:r>
              <a:t>Lesson 1 – Why Program?</a:t>
            </a:r>
          </a:p>
        </p:txBody>
      </p:sp>
      <p:sp>
        <p:nvSpPr>
          <p:cNvPr id="50" name="Shape 213"/>
          <p:cNvSpPr txBox="1"/>
          <p:nvPr/>
        </p:nvSpPr>
        <p:spPr>
          <a:xfrm>
            <a:off x="5046133" y="8127452"/>
            <a:ext cx="5706534" cy="4505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>
              <a:defRPr sz="1600">
                <a:solidFill>
                  <a:srgbClr val="FFFF00"/>
                </a:solidFill>
              </a:defRPr>
            </a:pPr>
            <a:r>
              <a:t>Based On Slides From the class “Python for Everybody”</a:t>
            </a:r>
            <a:endParaRPr>
              <a:solidFill>
                <a:srgbClr val="000000"/>
              </a:solidFill>
            </a:endParaRPr>
          </a:p>
          <a:p>
            <a:pPr algn="ctr">
              <a:defRPr sz="1600" u="sng">
                <a:solidFill>
                  <a:srgbClr val="FFFF00"/>
                </a:solidFill>
              </a:defRPr>
            </a:pPr>
            <a:r>
              <a:rPr>
                <a:solidFill>
                  <a:srgbClr val="009999"/>
                </a:solidFill>
                <a:uFill>
                  <a:solidFill>
                    <a:srgbClr val="009999"/>
                  </a:solidFill>
                </a:uFill>
                <a:hlinkClick r:id="rId3"/>
              </a:rPr>
              <a:t>www.py4e.com</a:t>
            </a:r>
          </a:p>
        </p:txBody>
      </p:sp>
      <p:pic>
        <p:nvPicPr>
          <p:cNvPr id="51" name="Shape 214" descr="Shape 214"/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908845" y="8053458"/>
            <a:ext cx="1968600" cy="66840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220"/>
          <p:cNvSpPr txBox="1">
            <a:spLocks noGrp="1"/>
          </p:cNvSpPr>
          <p:nvPr>
            <p:ph type="title"/>
          </p:nvPr>
        </p:nvSpPr>
        <p:spPr>
          <a:xfrm>
            <a:off x="812800" y="768095"/>
            <a:ext cx="14630400" cy="136550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600">
                <a:solidFill>
                  <a:srgbClr val="FFD966"/>
                </a:solidFill>
              </a:defRPr>
            </a:lvl1pPr>
          </a:lstStyle>
          <a:p>
            <a:r>
              <a:t>About Me</a:t>
            </a:r>
          </a:p>
        </p:txBody>
      </p:sp>
      <p:sp>
        <p:nvSpPr>
          <p:cNvPr id="56" name="Shape 221"/>
          <p:cNvSpPr txBox="1">
            <a:spLocks noGrp="1"/>
          </p:cNvSpPr>
          <p:nvPr>
            <p:ph type="body" sz="half" idx="1"/>
          </p:nvPr>
        </p:nvSpPr>
        <p:spPr>
          <a:xfrm>
            <a:off x="812800" y="2133600"/>
            <a:ext cx="8564665" cy="6034088"/>
          </a:xfrm>
          <a:prstGeom prst="rect">
            <a:avLst/>
          </a:prstGeom>
        </p:spPr>
        <p:txBody>
          <a:bodyPr lIns="38100" tIns="38100" rIns="38100" bIns="38100" anchor="ctr"/>
          <a:lstStyle/>
          <a:p>
            <a:pPr indent="-345693">
              <a:spcBef>
                <a:spcPts val="0"/>
              </a:spcBef>
              <a:defRPr sz="3200"/>
            </a:pPr>
            <a:r>
              <a:t>My name is Jeremy</a:t>
            </a:r>
          </a:p>
          <a:p>
            <a:pPr indent="-345693">
              <a:spcBef>
                <a:spcPts val="0"/>
              </a:spcBef>
              <a:defRPr sz="3200"/>
            </a:pPr>
            <a:r>
              <a:t>I work at Alibaba Cloud (阿里云)</a:t>
            </a:r>
          </a:p>
          <a:p>
            <a:pPr indent="-345693">
              <a:spcBef>
                <a:spcPts val="0"/>
              </a:spcBef>
              <a:defRPr sz="3200"/>
            </a:pPr>
            <a:r>
              <a:t>I am 28 years old</a:t>
            </a:r>
          </a:p>
          <a:p>
            <a:pPr indent="-345693">
              <a:spcBef>
                <a:spcPts val="0"/>
              </a:spcBef>
              <a:defRPr sz="3200"/>
            </a:pPr>
            <a:r>
              <a:t>I like programming a lot!</a:t>
            </a:r>
          </a:p>
        </p:txBody>
      </p:sp>
      <p:pic>
        <p:nvPicPr>
          <p:cNvPr id="57" name="Image" descr="Image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8446516" y="2831773"/>
            <a:ext cx="7087429" cy="482767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Shape 220"/>
          <p:cNvSpPr txBox="1">
            <a:spLocks noGrp="1"/>
          </p:cNvSpPr>
          <p:nvPr>
            <p:ph type="title"/>
          </p:nvPr>
        </p:nvSpPr>
        <p:spPr>
          <a:xfrm>
            <a:off x="812800" y="3889247"/>
            <a:ext cx="14630400" cy="1365505"/>
          </a:xfrm>
          <a:prstGeom prst="rect">
            <a:avLst/>
          </a:prstGeom>
        </p:spPr>
        <p:txBody>
          <a:bodyPr lIns="38100" tIns="38100" rIns="38100" bIns="38100" anchor="ctr">
            <a:normAutofit fontScale="90000"/>
          </a:bodyPr>
          <a:lstStyle>
            <a:lvl1pPr>
              <a:defRPr sz="8500">
                <a:solidFill>
                  <a:srgbClr val="FFD966"/>
                </a:solidFill>
              </a:defRPr>
            </a:lvl1pPr>
          </a:lstStyle>
          <a:p>
            <a:r>
              <a:t>And You?</a:t>
            </a:r>
          </a:p>
        </p:txBody>
      </p:sp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Shape 220"/>
          <p:cNvSpPr txBox="1">
            <a:spLocks noGrp="1"/>
          </p:cNvSpPr>
          <p:nvPr>
            <p:ph type="title"/>
          </p:nvPr>
        </p:nvSpPr>
        <p:spPr>
          <a:xfrm>
            <a:off x="812800" y="768095"/>
            <a:ext cx="14630400" cy="136550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600">
                <a:solidFill>
                  <a:srgbClr val="FFD966"/>
                </a:solidFill>
              </a:defRPr>
            </a:lvl1pPr>
          </a:lstStyle>
          <a:p>
            <a:r>
              <a:t>What is a Computer?</a:t>
            </a:r>
          </a:p>
        </p:txBody>
      </p:sp>
      <p:sp>
        <p:nvSpPr>
          <p:cNvPr id="62" name="Shape 221"/>
          <p:cNvSpPr txBox="1">
            <a:spLocks noGrp="1"/>
          </p:cNvSpPr>
          <p:nvPr>
            <p:ph type="body" sz="half" idx="1"/>
          </p:nvPr>
        </p:nvSpPr>
        <p:spPr>
          <a:xfrm>
            <a:off x="812800" y="2133600"/>
            <a:ext cx="8564665" cy="6034088"/>
          </a:xfrm>
          <a:prstGeom prst="rect">
            <a:avLst/>
          </a:prstGeom>
        </p:spPr>
        <p:txBody>
          <a:bodyPr lIns="38100" tIns="38100" rIns="38100" bIns="38100" anchor="ctr"/>
          <a:lstStyle/>
          <a:p>
            <a:pPr indent="-345693">
              <a:spcBef>
                <a:spcPts val="0"/>
              </a:spcBef>
              <a:defRPr sz="3200"/>
            </a:pPr>
            <a:r>
              <a:t>A computer is a special machine that can </a:t>
            </a:r>
            <a:r>
              <a:rPr>
                <a:solidFill>
                  <a:srgbClr val="9ED3D7"/>
                </a:solidFill>
              </a:rPr>
              <a:t>follow instructions</a:t>
            </a:r>
          </a:p>
          <a:p>
            <a:pPr indent="-345693">
              <a:defRPr sz="3200"/>
            </a:pPr>
            <a:r>
              <a:t>What makes computers </a:t>
            </a:r>
            <a:r>
              <a:rPr>
                <a:solidFill>
                  <a:srgbClr val="BADDE1"/>
                </a:solidFill>
              </a:rPr>
              <a:t>different</a:t>
            </a:r>
            <a:r>
              <a:t> from other kinds of machines?</a:t>
            </a:r>
          </a:p>
        </p:txBody>
      </p:sp>
      <p:pic>
        <p:nvPicPr>
          <p:cNvPr id="63" name="Shape 230" descr="Shape 230"/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371666" y="3668833"/>
            <a:ext cx="2991059" cy="3066397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66" name="Shape 231"/>
          <p:cNvGrpSpPr/>
          <p:nvPr/>
        </p:nvGrpSpPr>
        <p:grpSpPr>
          <a:xfrm>
            <a:off x="11867195" y="2404533"/>
            <a:ext cx="2688167" cy="1951567"/>
            <a:chOff x="0" y="0"/>
            <a:chExt cx="2688165" cy="1951566"/>
          </a:xfrm>
        </p:grpSpPr>
        <p:sp>
          <p:nvSpPr>
            <p:cNvPr id="64" name="Quote Bubble"/>
            <p:cNvSpPr/>
            <p:nvPr/>
          </p:nvSpPr>
          <p:spPr>
            <a:xfrm>
              <a:off x="0" y="0"/>
              <a:ext cx="2688166" cy="1951567"/>
            </a:xfrm>
            <a:prstGeom prst="wedgeEllipseCallout">
              <a:avLst>
                <a:gd name="adj1" fmla="val -29134"/>
                <a:gd name="adj2" fmla="val 66404"/>
              </a:avLst>
            </a:prstGeom>
            <a:blipFill rotWithShape="1">
              <a:blip r:embed="rId3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tile tx="0" ty="0" sx="100000" sy="100000" flip="none" algn="tl"/>
            </a:blip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65" name="What…"/>
            <p:cNvSpPr txBox="1"/>
            <p:nvPr/>
          </p:nvSpPr>
          <p:spPr>
            <a:xfrm>
              <a:off x="393672" y="587484"/>
              <a:ext cx="1900822" cy="77659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2600">
                  <a:solidFill>
                    <a:srgbClr val="000000"/>
                  </a:solidFill>
                </a:defRPr>
              </a:pPr>
              <a:r>
                <a:t>What</a:t>
              </a:r>
            </a:p>
            <a:p>
              <a:pPr algn="ctr">
                <a:defRPr sz="2600">
                  <a:solidFill>
                    <a:srgbClr val="000000"/>
                  </a:solidFill>
                </a:defRPr>
              </a:pPr>
              <a:r>
                <a:t>Next?</a:t>
              </a:r>
            </a:p>
          </p:txBody>
        </p:sp>
      </p:grpSp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Shape 236"/>
          <p:cNvSpPr txBox="1">
            <a:spLocks noGrp="1"/>
          </p:cNvSpPr>
          <p:nvPr>
            <p:ph type="title"/>
          </p:nvPr>
        </p:nvSpPr>
        <p:spPr>
          <a:xfrm>
            <a:off x="423331" y="469645"/>
            <a:ext cx="15307734" cy="136550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200">
                <a:solidFill>
                  <a:srgbClr val="FFD966"/>
                </a:solidFill>
              </a:defRPr>
            </a:lvl1pPr>
          </a:lstStyle>
          <a:p>
            <a:r>
              <a:t>Talking to the Computer</a:t>
            </a:r>
          </a:p>
        </p:txBody>
      </p:sp>
      <p:sp>
        <p:nvSpPr>
          <p:cNvPr id="69" name="Shape 237"/>
          <p:cNvSpPr txBox="1">
            <a:spLocks noGrp="1"/>
          </p:cNvSpPr>
          <p:nvPr>
            <p:ph type="body" sz="quarter" idx="1"/>
          </p:nvPr>
        </p:nvSpPr>
        <p:spPr>
          <a:xfrm>
            <a:off x="423332" y="2269066"/>
            <a:ext cx="8534401" cy="2444221"/>
          </a:xfrm>
          <a:prstGeom prst="rect">
            <a:avLst/>
          </a:prstGeom>
        </p:spPr>
        <p:txBody>
          <a:bodyPr lIns="38100" tIns="38100" rIns="38100" bIns="38100" anchor="ctr"/>
          <a:lstStyle/>
          <a:p>
            <a:pPr indent="-345693">
              <a:spcBef>
                <a:spcPts val="0"/>
              </a:spcBef>
              <a:defRPr sz="3200"/>
            </a:pPr>
            <a:r>
              <a:t>Computers cannot understand English or Chinese, so how do we talk to them?</a:t>
            </a:r>
            <a:r>
              <a:rPr>
                <a:solidFill>
                  <a:srgbClr val="00FF00"/>
                </a:solidFill>
              </a:rPr>
              <a:t> By using a programming language!</a:t>
            </a:r>
          </a:p>
        </p:txBody>
      </p:sp>
      <p:pic>
        <p:nvPicPr>
          <p:cNvPr id="70" name="Shape 247" descr="Shape 24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8152342" y="7209363"/>
            <a:ext cx="800100" cy="1139826"/>
          </a:xfrm>
          <a:prstGeom prst="rect">
            <a:avLst/>
          </a:prstGeom>
          <a:ln w="12700">
            <a:miter lim="400000"/>
          </a:ln>
        </p:spPr>
      </p:pic>
      <p:pic>
        <p:nvPicPr>
          <p:cNvPr id="71" name="Shape 230" descr="Shape 230"/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403666" y="5490812"/>
            <a:ext cx="2991059" cy="3066398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74" name="Shape 231"/>
          <p:cNvGrpSpPr/>
          <p:nvPr/>
        </p:nvGrpSpPr>
        <p:grpSpPr>
          <a:xfrm>
            <a:off x="8704791" y="5137941"/>
            <a:ext cx="2688167" cy="1951568"/>
            <a:chOff x="0" y="0"/>
            <a:chExt cx="2688165" cy="1951566"/>
          </a:xfrm>
        </p:grpSpPr>
        <p:sp>
          <p:nvSpPr>
            <p:cNvPr id="72" name="Quote Bubble"/>
            <p:cNvSpPr/>
            <p:nvPr/>
          </p:nvSpPr>
          <p:spPr>
            <a:xfrm>
              <a:off x="0" y="0"/>
              <a:ext cx="2688166" cy="1951567"/>
            </a:xfrm>
            <a:prstGeom prst="wedgeEllipseCallout">
              <a:avLst>
                <a:gd name="adj1" fmla="val -29134"/>
                <a:gd name="adj2" fmla="val 66404"/>
              </a:avLst>
            </a:prstGeom>
            <a:blipFill rotWithShape="1">
              <a:blip r:embed="rId4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tile tx="0" ty="0" sx="100000" sy="100000" flip="none" algn="tl"/>
            </a:blip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73" name="Can you do my homework?"/>
            <p:cNvSpPr txBox="1"/>
            <p:nvPr/>
          </p:nvSpPr>
          <p:spPr>
            <a:xfrm>
              <a:off x="393672" y="390634"/>
              <a:ext cx="1900822" cy="117029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2600">
                  <a:solidFill>
                    <a:srgbClr val="000000"/>
                  </a:solidFill>
                </a:defRPr>
              </a:lvl1pPr>
            </a:lstStyle>
            <a:p>
              <a:r>
                <a:t>Can you do my homework?</a:t>
              </a:r>
            </a:p>
          </p:txBody>
        </p:sp>
      </p:grpSp>
      <p:grpSp>
        <p:nvGrpSpPr>
          <p:cNvPr id="77" name="Rounded Rectangular Callout 1"/>
          <p:cNvGrpSpPr/>
          <p:nvPr/>
        </p:nvGrpSpPr>
        <p:grpSpPr>
          <a:xfrm>
            <a:off x="12403666" y="3139808"/>
            <a:ext cx="2675470" cy="2247901"/>
            <a:chOff x="0" y="0"/>
            <a:chExt cx="2675468" cy="2247900"/>
          </a:xfrm>
        </p:grpSpPr>
        <p:sp>
          <p:nvSpPr>
            <p:cNvPr id="75" name="Shape"/>
            <p:cNvSpPr/>
            <p:nvPr/>
          </p:nvSpPr>
          <p:spPr>
            <a:xfrm>
              <a:off x="0" y="0"/>
              <a:ext cx="2675469" cy="224790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3200"/>
                  </a:moveTo>
                  <a:cubicBezTo>
                    <a:pt x="0" y="1433"/>
                    <a:pt x="1204" y="0"/>
                    <a:pt x="2689" y="0"/>
                  </a:cubicBezTo>
                  <a:lnTo>
                    <a:pt x="3600" y="0"/>
                  </a:lnTo>
                  <a:lnTo>
                    <a:pt x="18911" y="0"/>
                  </a:lnTo>
                  <a:cubicBezTo>
                    <a:pt x="20396" y="0"/>
                    <a:pt x="21600" y="1433"/>
                    <a:pt x="21600" y="3200"/>
                  </a:cubicBezTo>
                  <a:lnTo>
                    <a:pt x="21600" y="16000"/>
                  </a:lnTo>
                  <a:cubicBezTo>
                    <a:pt x="21600" y="17767"/>
                    <a:pt x="20396" y="19200"/>
                    <a:pt x="18911" y="19200"/>
                  </a:cubicBezTo>
                  <a:lnTo>
                    <a:pt x="9000" y="19200"/>
                  </a:lnTo>
                  <a:lnTo>
                    <a:pt x="6300" y="21600"/>
                  </a:lnTo>
                  <a:lnTo>
                    <a:pt x="3600" y="19200"/>
                  </a:lnTo>
                  <a:lnTo>
                    <a:pt x="2689" y="19200"/>
                  </a:lnTo>
                  <a:cubicBezTo>
                    <a:pt x="1204" y="19200"/>
                    <a:pt x="0" y="17767"/>
                    <a:pt x="0" y="16000"/>
                  </a:cubicBezTo>
                  <a:lnTo>
                    <a:pt x="0" y="16000"/>
                  </a:lnTo>
                  <a:lnTo>
                    <a:pt x="0" y="11200"/>
                  </a:lnTo>
                  <a:close/>
                </a:path>
              </a:pathLst>
            </a:custGeom>
            <a:solidFill>
              <a:srgbClr val="F2D36B"/>
            </a:solidFill>
            <a:ln w="25400" cap="flat">
              <a:solidFill>
                <a:srgbClr val="88A3A6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6" name="????????"/>
            <p:cNvSpPr txBox="1"/>
            <p:nvPr/>
          </p:nvSpPr>
          <p:spPr>
            <a:xfrm>
              <a:off x="97541" y="854654"/>
              <a:ext cx="2480387" cy="28882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>
                  <a:solidFill>
                    <a:srgbClr val="000000"/>
                  </a:solidFill>
                </a:defRPr>
              </a:lvl1pPr>
            </a:lstStyle>
            <a:p>
              <a:r>
                <a:t>????????</a:t>
              </a:r>
            </a:p>
          </p:txBody>
        </p:sp>
      </p:grpSp>
    </p:spTree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Shape 254"/>
          <p:cNvSpPr txBox="1">
            <a:spLocks noGrp="1"/>
          </p:cNvSpPr>
          <p:nvPr>
            <p:ph type="title"/>
          </p:nvPr>
        </p:nvSpPr>
        <p:spPr>
          <a:xfrm>
            <a:off x="812800" y="768095"/>
            <a:ext cx="14630400" cy="136550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600">
                <a:solidFill>
                  <a:srgbClr val="FFD966"/>
                </a:solidFill>
              </a:defRPr>
            </a:lvl1pPr>
          </a:lstStyle>
          <a:p>
            <a:r>
              <a:t>Users vs. Programmers</a:t>
            </a:r>
          </a:p>
        </p:txBody>
      </p:sp>
      <p:sp>
        <p:nvSpPr>
          <p:cNvPr id="80" name="Shape 255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lIns="38100" tIns="38100" rIns="38100" bIns="38100" anchor="ctr"/>
          <a:lstStyle/>
          <a:p>
            <a:pPr indent="-345693">
              <a:spcBef>
                <a:spcPts val="0"/>
              </a:spcBef>
              <a:defRPr sz="3200"/>
            </a:pPr>
            <a:r>
              <a:rPr dirty="0"/>
              <a:t>Users are people who can use the software on a computer, but cannot make their own new software</a:t>
            </a:r>
          </a:p>
          <a:p>
            <a:pPr indent="-345693">
              <a:defRPr sz="3200"/>
            </a:pPr>
            <a:r>
              <a:rPr dirty="0"/>
              <a:t>Programmers are the people who can write new software for the computer to run: they tell the computer what to do! </a:t>
            </a:r>
          </a:p>
          <a:p>
            <a:pPr indent="-345693">
              <a:defRPr sz="3200"/>
            </a:pPr>
            <a:r>
              <a:rPr dirty="0"/>
              <a:t>Once you can program, </a:t>
            </a:r>
            <a:r>
              <a:rPr dirty="0">
                <a:solidFill>
                  <a:srgbClr val="FF0000"/>
                </a:solidFill>
              </a:rPr>
              <a:t>YOU</a:t>
            </a:r>
            <a:r>
              <a:rPr dirty="0"/>
              <a:t> get to decide what the computer should do</a:t>
            </a:r>
          </a:p>
        </p:txBody>
      </p:sp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Shape 281"/>
          <p:cNvSpPr txBox="1">
            <a:spLocks noGrp="1"/>
          </p:cNvSpPr>
          <p:nvPr>
            <p:ph type="title"/>
          </p:nvPr>
        </p:nvSpPr>
        <p:spPr>
          <a:xfrm>
            <a:off x="812800" y="768095"/>
            <a:ext cx="14630400" cy="136550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600">
                <a:solidFill>
                  <a:srgbClr val="FFD966"/>
                </a:solidFill>
              </a:defRPr>
            </a:lvl1pPr>
          </a:lstStyle>
          <a:p>
            <a:r>
              <a:t>Why be a Programmer?</a:t>
            </a:r>
          </a:p>
        </p:txBody>
      </p:sp>
      <p:sp>
        <p:nvSpPr>
          <p:cNvPr id="83" name="Shape 28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lIns="38100" tIns="38100" rIns="38100" bIns="38100" anchor="ctr"/>
          <a:lstStyle/>
          <a:p>
            <a:pPr indent="-371093">
              <a:spcBef>
                <a:spcPts val="0"/>
              </a:spcBef>
              <a:buClr>
                <a:srgbClr val="FFFF00"/>
              </a:buClr>
              <a:defRPr sz="3600">
                <a:solidFill>
                  <a:srgbClr val="FFFF00"/>
                </a:solidFill>
              </a:defRPr>
            </a:pPr>
            <a:r>
              <a:t>To get some job done</a:t>
            </a:r>
          </a:p>
          <a:p>
            <a:pPr marL="0" lvl="1" indent="670305">
              <a:buSzTx/>
              <a:buNone/>
              <a:defRPr sz="3600"/>
            </a:pPr>
            <a:r>
              <a:t> -  Finish our math homework</a:t>
            </a:r>
            <a:endParaRPr sz="1400">
              <a:solidFill>
                <a:srgbClr val="000000"/>
              </a:solidFill>
            </a:endParaRPr>
          </a:p>
          <a:p>
            <a:pPr indent="-371093">
              <a:buClr>
                <a:srgbClr val="FFFF00"/>
              </a:buClr>
              <a:defRPr sz="3600">
                <a:solidFill>
                  <a:srgbClr val="FFFF00"/>
                </a:solidFill>
              </a:defRPr>
            </a:pPr>
            <a:r>
              <a:t>To make something for other people to use</a:t>
            </a:r>
          </a:p>
          <a:p>
            <a:pPr marL="0" lvl="1" indent="670305">
              <a:buSzTx/>
              <a:buNone/>
              <a:defRPr sz="3600"/>
            </a:pPr>
            <a:r>
              <a:t> -  Write a game for your friends to play</a:t>
            </a:r>
            <a:endParaRPr sz="1400">
              <a:solidFill>
                <a:srgbClr val="000000"/>
              </a:solidFill>
            </a:endParaRPr>
          </a:p>
          <a:p>
            <a:pPr marL="0" lvl="1" indent="670305">
              <a:buSzTx/>
              <a:buNone/>
              <a:defRPr sz="3600"/>
            </a:pPr>
            <a:r>
              <a:t> -  Make a studying APP and sell it for $$$!</a:t>
            </a:r>
          </a:p>
        </p:txBody>
      </p:sp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Shape 263" descr="Shape 263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8376359" y="1977998"/>
            <a:ext cx="986893" cy="1403816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88" name="Shape 264"/>
          <p:cNvGrpSpPr/>
          <p:nvPr/>
        </p:nvGrpSpPr>
        <p:grpSpPr>
          <a:xfrm>
            <a:off x="3225518" y="3741944"/>
            <a:ext cx="8254011" cy="1422401"/>
            <a:chOff x="0" y="0"/>
            <a:chExt cx="8254010" cy="1422400"/>
          </a:xfrm>
        </p:grpSpPr>
        <p:sp>
          <p:nvSpPr>
            <p:cNvPr id="86" name="Rectangle"/>
            <p:cNvSpPr/>
            <p:nvPr/>
          </p:nvSpPr>
          <p:spPr>
            <a:xfrm>
              <a:off x="0" y="51512"/>
              <a:ext cx="8254011" cy="1319375"/>
            </a:xfrm>
            <a:prstGeom prst="rect">
              <a:avLst/>
            </a:prstGeom>
            <a:blipFill rotWithShape="1">
              <a:blip r:embed="rId3"/>
              <a:srcRect/>
              <a:stretch>
                <a:fillRect/>
              </a:stretch>
            </a:blipFill>
            <a:ln w="25400" cap="rnd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87" name="Computer…"/>
            <p:cNvSpPr txBox="1"/>
            <p:nvPr/>
          </p:nvSpPr>
          <p:spPr>
            <a:xfrm>
              <a:off x="0" y="-1"/>
              <a:ext cx="8254011" cy="142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38100" tIns="38100" rIns="38100" bIns="38100" numCol="1" anchor="ctr">
              <a:spAutoFit/>
            </a:bodyPr>
            <a:lstStyle/>
            <a:p>
              <a:pPr algn="ctr">
                <a:defRPr sz="4400">
                  <a:solidFill>
                    <a:srgbClr val="FFFFFF"/>
                  </a:solidFill>
                  <a:latin typeface="Ovo"/>
                  <a:ea typeface="Ovo"/>
                  <a:cs typeface="Ovo"/>
                  <a:sym typeface="Ovo"/>
                </a:defRPr>
              </a:pPr>
              <a:r>
                <a:t>Computer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4400">
                  <a:solidFill>
                    <a:srgbClr val="FFFFFF"/>
                  </a:solidFill>
                  <a:latin typeface="Ovo"/>
                  <a:ea typeface="Ovo"/>
                  <a:cs typeface="Ovo"/>
                  <a:sym typeface="Ovo"/>
                </a:defRPr>
              </a:pPr>
              <a:r>
                <a:t>Hardware + Software</a:t>
              </a:r>
            </a:p>
          </p:txBody>
        </p:sp>
      </p:grpSp>
      <p:pic>
        <p:nvPicPr>
          <p:cNvPr id="89" name="Shape 267" descr="Shape 267"/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658272" y="1883003"/>
            <a:ext cx="3018731" cy="1585889"/>
          </a:xfrm>
          <a:prstGeom prst="rect">
            <a:avLst/>
          </a:prstGeom>
          <a:ln w="12700">
            <a:miter lim="400000"/>
          </a:ln>
        </p:spPr>
      </p:pic>
      <p:pic>
        <p:nvPicPr>
          <p:cNvPr id="90" name="Shape 268" descr="Shape 268"/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780174" y="1724678"/>
            <a:ext cx="1026474" cy="1905177"/>
          </a:xfrm>
          <a:prstGeom prst="rect">
            <a:avLst/>
          </a:prstGeom>
          <a:ln w="12700">
            <a:miter lim="400000"/>
          </a:ln>
        </p:spPr>
      </p:pic>
      <p:sp>
        <p:nvSpPr>
          <p:cNvPr id="91" name="Shape 269"/>
          <p:cNvSpPr txBox="1"/>
          <p:nvPr/>
        </p:nvSpPr>
        <p:spPr>
          <a:xfrm>
            <a:off x="2768405" y="5707475"/>
            <a:ext cx="11248573" cy="20965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38100" tIns="38100" rIns="38100" bIns="38100" anchor="ctr">
            <a:spAutoFit/>
          </a:bodyPr>
          <a:lstStyle>
            <a:lvl1pPr>
              <a:defRPr sz="2800">
                <a:solidFill>
                  <a:srgbClr val="FFFFFF"/>
                </a:solidFill>
              </a:defRPr>
            </a:lvl1pPr>
          </a:lstStyle>
          <a:p>
            <a:r>
              <a:t>As a programmer, it is your job to understand the computer’s hardware and software well enough to do make it do what you want. This can be a very challenging task and may take years to master. Because it is hard, people pay a lot of money for good programmers. Colleges and Universities want them as students (and teachers), too!</a:t>
            </a:r>
          </a:p>
        </p:txBody>
      </p:sp>
      <p:sp>
        <p:nvSpPr>
          <p:cNvPr id="92" name="Shape 272"/>
          <p:cNvSpPr txBox="1"/>
          <p:nvPr/>
        </p:nvSpPr>
        <p:spPr>
          <a:xfrm>
            <a:off x="7087327" y="2478080"/>
            <a:ext cx="1052863" cy="5303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3800">
                <a:solidFill>
                  <a:srgbClr val="FFFFFF"/>
                </a:solidFill>
              </a:defRPr>
            </a:lvl1pPr>
          </a:lstStyle>
          <a:p>
            <a:r>
              <a:t>User</a:t>
            </a:r>
          </a:p>
        </p:txBody>
      </p:sp>
      <p:pic>
        <p:nvPicPr>
          <p:cNvPr id="93" name="Shape 274" descr="Shape 27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389723" y="4182672"/>
            <a:ext cx="379981" cy="540944"/>
          </a:xfrm>
          <a:prstGeom prst="rect">
            <a:avLst/>
          </a:prstGeom>
          <a:ln w="12700">
            <a:miter lim="400000"/>
          </a:ln>
        </p:spPr>
      </p:pic>
      <p:sp>
        <p:nvSpPr>
          <p:cNvPr id="94" name="Shape 275"/>
          <p:cNvSpPr txBox="1"/>
          <p:nvPr/>
        </p:nvSpPr>
        <p:spPr>
          <a:xfrm>
            <a:off x="11620503" y="4187947"/>
            <a:ext cx="3125908" cy="5303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3800">
                <a:solidFill>
                  <a:srgbClr val="FFFFFF"/>
                </a:solidFill>
              </a:defRPr>
            </a:lvl1pPr>
          </a:lstStyle>
          <a:p>
            <a:r>
              <a:t>Programmer</a:t>
            </a:r>
          </a:p>
        </p:txBody>
      </p:sp>
      <p:sp>
        <p:nvSpPr>
          <p:cNvPr id="95" name="Shape 276"/>
          <p:cNvSpPr/>
          <p:nvPr/>
        </p:nvSpPr>
        <p:spPr>
          <a:xfrm flipH="1" flipV="1">
            <a:off x="9245826" y="3309245"/>
            <a:ext cx="915647" cy="883983"/>
          </a:xfrm>
          <a:prstGeom prst="line">
            <a:avLst/>
          </a:prstGeom>
          <a:ln w="101600" cap="rnd">
            <a:solidFill>
              <a:srgbClr val="FFFF00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Shape 287"/>
          <p:cNvSpPr txBox="1">
            <a:spLocks noGrp="1"/>
          </p:cNvSpPr>
          <p:nvPr>
            <p:ph type="title"/>
          </p:nvPr>
        </p:nvSpPr>
        <p:spPr>
          <a:xfrm>
            <a:off x="812800" y="768095"/>
            <a:ext cx="14630400" cy="136550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6000">
                <a:solidFill>
                  <a:srgbClr val="FFD966"/>
                </a:solidFill>
              </a:defRPr>
            </a:lvl1pPr>
          </a:lstStyle>
          <a:p>
            <a:r>
              <a:t>What is Code?  Software? A Program?</a:t>
            </a:r>
          </a:p>
        </p:txBody>
      </p:sp>
      <p:sp>
        <p:nvSpPr>
          <p:cNvPr id="98" name="Shape 288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lIns="38100" tIns="38100" rIns="38100" bIns="38100" anchor="ctr"/>
          <a:lstStyle/>
          <a:p>
            <a:pPr indent="-345693">
              <a:spcBef>
                <a:spcPts val="0"/>
              </a:spcBef>
              <a:buClr>
                <a:srgbClr val="FFFF00"/>
              </a:buClr>
              <a:defRPr sz="3200">
                <a:solidFill>
                  <a:srgbClr val="FFFF00"/>
                </a:solidFill>
              </a:defRPr>
            </a:pPr>
            <a:r>
              <a:t>A sequence of stored instructions </a:t>
            </a:r>
          </a:p>
          <a:p>
            <a:pPr marL="0" lvl="1" indent="695705">
              <a:buSzTx/>
              <a:buNone/>
              <a:defRPr sz="3200"/>
            </a:pPr>
            <a:r>
              <a:t>-  Like a piece of our brain inside the computer</a:t>
            </a:r>
            <a:endParaRPr sz="1400">
              <a:solidFill>
                <a:srgbClr val="000000"/>
              </a:solidFill>
            </a:endParaRPr>
          </a:p>
          <a:p>
            <a:pPr marL="0" lvl="1" indent="695705">
              <a:buSzTx/>
              <a:buNone/>
              <a:defRPr sz="3200"/>
            </a:pPr>
            <a:r>
              <a:t>-  We solve a problem, translate the answer into computer code, and then in the future the computer can solve the problem for us (and maybe for other people too) </a:t>
            </a:r>
            <a:endParaRPr sz="1400">
              <a:solidFill>
                <a:srgbClr val="000000"/>
              </a:solidFill>
            </a:endParaRPr>
          </a:p>
          <a:p>
            <a:pPr marL="0" lvl="1" indent="695705">
              <a:buSzTx/>
              <a:buNone/>
              <a:defRPr sz="3200">
                <a:solidFill>
                  <a:srgbClr val="FFFF00"/>
                </a:solidFill>
              </a:defRPr>
            </a:pPr>
            <a:r>
              <a:t>A piece of creative art</a:t>
            </a:r>
            <a:r>
              <a:rPr>
                <a:solidFill>
                  <a:srgbClr val="FFFFFF"/>
                </a:solidFill>
              </a:rPr>
              <a:t> – Programs can be beautiful and powerful if they are written well</a:t>
            </a:r>
          </a:p>
        </p:txBody>
      </p:sp>
    </p:spTree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hape 293"/>
          <p:cNvSpPr txBox="1">
            <a:spLocks noGrp="1"/>
          </p:cNvSpPr>
          <p:nvPr>
            <p:ph type="title"/>
          </p:nvPr>
        </p:nvSpPr>
        <p:spPr>
          <a:xfrm>
            <a:off x="812800" y="403943"/>
            <a:ext cx="14630400" cy="136550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600">
                <a:solidFill>
                  <a:srgbClr val="FFD966"/>
                </a:solidFill>
              </a:defRPr>
            </a:lvl1pPr>
          </a:lstStyle>
          <a:p>
            <a:r>
              <a:rPr dirty="0"/>
              <a:t>Programs for Humans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FD5C3EA-3087-EF4E-9F31-AABD81459887}"/>
              </a:ext>
            </a:extLst>
          </p:cNvPr>
          <p:cNvSpPr/>
          <p:nvPr/>
        </p:nvSpPr>
        <p:spPr>
          <a:xfrm>
            <a:off x="596669" y="8289621"/>
            <a:ext cx="8128000" cy="52322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dirty="0">
                <a:solidFill>
                  <a:srgbClr val="0B0080"/>
                </a:solidFill>
                <a:latin typeface="Arial" panose="020B0604020202020204" pitchFamily="34" charset="0"/>
                <a:hlinkClick r:id="rId2"/>
              </a:rPr>
              <a:t>Barry Goyette</a:t>
            </a:r>
            <a:r>
              <a:rPr lang="en-US" dirty="0">
                <a:solidFill>
                  <a:srgbClr val="54595D"/>
                </a:solidFill>
                <a:latin typeface="Arial" panose="020B0604020202020204" pitchFamily="34" charset="0"/>
              </a:rPr>
              <a:t> from San Luis Obispo, USA - </a:t>
            </a:r>
            <a:r>
              <a:rPr lang="en-US" dirty="0">
                <a:solidFill>
                  <a:srgbClr val="0B0080"/>
                </a:solidFill>
                <a:latin typeface="Arial" panose="020B0604020202020204" pitchFamily="34" charset="0"/>
                <a:hlinkClick r:id="rId3"/>
              </a:rPr>
              <a:t>https://www.flickr.com/photos/93765931@N00/2147032210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429DF5E-F5EA-484A-AC41-9A8F2EF02860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44595" y="2660071"/>
            <a:ext cx="4125426" cy="521380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D314357-2FB2-E948-ADB4-3B6EEA2A3B00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23469" y="2275217"/>
            <a:ext cx="3727265" cy="559866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6A01390-9A25-B74F-9940-1431BB98FDC5}"/>
              </a:ext>
            </a:extLst>
          </p:cNvPr>
          <p:cNvSpPr txBox="1"/>
          <p:nvPr/>
        </p:nvSpPr>
        <p:spPr>
          <a:xfrm>
            <a:off x="6751663" y="4752536"/>
            <a:ext cx="1376337" cy="55399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45719" tIns="45719" rIns="45719" bIns="45719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3000" b="0" i="0" u="none" strike="noStrike" cap="none" spc="0" normalizeH="0" baseline="0" dirty="0">
                <a:ln>
                  <a:noFill/>
                </a:ln>
                <a:solidFill>
                  <a:srgbClr val="FED86F"/>
                </a:solidFill>
                <a:effectLst/>
                <a:uFillTx/>
                <a:latin typeface="+mn-lt"/>
                <a:ea typeface="+mn-ea"/>
                <a:cs typeface="+mn-cs"/>
                <a:sym typeface="Arial"/>
              </a:rPr>
              <a:t>...and...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FB29E7-2353-BD42-BF33-35DAC3C51994}"/>
              </a:ext>
            </a:extLst>
          </p:cNvPr>
          <p:cNvSpPr/>
          <p:nvPr/>
        </p:nvSpPr>
        <p:spPr>
          <a:xfrm>
            <a:off x="9423469" y="8118039"/>
            <a:ext cx="8128000" cy="52322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dirty="0">
                <a:solidFill>
                  <a:srgbClr val="0B0080"/>
                </a:solidFill>
                <a:latin typeface="Arial" panose="020B0604020202020204" pitchFamily="34" charset="0"/>
                <a:hlinkClick r:id="rId6"/>
              </a:rPr>
              <a:t>Rosino</a:t>
            </a:r>
            <a:r>
              <a:rPr lang="en-US" dirty="0">
                <a:solidFill>
                  <a:srgbClr val="54595D"/>
                </a:solidFill>
                <a:latin typeface="Arial" panose="020B0604020202020204" pitchFamily="34" charset="0"/>
              </a:rPr>
              <a:t> - </a:t>
            </a:r>
            <a:r>
              <a:rPr lang="en-US" dirty="0">
                <a:solidFill>
                  <a:srgbClr val="0B0080"/>
                </a:solidFill>
                <a:latin typeface="Arial" panose="020B0604020202020204" pitchFamily="34" charset="0"/>
                <a:hlinkClick r:id="rId7"/>
              </a:rPr>
              <a:t>Flickr</a:t>
            </a:r>
            <a:endParaRPr lang="en-US" dirty="0">
              <a:solidFill>
                <a:srgbClr val="54595D"/>
              </a:solidFill>
              <a:latin typeface="Arial" panose="020B0604020202020204" pitchFamily="34" charset="0"/>
            </a:endParaRPr>
          </a:p>
          <a:p>
            <a:pPr fontAlgn="t"/>
            <a:r>
              <a:rPr lang="en-US" dirty="0" err="1">
                <a:solidFill>
                  <a:srgbClr val="54595D"/>
                </a:solidFill>
                <a:latin typeface="Arial" panose="020B0604020202020204" pitchFamily="34" charset="0"/>
              </a:rPr>
              <a:t>Agdz</a:t>
            </a:r>
            <a:r>
              <a:rPr lang="en-US" dirty="0">
                <a:solidFill>
                  <a:srgbClr val="54595D"/>
                </a:solidFill>
                <a:latin typeface="Arial" panose="020B0604020202020204" pitchFamily="34" charset="0"/>
              </a:rPr>
              <a:t>, Morocco [2009]</a:t>
            </a:r>
          </a:p>
        </p:txBody>
      </p:sp>
    </p:spTree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Shape 344"/>
          <p:cNvSpPr txBox="1">
            <a:spLocks noGrp="1"/>
          </p:cNvSpPr>
          <p:nvPr>
            <p:ph type="ctrTitle"/>
          </p:nvPr>
        </p:nvSpPr>
        <p:spPr>
          <a:xfrm>
            <a:off x="1155700" y="2594429"/>
            <a:ext cx="13931900" cy="2409371"/>
          </a:xfrm>
          <a:prstGeom prst="rect">
            <a:avLst/>
          </a:prstGeom>
        </p:spPr>
        <p:txBody>
          <a:bodyPr lIns="38100" tIns="38100" rIns="38100" bIns="38100" anchor="ctr"/>
          <a:lstStyle/>
          <a:p>
            <a:pPr>
              <a:defRPr sz="7200">
                <a:solidFill>
                  <a:srgbClr val="FFD966"/>
                </a:solidFill>
              </a:defRPr>
            </a:pPr>
            <a:r>
              <a:t>Hardware Architecture</a:t>
            </a:r>
            <a:br/>
            <a:r>
              <a:t>(What is Inside the Computer?)</a:t>
            </a:r>
          </a:p>
        </p:txBody>
      </p:sp>
    </p:spTree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Shape 349"/>
          <p:cNvSpPr txBox="1"/>
          <p:nvPr/>
        </p:nvSpPr>
        <p:spPr>
          <a:xfrm>
            <a:off x="1693000" y="7537686"/>
            <a:ext cx="12870000" cy="419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>
              <a:defRPr sz="3000" u="sng">
                <a:solidFill>
                  <a:srgbClr val="FFFF00"/>
                </a:solidFill>
              </a:defRPr>
            </a:pPr>
            <a:r>
              <a:rPr>
                <a:solidFill>
                  <a:srgbClr val="009999"/>
                </a:solidFill>
                <a:uFill>
                  <a:solidFill>
                    <a:srgbClr val="009999"/>
                  </a:solidFill>
                </a:uFill>
                <a:hlinkClick r:id="rId2"/>
              </a:rPr>
              <a:t>http://upload.wikimedia.org/wikipedia/commons/3/3d/RaspberryPi.jpg</a:t>
            </a:r>
          </a:p>
        </p:txBody>
      </p:sp>
      <p:pic>
        <p:nvPicPr>
          <p:cNvPr id="108" name="Shape 350" descr="Shape 350"/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894520" y="758756"/>
            <a:ext cx="10466962" cy="6439713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DB37227-7D60-AD40-BCF5-09BB54386DB2}"/>
              </a:ext>
            </a:extLst>
          </p:cNvPr>
          <p:cNvSpPr/>
          <p:nvPr/>
        </p:nvSpPr>
        <p:spPr>
          <a:xfrm>
            <a:off x="1382627" y="7959334"/>
            <a:ext cx="13100061" cy="73866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hlinkClick r:id="rId2"/>
              </a:rPr>
              <a:t>https://upload.wikimedia.org/wikipedia/commons/b/b5/Inside_armadnigenerals_computer.jpg</a:t>
            </a:r>
            <a:endParaRPr lang="en-US" dirty="0"/>
          </a:p>
          <a:p>
            <a:endParaRPr lang="en-US" dirty="0"/>
          </a:p>
          <a:p>
            <a:r>
              <a:rPr lang="en-US" dirty="0" err="1"/>
              <a:t>ArmadniGeneral</a:t>
            </a:r>
            <a:r>
              <a:rPr lang="en-US" dirty="0"/>
              <a:t> at the English language Wikipedia [GFDL (http://</a:t>
            </a:r>
            <a:r>
              <a:rPr lang="en-US" dirty="0" err="1"/>
              <a:t>www.gnu.org</a:t>
            </a:r>
            <a:r>
              <a:rPr lang="en-US" dirty="0"/>
              <a:t>/copyleft/</a:t>
            </a:r>
            <a:r>
              <a:rPr lang="en-US" dirty="0" err="1"/>
              <a:t>fdl.html</a:t>
            </a:r>
            <a:r>
              <a:rPr lang="en-US" dirty="0"/>
              <a:t>) or CC-BY-SA-3.0 (http://</a:t>
            </a:r>
            <a:r>
              <a:rPr lang="en-US" dirty="0" err="1"/>
              <a:t>creativecommons.org</a:t>
            </a:r>
            <a:r>
              <a:rPr lang="en-US" dirty="0"/>
              <a:t>/licenses/by-</a:t>
            </a:r>
            <a:r>
              <a:rPr lang="en-US" dirty="0" err="1"/>
              <a:t>sa</a:t>
            </a:r>
            <a:r>
              <a:rPr lang="en-US" dirty="0"/>
              <a:t>/3.0/)]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5EB2CAD-A50F-7D47-9657-EEF253ACAEA4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353376" y="404205"/>
            <a:ext cx="8467321" cy="71892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6102793"/>
      </p:ext>
    </p:extLst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2" name="Shape 355"/>
          <p:cNvGrpSpPr/>
          <p:nvPr/>
        </p:nvGrpSpPr>
        <p:grpSpPr>
          <a:xfrm>
            <a:off x="6095999" y="1372134"/>
            <a:ext cx="3454400" cy="6489701"/>
            <a:chOff x="0" y="0"/>
            <a:chExt cx="3454398" cy="6489699"/>
          </a:xfrm>
        </p:grpSpPr>
        <p:sp>
          <p:nvSpPr>
            <p:cNvPr id="110" name="Rectangle"/>
            <p:cNvSpPr/>
            <p:nvPr/>
          </p:nvSpPr>
          <p:spPr>
            <a:xfrm>
              <a:off x="-1" y="-1"/>
              <a:ext cx="3454400" cy="6489701"/>
            </a:xfrm>
            <a:prstGeom prst="rect">
              <a:avLst/>
            </a:prstGeom>
            <a:noFill/>
            <a:ln w="76200" cap="rnd">
              <a:solidFill>
                <a:srgbClr val="00FFFF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spcBef>
                  <a:spcPts val="1000"/>
                </a:spcBef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11" name="Software"/>
            <p:cNvSpPr txBox="1"/>
            <p:nvPr/>
          </p:nvSpPr>
          <p:spPr>
            <a:xfrm>
              <a:off x="-1" y="-1"/>
              <a:ext cx="3454400" cy="45660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/>
            <a:p>
              <a:pPr>
                <a:spcBef>
                  <a:spcPts val="1000"/>
                </a:spcBef>
                <a:defRPr sz="3200">
                  <a:solidFill>
                    <a:srgbClr val="FF00FF"/>
                  </a:solidFill>
                </a:defRPr>
              </a:pPr>
              <a:r>
                <a:t>  </a:t>
              </a:r>
              <a:r>
                <a:rPr>
                  <a:solidFill>
                    <a:srgbClr val="00FFFF"/>
                  </a:solidFill>
                </a:rPr>
                <a:t>Software</a:t>
              </a:r>
            </a:p>
          </p:txBody>
        </p:sp>
      </p:grpSp>
      <p:grpSp>
        <p:nvGrpSpPr>
          <p:cNvPr id="115" name="Shape 356"/>
          <p:cNvGrpSpPr/>
          <p:nvPr/>
        </p:nvGrpSpPr>
        <p:grpSpPr>
          <a:xfrm>
            <a:off x="2832099" y="2121435"/>
            <a:ext cx="2184401" cy="2184400"/>
            <a:chOff x="0" y="0"/>
            <a:chExt cx="2184399" cy="2184399"/>
          </a:xfrm>
        </p:grpSpPr>
        <p:sp>
          <p:nvSpPr>
            <p:cNvPr id="113" name="Square"/>
            <p:cNvSpPr/>
            <p:nvPr/>
          </p:nvSpPr>
          <p:spPr>
            <a:xfrm>
              <a:off x="-1" y="-1"/>
              <a:ext cx="2184401" cy="2184401"/>
            </a:xfrm>
            <a:prstGeom prst="rect">
              <a:avLst/>
            </a:prstGeom>
            <a:noFill/>
            <a:ln w="76200" cap="rnd">
              <a:solidFill>
                <a:srgbClr val="00FF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14" name="Input…"/>
            <p:cNvSpPr txBox="1"/>
            <p:nvPr/>
          </p:nvSpPr>
          <p:spPr>
            <a:xfrm>
              <a:off x="-1" y="393997"/>
              <a:ext cx="2184401" cy="139640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Input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and Output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Devices</a:t>
              </a:r>
            </a:p>
          </p:txBody>
        </p:sp>
      </p:grpSp>
      <p:grpSp>
        <p:nvGrpSpPr>
          <p:cNvPr id="118" name="Shape 357"/>
          <p:cNvGrpSpPr/>
          <p:nvPr/>
        </p:nvGrpSpPr>
        <p:grpSpPr>
          <a:xfrm>
            <a:off x="6730999" y="2223035"/>
            <a:ext cx="2133601" cy="1981200"/>
            <a:chOff x="0" y="0"/>
            <a:chExt cx="2133599" cy="1981199"/>
          </a:xfrm>
        </p:grpSpPr>
        <p:sp>
          <p:nvSpPr>
            <p:cNvPr id="116" name="Rectangle"/>
            <p:cNvSpPr/>
            <p:nvPr/>
          </p:nvSpPr>
          <p:spPr>
            <a:xfrm>
              <a:off x="-1" y="-1"/>
              <a:ext cx="2133601" cy="1981201"/>
            </a:xfrm>
            <a:prstGeom prst="rect">
              <a:avLst/>
            </a:prstGeom>
            <a:noFill/>
            <a:ln w="76200" cap="rnd">
              <a:solidFill>
                <a:srgbClr val="00FF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17" name="Central…"/>
            <p:cNvSpPr txBox="1"/>
            <p:nvPr/>
          </p:nvSpPr>
          <p:spPr>
            <a:xfrm>
              <a:off x="-1" y="292397"/>
              <a:ext cx="2133601" cy="139640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Central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Processing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Unit</a:t>
              </a:r>
            </a:p>
          </p:txBody>
        </p:sp>
      </p:grpSp>
      <p:grpSp>
        <p:nvGrpSpPr>
          <p:cNvPr id="121" name="Shape 358"/>
          <p:cNvGrpSpPr/>
          <p:nvPr/>
        </p:nvGrpSpPr>
        <p:grpSpPr>
          <a:xfrm>
            <a:off x="6731000" y="5258334"/>
            <a:ext cx="2171700" cy="2133600"/>
            <a:chOff x="0" y="0"/>
            <a:chExt cx="2171700" cy="2133599"/>
          </a:xfrm>
        </p:grpSpPr>
        <p:sp>
          <p:nvSpPr>
            <p:cNvPr id="119" name="Rectangle"/>
            <p:cNvSpPr/>
            <p:nvPr/>
          </p:nvSpPr>
          <p:spPr>
            <a:xfrm>
              <a:off x="0" y="-1"/>
              <a:ext cx="2171700" cy="2133601"/>
            </a:xfrm>
            <a:prstGeom prst="rect">
              <a:avLst/>
            </a:prstGeom>
            <a:noFill/>
            <a:ln w="76200" cap="rnd">
              <a:solidFill>
                <a:srgbClr val="00FF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20" name="Main…"/>
            <p:cNvSpPr txBox="1"/>
            <p:nvPr/>
          </p:nvSpPr>
          <p:spPr>
            <a:xfrm>
              <a:off x="0" y="603547"/>
              <a:ext cx="2171700" cy="92650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Main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Memory</a:t>
              </a:r>
            </a:p>
          </p:txBody>
        </p:sp>
      </p:grpSp>
      <p:grpSp>
        <p:nvGrpSpPr>
          <p:cNvPr id="124" name="Shape 359"/>
          <p:cNvGrpSpPr/>
          <p:nvPr/>
        </p:nvGrpSpPr>
        <p:grpSpPr>
          <a:xfrm>
            <a:off x="11264899" y="3429534"/>
            <a:ext cx="2184401" cy="2184400"/>
            <a:chOff x="0" y="0"/>
            <a:chExt cx="2184399" cy="2184399"/>
          </a:xfrm>
        </p:grpSpPr>
        <p:sp>
          <p:nvSpPr>
            <p:cNvPr id="122" name="Square"/>
            <p:cNvSpPr/>
            <p:nvPr/>
          </p:nvSpPr>
          <p:spPr>
            <a:xfrm>
              <a:off x="-1" y="-1"/>
              <a:ext cx="2184401" cy="2184401"/>
            </a:xfrm>
            <a:prstGeom prst="rect">
              <a:avLst/>
            </a:prstGeom>
            <a:noFill/>
            <a:ln w="76200" cap="rnd">
              <a:solidFill>
                <a:srgbClr val="00FF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23" name="Secondary…"/>
            <p:cNvSpPr txBox="1"/>
            <p:nvPr/>
          </p:nvSpPr>
          <p:spPr>
            <a:xfrm>
              <a:off x="-1" y="628947"/>
              <a:ext cx="2184401" cy="92650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Secondary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Memory</a:t>
              </a:r>
            </a:p>
          </p:txBody>
        </p:sp>
      </p:grpSp>
      <p:sp>
        <p:nvSpPr>
          <p:cNvPr id="125" name="Shape 360"/>
          <p:cNvSpPr/>
          <p:nvPr/>
        </p:nvSpPr>
        <p:spPr>
          <a:xfrm flipH="1">
            <a:off x="5030785" y="3248560"/>
            <a:ext cx="1058863" cy="17462"/>
          </a:xfrm>
          <a:prstGeom prst="line">
            <a:avLst/>
          </a:prstGeom>
          <a:ln w="88900" cap="rnd">
            <a:solidFill>
              <a:srgbClr val="FFFF00"/>
            </a:solidFill>
            <a:miter/>
            <a:headEnd type="stealth"/>
            <a:tail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26" name="Shape 361"/>
          <p:cNvSpPr/>
          <p:nvPr/>
        </p:nvSpPr>
        <p:spPr>
          <a:xfrm flipV="1">
            <a:off x="7392669" y="4232809"/>
            <a:ext cx="1" cy="971551"/>
          </a:xfrm>
          <a:prstGeom prst="line">
            <a:avLst/>
          </a:prstGeom>
          <a:ln w="88900" cap="rnd">
            <a:solidFill>
              <a:srgbClr val="FFFF00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27" name="Shape 362"/>
          <p:cNvSpPr/>
          <p:nvPr/>
        </p:nvSpPr>
        <p:spPr>
          <a:xfrm>
            <a:off x="8345485" y="4250271"/>
            <a:ext cx="1" cy="919163"/>
          </a:xfrm>
          <a:prstGeom prst="line">
            <a:avLst/>
          </a:prstGeom>
          <a:ln w="88900" cap="rnd">
            <a:solidFill>
              <a:srgbClr val="FFFF00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28" name="Shape 363"/>
          <p:cNvSpPr/>
          <p:nvPr/>
        </p:nvSpPr>
        <p:spPr>
          <a:xfrm flipH="1">
            <a:off x="9655174" y="3872446"/>
            <a:ext cx="1562100" cy="17463"/>
          </a:xfrm>
          <a:prstGeom prst="line">
            <a:avLst/>
          </a:prstGeom>
          <a:ln w="88900" cap="rnd">
            <a:solidFill>
              <a:srgbClr val="FFFF00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29" name="Shape 364"/>
          <p:cNvSpPr/>
          <p:nvPr/>
        </p:nvSpPr>
        <p:spPr>
          <a:xfrm>
            <a:off x="9620250" y="4877334"/>
            <a:ext cx="1579563" cy="1"/>
          </a:xfrm>
          <a:prstGeom prst="line">
            <a:avLst/>
          </a:prstGeom>
          <a:ln w="88900" cap="rnd">
            <a:solidFill>
              <a:srgbClr val="FFFF00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30" name="Shape 365"/>
          <p:cNvSpPr txBox="1"/>
          <p:nvPr/>
        </p:nvSpPr>
        <p:spPr>
          <a:xfrm>
            <a:off x="11610181" y="1278013"/>
            <a:ext cx="2052637" cy="10518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>
              <a:defRPr sz="3600">
                <a:solidFill>
                  <a:srgbClr val="FFFFFF"/>
                </a:solidFill>
              </a:defRPr>
            </a:pPr>
            <a:r>
              <a:t>Generic</a:t>
            </a:r>
            <a:endParaRPr>
              <a:solidFill>
                <a:srgbClr val="000000"/>
              </a:solidFill>
            </a:endParaRPr>
          </a:p>
          <a:p>
            <a:pPr algn="ctr">
              <a:defRPr sz="3600">
                <a:solidFill>
                  <a:srgbClr val="FFFFFF"/>
                </a:solidFill>
              </a:defRPr>
            </a:pPr>
            <a:r>
              <a:t>Computer</a:t>
            </a:r>
          </a:p>
        </p:txBody>
      </p:sp>
      <p:grpSp>
        <p:nvGrpSpPr>
          <p:cNvPr id="133" name="Shape 366"/>
          <p:cNvGrpSpPr/>
          <p:nvPr/>
        </p:nvGrpSpPr>
        <p:grpSpPr>
          <a:xfrm>
            <a:off x="9182100" y="1168935"/>
            <a:ext cx="1803400" cy="1270001"/>
            <a:chOff x="0" y="0"/>
            <a:chExt cx="1803400" cy="1270000"/>
          </a:xfrm>
        </p:grpSpPr>
        <p:sp>
          <p:nvSpPr>
            <p:cNvPr id="131" name="Quote Bubble"/>
            <p:cNvSpPr/>
            <p:nvPr/>
          </p:nvSpPr>
          <p:spPr>
            <a:xfrm>
              <a:off x="0" y="0"/>
              <a:ext cx="1803400" cy="1270000"/>
            </a:xfrm>
            <a:prstGeom prst="wedgeEllipseCallout">
              <a:avLst>
                <a:gd name="adj1" fmla="val -43827"/>
                <a:gd name="adj2" fmla="val 80222"/>
              </a:avLst>
            </a:prstGeom>
            <a:blipFill rotWithShape="1"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tile tx="0" ty="0" sx="100000" sy="100000" flip="none" algn="tl"/>
            </a:blip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32" name="What…"/>
            <p:cNvSpPr txBox="1"/>
            <p:nvPr/>
          </p:nvSpPr>
          <p:spPr>
            <a:xfrm>
              <a:off x="264101" y="246701"/>
              <a:ext cx="1275198" cy="77659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2600">
                  <a:solidFill>
                    <a:srgbClr val="000000"/>
                  </a:solidFill>
                </a:defRPr>
              </a:pPr>
              <a:r>
                <a:t>What</a:t>
              </a:r>
            </a:p>
            <a:p>
              <a:pPr algn="ctr">
                <a:defRPr sz="2600">
                  <a:solidFill>
                    <a:srgbClr val="000000"/>
                  </a:solidFill>
                </a:defRPr>
              </a:pPr>
              <a:r>
                <a:t>Next?</a:t>
              </a:r>
            </a:p>
          </p:txBody>
        </p:sp>
      </p:grpSp>
    </p:spTree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Shape 371"/>
          <p:cNvSpPr txBox="1">
            <a:spLocks noGrp="1"/>
          </p:cNvSpPr>
          <p:nvPr>
            <p:ph type="title"/>
          </p:nvPr>
        </p:nvSpPr>
        <p:spPr>
          <a:xfrm>
            <a:off x="812800" y="768095"/>
            <a:ext cx="14630400" cy="136550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400">
                <a:solidFill>
                  <a:srgbClr val="FFD966"/>
                </a:solidFill>
              </a:defRPr>
            </a:lvl1pPr>
          </a:lstStyle>
          <a:p>
            <a:r>
              <a:t>Definitions</a:t>
            </a:r>
          </a:p>
        </p:txBody>
      </p:sp>
      <p:sp>
        <p:nvSpPr>
          <p:cNvPr id="136" name="Shape 37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lIns="38100" tIns="38100" rIns="38100" bIns="38100" anchor="ctr"/>
          <a:lstStyle/>
          <a:p>
            <a:pPr indent="-354711">
              <a:spcBef>
                <a:spcPts val="0"/>
              </a:spcBef>
              <a:buClr>
                <a:srgbClr val="FFFF00"/>
              </a:buClr>
              <a:defRPr sz="3000">
                <a:solidFill>
                  <a:srgbClr val="FFFF00"/>
                </a:solidFill>
              </a:defRPr>
            </a:pPr>
            <a:r>
              <a:t>Central Processing Unit:</a:t>
            </a:r>
            <a:r>
              <a:rPr>
                <a:solidFill>
                  <a:srgbClr val="FFFFFF"/>
                </a:solidFill>
              </a:rPr>
              <a:t>  Runs the Program - The CPU is </a:t>
            </a:r>
            <a:br>
              <a:rPr>
                <a:solidFill>
                  <a:srgbClr val="FFFFFF"/>
                </a:solidFill>
              </a:rPr>
            </a:br>
            <a:r>
              <a:rPr>
                <a:solidFill>
                  <a:srgbClr val="FFFFFF"/>
                </a:solidFill>
              </a:rPr>
              <a:t>always wondering “what to do next”.  Not the brains </a:t>
            </a:r>
            <a:br>
              <a:rPr>
                <a:solidFill>
                  <a:srgbClr val="FFFFFF"/>
                </a:solidFill>
              </a:rPr>
            </a:br>
            <a:r>
              <a:rPr>
                <a:solidFill>
                  <a:srgbClr val="FFFFFF"/>
                </a:solidFill>
              </a:rPr>
              <a:t>exactly - very dumb but very very fast</a:t>
            </a:r>
          </a:p>
          <a:p>
            <a:pPr indent="-354711">
              <a:buClr>
                <a:srgbClr val="FFFF00"/>
              </a:buClr>
              <a:defRPr sz="3000">
                <a:solidFill>
                  <a:srgbClr val="FFFF00"/>
                </a:solidFill>
              </a:defRPr>
            </a:pPr>
            <a:r>
              <a:t>Input Devices:</a:t>
            </a:r>
            <a:r>
              <a:rPr>
                <a:solidFill>
                  <a:srgbClr val="FFFFFF"/>
                </a:solidFill>
              </a:rPr>
              <a:t>  Keyboard, Mouse, Touch Screen, </a:t>
            </a:r>
            <a:r>
              <a:rPr>
                <a:solidFill>
                  <a:srgbClr val="00FA00"/>
                </a:solidFill>
              </a:rPr>
              <a:t>???</a:t>
            </a:r>
          </a:p>
          <a:p>
            <a:pPr indent="-354711">
              <a:buClr>
                <a:srgbClr val="FFFF00"/>
              </a:buClr>
              <a:defRPr sz="3000">
                <a:solidFill>
                  <a:srgbClr val="FFFF00"/>
                </a:solidFill>
              </a:defRPr>
            </a:pPr>
            <a:r>
              <a:t>Output Devices: </a:t>
            </a:r>
            <a:r>
              <a:rPr>
                <a:solidFill>
                  <a:srgbClr val="FFFFFF"/>
                </a:solidFill>
              </a:rPr>
              <a:t> Screen, Speakers, Printer, </a:t>
            </a:r>
            <a:r>
              <a:rPr>
                <a:solidFill>
                  <a:srgbClr val="00FA00"/>
                </a:solidFill>
              </a:rPr>
              <a:t>???</a:t>
            </a:r>
          </a:p>
          <a:p>
            <a:pPr indent="-354711">
              <a:buClr>
                <a:srgbClr val="FFFF00"/>
              </a:buClr>
              <a:defRPr sz="3000">
                <a:solidFill>
                  <a:srgbClr val="FFFF00"/>
                </a:solidFill>
              </a:defRPr>
            </a:pPr>
            <a:r>
              <a:t>Main Memory: </a:t>
            </a:r>
            <a:r>
              <a:rPr>
                <a:solidFill>
                  <a:srgbClr val="FFFFFF"/>
                </a:solidFill>
              </a:rPr>
              <a:t> Fast, small, and temporary (often called RAM)</a:t>
            </a:r>
          </a:p>
          <a:p>
            <a:pPr indent="-354711">
              <a:buClr>
                <a:srgbClr val="FFFF00"/>
              </a:buClr>
              <a:defRPr sz="3000">
                <a:solidFill>
                  <a:srgbClr val="FFFF00"/>
                </a:solidFill>
              </a:defRPr>
            </a:pPr>
            <a:r>
              <a:t>Secondary Memory:</a:t>
            </a:r>
            <a:r>
              <a:rPr>
                <a:solidFill>
                  <a:srgbClr val="FFFFFF"/>
                </a:solidFill>
              </a:rPr>
              <a:t>  Big, slow, permanent (hard drive or sometimes just “disk”)</a:t>
            </a:r>
          </a:p>
        </p:txBody>
      </p:sp>
      <p:pic>
        <p:nvPicPr>
          <p:cNvPr id="137" name="Shape 373" descr="Shape 373"/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674600" y="2805110"/>
            <a:ext cx="2006600" cy="1995487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140" name="Shape 374"/>
          <p:cNvGrpSpPr/>
          <p:nvPr/>
        </p:nvGrpSpPr>
        <p:grpSpPr>
          <a:xfrm>
            <a:off x="14071600" y="2349500"/>
            <a:ext cx="1803400" cy="1270000"/>
            <a:chOff x="0" y="0"/>
            <a:chExt cx="1803400" cy="1270000"/>
          </a:xfrm>
        </p:grpSpPr>
        <p:sp>
          <p:nvSpPr>
            <p:cNvPr id="138" name="Quote Bubble"/>
            <p:cNvSpPr/>
            <p:nvPr/>
          </p:nvSpPr>
          <p:spPr>
            <a:xfrm>
              <a:off x="0" y="0"/>
              <a:ext cx="1803400" cy="1270000"/>
            </a:xfrm>
            <a:prstGeom prst="wedgeEllipseCallout">
              <a:avLst>
                <a:gd name="adj1" fmla="val -36159"/>
                <a:gd name="adj2" fmla="val 66254"/>
              </a:avLst>
            </a:prstGeom>
            <a:blipFill rotWithShape="1">
              <a:blip r:embed="rId3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tile tx="0" ty="0" sx="100000" sy="100000" flip="none" algn="tl"/>
            </a:blip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39" name="What…"/>
            <p:cNvSpPr txBox="1"/>
            <p:nvPr/>
          </p:nvSpPr>
          <p:spPr>
            <a:xfrm>
              <a:off x="264101" y="246701"/>
              <a:ext cx="1275198" cy="77659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2600">
                  <a:solidFill>
                    <a:srgbClr val="000000"/>
                  </a:solidFill>
                </a:defRPr>
              </a:pPr>
              <a:r>
                <a:t>What</a:t>
              </a:r>
            </a:p>
            <a:p>
              <a:pPr algn="ctr">
                <a:defRPr sz="2600">
                  <a:solidFill>
                    <a:srgbClr val="000000"/>
                  </a:solidFill>
                </a:defRPr>
              </a:pPr>
              <a:r>
                <a:t>Next?</a:t>
              </a:r>
            </a:p>
          </p:txBody>
        </p:sp>
      </p:grpSp>
    </p:spTree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4" name="Shape 379"/>
          <p:cNvGrpSpPr/>
          <p:nvPr/>
        </p:nvGrpSpPr>
        <p:grpSpPr>
          <a:xfrm>
            <a:off x="6095999" y="1313769"/>
            <a:ext cx="3454400" cy="6489701"/>
            <a:chOff x="0" y="0"/>
            <a:chExt cx="3454398" cy="6489699"/>
          </a:xfrm>
        </p:grpSpPr>
        <p:sp>
          <p:nvSpPr>
            <p:cNvPr id="142" name="Rectangle"/>
            <p:cNvSpPr/>
            <p:nvPr/>
          </p:nvSpPr>
          <p:spPr>
            <a:xfrm>
              <a:off x="-1" y="-1"/>
              <a:ext cx="3454400" cy="6489701"/>
            </a:xfrm>
            <a:prstGeom prst="rect">
              <a:avLst/>
            </a:prstGeom>
            <a:noFill/>
            <a:ln w="76200" cap="rnd">
              <a:solidFill>
                <a:srgbClr val="00FFFF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spcBef>
                  <a:spcPts val="1000"/>
                </a:spcBef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43" name="Software"/>
            <p:cNvSpPr txBox="1"/>
            <p:nvPr/>
          </p:nvSpPr>
          <p:spPr>
            <a:xfrm>
              <a:off x="-1" y="-1"/>
              <a:ext cx="3454400" cy="45660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spcBef>
                  <a:spcPts val="1000"/>
                </a:spcBef>
                <a:defRPr sz="3200">
                  <a:solidFill>
                    <a:srgbClr val="00FFFF"/>
                  </a:solidFill>
                </a:defRPr>
              </a:lvl1pPr>
            </a:lstStyle>
            <a:p>
              <a:r>
                <a:t>  Software</a:t>
              </a:r>
            </a:p>
          </p:txBody>
        </p:sp>
      </p:grpSp>
      <p:grpSp>
        <p:nvGrpSpPr>
          <p:cNvPr id="147" name="Shape 380"/>
          <p:cNvGrpSpPr/>
          <p:nvPr/>
        </p:nvGrpSpPr>
        <p:grpSpPr>
          <a:xfrm>
            <a:off x="2832099" y="2063069"/>
            <a:ext cx="2184401" cy="2184401"/>
            <a:chOff x="0" y="0"/>
            <a:chExt cx="2184399" cy="2184399"/>
          </a:xfrm>
        </p:grpSpPr>
        <p:sp>
          <p:nvSpPr>
            <p:cNvPr id="145" name="Square"/>
            <p:cNvSpPr/>
            <p:nvPr/>
          </p:nvSpPr>
          <p:spPr>
            <a:xfrm>
              <a:off x="-1" y="-1"/>
              <a:ext cx="2184401" cy="2184401"/>
            </a:xfrm>
            <a:prstGeom prst="rect">
              <a:avLst/>
            </a:prstGeom>
            <a:noFill/>
            <a:ln w="76200" cap="rnd">
              <a:solidFill>
                <a:srgbClr val="00FF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46" name="Input…"/>
            <p:cNvSpPr txBox="1"/>
            <p:nvPr/>
          </p:nvSpPr>
          <p:spPr>
            <a:xfrm>
              <a:off x="-1" y="393997"/>
              <a:ext cx="2184401" cy="139640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Input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and Output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Devices</a:t>
              </a:r>
            </a:p>
          </p:txBody>
        </p:sp>
      </p:grpSp>
      <p:grpSp>
        <p:nvGrpSpPr>
          <p:cNvPr id="150" name="Shape 381"/>
          <p:cNvGrpSpPr/>
          <p:nvPr/>
        </p:nvGrpSpPr>
        <p:grpSpPr>
          <a:xfrm>
            <a:off x="6730999" y="2164669"/>
            <a:ext cx="2133601" cy="1981201"/>
            <a:chOff x="0" y="0"/>
            <a:chExt cx="2133599" cy="1981199"/>
          </a:xfrm>
        </p:grpSpPr>
        <p:sp>
          <p:nvSpPr>
            <p:cNvPr id="148" name="Rectangle"/>
            <p:cNvSpPr/>
            <p:nvPr/>
          </p:nvSpPr>
          <p:spPr>
            <a:xfrm>
              <a:off x="-1" y="-1"/>
              <a:ext cx="2133601" cy="1981201"/>
            </a:xfrm>
            <a:prstGeom prst="rect">
              <a:avLst/>
            </a:prstGeom>
            <a:noFill/>
            <a:ln w="76200" cap="rnd">
              <a:solidFill>
                <a:srgbClr val="00FF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49" name="Central…"/>
            <p:cNvSpPr txBox="1"/>
            <p:nvPr/>
          </p:nvSpPr>
          <p:spPr>
            <a:xfrm>
              <a:off x="-1" y="292397"/>
              <a:ext cx="2133601" cy="139640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Central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Processing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Unit</a:t>
              </a:r>
            </a:p>
          </p:txBody>
        </p:sp>
      </p:grpSp>
      <p:grpSp>
        <p:nvGrpSpPr>
          <p:cNvPr id="153" name="Shape 382"/>
          <p:cNvGrpSpPr/>
          <p:nvPr/>
        </p:nvGrpSpPr>
        <p:grpSpPr>
          <a:xfrm>
            <a:off x="6731000" y="5199969"/>
            <a:ext cx="2171700" cy="2133600"/>
            <a:chOff x="0" y="0"/>
            <a:chExt cx="2171700" cy="2133599"/>
          </a:xfrm>
        </p:grpSpPr>
        <p:sp>
          <p:nvSpPr>
            <p:cNvPr id="151" name="Rectangle"/>
            <p:cNvSpPr/>
            <p:nvPr/>
          </p:nvSpPr>
          <p:spPr>
            <a:xfrm>
              <a:off x="0" y="-1"/>
              <a:ext cx="2171700" cy="2133601"/>
            </a:xfrm>
            <a:prstGeom prst="rect">
              <a:avLst/>
            </a:prstGeom>
            <a:noFill/>
            <a:ln w="76200" cap="rnd">
              <a:solidFill>
                <a:srgbClr val="00FF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52" name="Main…"/>
            <p:cNvSpPr txBox="1"/>
            <p:nvPr/>
          </p:nvSpPr>
          <p:spPr>
            <a:xfrm>
              <a:off x="0" y="603547"/>
              <a:ext cx="2171700" cy="92650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Main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Memory</a:t>
              </a:r>
            </a:p>
          </p:txBody>
        </p:sp>
      </p:grpSp>
      <p:grpSp>
        <p:nvGrpSpPr>
          <p:cNvPr id="156" name="Shape 383"/>
          <p:cNvGrpSpPr/>
          <p:nvPr/>
        </p:nvGrpSpPr>
        <p:grpSpPr>
          <a:xfrm>
            <a:off x="11264899" y="3371169"/>
            <a:ext cx="2184401" cy="2184400"/>
            <a:chOff x="0" y="0"/>
            <a:chExt cx="2184399" cy="2184399"/>
          </a:xfrm>
        </p:grpSpPr>
        <p:sp>
          <p:nvSpPr>
            <p:cNvPr id="154" name="Square"/>
            <p:cNvSpPr/>
            <p:nvPr/>
          </p:nvSpPr>
          <p:spPr>
            <a:xfrm>
              <a:off x="-1" y="-1"/>
              <a:ext cx="2184401" cy="2184401"/>
            </a:xfrm>
            <a:prstGeom prst="rect">
              <a:avLst/>
            </a:prstGeom>
            <a:noFill/>
            <a:ln w="76200" cap="rnd">
              <a:solidFill>
                <a:srgbClr val="00FF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55" name="Secondary…"/>
            <p:cNvSpPr txBox="1"/>
            <p:nvPr/>
          </p:nvSpPr>
          <p:spPr>
            <a:xfrm>
              <a:off x="-1" y="628947"/>
              <a:ext cx="2184401" cy="92650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Secondary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Memory</a:t>
              </a:r>
            </a:p>
          </p:txBody>
        </p:sp>
      </p:grpSp>
      <p:sp>
        <p:nvSpPr>
          <p:cNvPr id="157" name="Shape 384"/>
          <p:cNvSpPr/>
          <p:nvPr/>
        </p:nvSpPr>
        <p:spPr>
          <a:xfrm flipH="1">
            <a:off x="5030785" y="3190194"/>
            <a:ext cx="1058863" cy="17463"/>
          </a:xfrm>
          <a:prstGeom prst="line">
            <a:avLst/>
          </a:prstGeom>
          <a:ln w="88900" cap="rnd">
            <a:solidFill>
              <a:srgbClr val="FFFF00"/>
            </a:solidFill>
            <a:miter/>
            <a:headEnd type="stealth"/>
            <a:tail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58" name="Shape 385"/>
          <p:cNvSpPr/>
          <p:nvPr/>
        </p:nvSpPr>
        <p:spPr>
          <a:xfrm flipV="1">
            <a:off x="7392669" y="4174444"/>
            <a:ext cx="1" cy="971551"/>
          </a:xfrm>
          <a:prstGeom prst="line">
            <a:avLst/>
          </a:prstGeom>
          <a:ln w="88900" cap="rnd">
            <a:solidFill>
              <a:srgbClr val="FFFF00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59" name="Shape 386"/>
          <p:cNvSpPr/>
          <p:nvPr/>
        </p:nvSpPr>
        <p:spPr>
          <a:xfrm>
            <a:off x="8345485" y="4191906"/>
            <a:ext cx="1" cy="919163"/>
          </a:xfrm>
          <a:prstGeom prst="line">
            <a:avLst/>
          </a:prstGeom>
          <a:ln w="88900" cap="rnd">
            <a:solidFill>
              <a:srgbClr val="FFFF00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60" name="Shape 387"/>
          <p:cNvSpPr/>
          <p:nvPr/>
        </p:nvSpPr>
        <p:spPr>
          <a:xfrm flipH="1">
            <a:off x="9655174" y="3814081"/>
            <a:ext cx="1562100" cy="17462"/>
          </a:xfrm>
          <a:prstGeom prst="line">
            <a:avLst/>
          </a:prstGeom>
          <a:ln w="88900" cap="rnd">
            <a:solidFill>
              <a:srgbClr val="FFFF00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61" name="Shape 388"/>
          <p:cNvSpPr/>
          <p:nvPr/>
        </p:nvSpPr>
        <p:spPr>
          <a:xfrm>
            <a:off x="9620250" y="4818969"/>
            <a:ext cx="1579563" cy="1"/>
          </a:xfrm>
          <a:prstGeom prst="line">
            <a:avLst/>
          </a:prstGeom>
          <a:ln w="88900" cap="rnd">
            <a:solidFill>
              <a:srgbClr val="FFFF00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62" name="Shape 389"/>
          <p:cNvSpPr txBox="1"/>
          <p:nvPr/>
        </p:nvSpPr>
        <p:spPr>
          <a:xfrm>
            <a:off x="12438060" y="1010098"/>
            <a:ext cx="2052637" cy="10518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>
              <a:defRPr sz="3600">
                <a:solidFill>
                  <a:srgbClr val="FFFFFF"/>
                </a:solidFill>
              </a:defRPr>
            </a:pPr>
            <a:r>
              <a:t>Generic</a:t>
            </a:r>
            <a:endParaRPr>
              <a:solidFill>
                <a:srgbClr val="000000"/>
              </a:solidFill>
            </a:endParaRPr>
          </a:p>
          <a:p>
            <a:pPr algn="ctr">
              <a:defRPr sz="3600">
                <a:solidFill>
                  <a:srgbClr val="FFFFFF"/>
                </a:solidFill>
              </a:defRPr>
            </a:pPr>
            <a:r>
              <a:t>Computer</a:t>
            </a:r>
          </a:p>
        </p:txBody>
      </p:sp>
      <p:grpSp>
        <p:nvGrpSpPr>
          <p:cNvPr id="165" name="Shape 390"/>
          <p:cNvGrpSpPr/>
          <p:nvPr/>
        </p:nvGrpSpPr>
        <p:grpSpPr>
          <a:xfrm>
            <a:off x="9182100" y="1110570"/>
            <a:ext cx="1803400" cy="1270001"/>
            <a:chOff x="0" y="0"/>
            <a:chExt cx="1803400" cy="1270000"/>
          </a:xfrm>
        </p:grpSpPr>
        <p:sp>
          <p:nvSpPr>
            <p:cNvPr id="163" name="Quote Bubble"/>
            <p:cNvSpPr/>
            <p:nvPr/>
          </p:nvSpPr>
          <p:spPr>
            <a:xfrm>
              <a:off x="0" y="0"/>
              <a:ext cx="1803400" cy="1270000"/>
            </a:xfrm>
            <a:prstGeom prst="wedgeEllipseCallout">
              <a:avLst>
                <a:gd name="adj1" fmla="val -64148"/>
                <a:gd name="adj2" fmla="val 74451"/>
              </a:avLst>
            </a:prstGeom>
            <a:blipFill rotWithShape="1"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tile tx="0" ty="0" sx="100000" sy="100000" flip="none" algn="tl"/>
            </a:blip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64" name="What…"/>
            <p:cNvSpPr txBox="1"/>
            <p:nvPr/>
          </p:nvSpPr>
          <p:spPr>
            <a:xfrm>
              <a:off x="264101" y="246701"/>
              <a:ext cx="1275198" cy="77659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2600">
                  <a:solidFill>
                    <a:srgbClr val="000000"/>
                  </a:solidFill>
                </a:defRPr>
              </a:pPr>
              <a:r>
                <a:t>What</a:t>
              </a:r>
            </a:p>
            <a:p>
              <a:pPr algn="ctr">
                <a:defRPr sz="2600">
                  <a:solidFill>
                    <a:srgbClr val="000000"/>
                  </a:solidFill>
                </a:defRPr>
              </a:pPr>
              <a:r>
                <a:t>Next?</a:t>
              </a:r>
            </a:p>
          </p:txBody>
        </p:sp>
      </p:grpSp>
      <p:pic>
        <p:nvPicPr>
          <p:cNvPr id="166" name="Shape 391" descr="Shape 39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881810" y="5441269"/>
            <a:ext cx="457201" cy="649287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169" name="Shape 392"/>
          <p:cNvGrpSpPr/>
          <p:nvPr/>
        </p:nvGrpSpPr>
        <p:grpSpPr>
          <a:xfrm>
            <a:off x="7670800" y="4234769"/>
            <a:ext cx="2768601" cy="1270001"/>
            <a:chOff x="0" y="0"/>
            <a:chExt cx="2768600" cy="1270000"/>
          </a:xfrm>
        </p:grpSpPr>
        <p:sp>
          <p:nvSpPr>
            <p:cNvPr id="167" name="Quote Bubble"/>
            <p:cNvSpPr/>
            <p:nvPr/>
          </p:nvSpPr>
          <p:spPr>
            <a:xfrm>
              <a:off x="0" y="0"/>
              <a:ext cx="2768600" cy="1270000"/>
            </a:xfrm>
            <a:prstGeom prst="wedgeEllipseCallout">
              <a:avLst>
                <a:gd name="adj1" fmla="val -17963"/>
                <a:gd name="adj2" fmla="val 84303"/>
              </a:avLst>
            </a:prstGeom>
            <a:solidFill>
              <a:srgbClr val="606060"/>
            </a:solidFill>
            <a:ln w="50800" cap="rnd">
              <a:solidFill>
                <a:srgbClr val="FF99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68" name="if x&lt; 3: print"/>
            <p:cNvSpPr txBox="1"/>
            <p:nvPr/>
          </p:nvSpPr>
          <p:spPr>
            <a:xfrm>
              <a:off x="405451" y="434945"/>
              <a:ext cx="1957697" cy="4001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2600">
                  <a:solidFill>
                    <a:srgbClr val="00FF00"/>
                  </a:solidFill>
                </a:defRPr>
              </a:lvl1pPr>
            </a:lstStyle>
            <a:p>
              <a:r>
                <a:rPr dirty="0"/>
                <a:t>if x</a:t>
              </a:r>
              <a:r>
                <a:rPr lang="en-US" dirty="0"/>
                <a:t> </a:t>
              </a:r>
              <a:r>
                <a:rPr dirty="0"/>
                <a:t>&lt; 3: print</a:t>
              </a:r>
            </a:p>
          </p:txBody>
        </p:sp>
      </p:grpSp>
    </p:spTree>
  </p:cSld>
  <p:clrMapOvr>
    <a:masterClrMapping/>
  </p:clrMapOvr>
  <p:transition spd="med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3" name="Shape 379"/>
          <p:cNvGrpSpPr/>
          <p:nvPr/>
        </p:nvGrpSpPr>
        <p:grpSpPr>
          <a:xfrm>
            <a:off x="6095999" y="1313769"/>
            <a:ext cx="3454400" cy="6489701"/>
            <a:chOff x="0" y="0"/>
            <a:chExt cx="3454398" cy="6489699"/>
          </a:xfrm>
        </p:grpSpPr>
        <p:sp>
          <p:nvSpPr>
            <p:cNvPr id="171" name="Rectangle"/>
            <p:cNvSpPr/>
            <p:nvPr/>
          </p:nvSpPr>
          <p:spPr>
            <a:xfrm>
              <a:off x="-1" y="-1"/>
              <a:ext cx="3454400" cy="6489701"/>
            </a:xfrm>
            <a:prstGeom prst="rect">
              <a:avLst/>
            </a:prstGeom>
            <a:noFill/>
            <a:ln w="76200" cap="rnd">
              <a:solidFill>
                <a:srgbClr val="00FFFF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spcBef>
                  <a:spcPts val="1000"/>
                </a:spcBef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72" name="Software"/>
            <p:cNvSpPr txBox="1"/>
            <p:nvPr/>
          </p:nvSpPr>
          <p:spPr>
            <a:xfrm>
              <a:off x="-1" y="-1"/>
              <a:ext cx="3454400" cy="45660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spcBef>
                  <a:spcPts val="1000"/>
                </a:spcBef>
                <a:defRPr sz="3200">
                  <a:solidFill>
                    <a:srgbClr val="00FFFF"/>
                  </a:solidFill>
                </a:defRPr>
              </a:lvl1pPr>
            </a:lstStyle>
            <a:p>
              <a:r>
                <a:t>  Software</a:t>
              </a:r>
            </a:p>
          </p:txBody>
        </p:sp>
      </p:grpSp>
      <p:grpSp>
        <p:nvGrpSpPr>
          <p:cNvPr id="176" name="Shape 380"/>
          <p:cNvGrpSpPr/>
          <p:nvPr/>
        </p:nvGrpSpPr>
        <p:grpSpPr>
          <a:xfrm>
            <a:off x="2832099" y="2063069"/>
            <a:ext cx="2184401" cy="2184401"/>
            <a:chOff x="0" y="0"/>
            <a:chExt cx="2184399" cy="2184399"/>
          </a:xfrm>
        </p:grpSpPr>
        <p:sp>
          <p:nvSpPr>
            <p:cNvPr id="174" name="Square"/>
            <p:cNvSpPr/>
            <p:nvPr/>
          </p:nvSpPr>
          <p:spPr>
            <a:xfrm>
              <a:off x="-1" y="-1"/>
              <a:ext cx="2184401" cy="2184401"/>
            </a:xfrm>
            <a:prstGeom prst="rect">
              <a:avLst/>
            </a:prstGeom>
            <a:noFill/>
            <a:ln w="76200" cap="rnd">
              <a:solidFill>
                <a:srgbClr val="00FF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75" name="Input…"/>
            <p:cNvSpPr txBox="1"/>
            <p:nvPr/>
          </p:nvSpPr>
          <p:spPr>
            <a:xfrm>
              <a:off x="-1" y="393997"/>
              <a:ext cx="2184401" cy="139640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Input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and Output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Devices</a:t>
              </a:r>
            </a:p>
          </p:txBody>
        </p:sp>
      </p:grpSp>
      <p:grpSp>
        <p:nvGrpSpPr>
          <p:cNvPr id="179" name="Shape 381"/>
          <p:cNvGrpSpPr/>
          <p:nvPr/>
        </p:nvGrpSpPr>
        <p:grpSpPr>
          <a:xfrm>
            <a:off x="6730999" y="2164669"/>
            <a:ext cx="2133601" cy="1981201"/>
            <a:chOff x="0" y="0"/>
            <a:chExt cx="2133599" cy="1981199"/>
          </a:xfrm>
        </p:grpSpPr>
        <p:sp>
          <p:nvSpPr>
            <p:cNvPr id="177" name="Rectangle"/>
            <p:cNvSpPr/>
            <p:nvPr/>
          </p:nvSpPr>
          <p:spPr>
            <a:xfrm>
              <a:off x="-1" y="-1"/>
              <a:ext cx="2133601" cy="1981201"/>
            </a:xfrm>
            <a:prstGeom prst="rect">
              <a:avLst/>
            </a:prstGeom>
            <a:noFill/>
            <a:ln w="76200" cap="rnd">
              <a:solidFill>
                <a:srgbClr val="00FF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78" name="Central…"/>
            <p:cNvSpPr txBox="1"/>
            <p:nvPr/>
          </p:nvSpPr>
          <p:spPr>
            <a:xfrm>
              <a:off x="-1" y="292397"/>
              <a:ext cx="2133601" cy="139640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Central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Processing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Unit</a:t>
              </a:r>
            </a:p>
          </p:txBody>
        </p:sp>
      </p:grpSp>
      <p:grpSp>
        <p:nvGrpSpPr>
          <p:cNvPr id="182" name="Shape 382"/>
          <p:cNvGrpSpPr/>
          <p:nvPr/>
        </p:nvGrpSpPr>
        <p:grpSpPr>
          <a:xfrm>
            <a:off x="6731000" y="5199969"/>
            <a:ext cx="2171700" cy="2133600"/>
            <a:chOff x="0" y="0"/>
            <a:chExt cx="2171700" cy="2133599"/>
          </a:xfrm>
        </p:grpSpPr>
        <p:sp>
          <p:nvSpPr>
            <p:cNvPr id="180" name="Rectangle"/>
            <p:cNvSpPr/>
            <p:nvPr/>
          </p:nvSpPr>
          <p:spPr>
            <a:xfrm>
              <a:off x="0" y="-1"/>
              <a:ext cx="2171700" cy="2133601"/>
            </a:xfrm>
            <a:prstGeom prst="rect">
              <a:avLst/>
            </a:prstGeom>
            <a:noFill/>
            <a:ln w="76200" cap="rnd">
              <a:solidFill>
                <a:srgbClr val="00FF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81" name="Main…"/>
            <p:cNvSpPr txBox="1"/>
            <p:nvPr/>
          </p:nvSpPr>
          <p:spPr>
            <a:xfrm>
              <a:off x="0" y="603547"/>
              <a:ext cx="2171700" cy="92650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Main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Memory</a:t>
              </a:r>
            </a:p>
          </p:txBody>
        </p:sp>
      </p:grpSp>
      <p:grpSp>
        <p:nvGrpSpPr>
          <p:cNvPr id="185" name="Shape 383"/>
          <p:cNvGrpSpPr/>
          <p:nvPr/>
        </p:nvGrpSpPr>
        <p:grpSpPr>
          <a:xfrm>
            <a:off x="11264899" y="3371169"/>
            <a:ext cx="2184401" cy="2184400"/>
            <a:chOff x="0" y="0"/>
            <a:chExt cx="2184399" cy="2184399"/>
          </a:xfrm>
        </p:grpSpPr>
        <p:sp>
          <p:nvSpPr>
            <p:cNvPr id="183" name="Square"/>
            <p:cNvSpPr/>
            <p:nvPr/>
          </p:nvSpPr>
          <p:spPr>
            <a:xfrm>
              <a:off x="-1" y="-1"/>
              <a:ext cx="2184401" cy="2184401"/>
            </a:xfrm>
            <a:prstGeom prst="rect">
              <a:avLst/>
            </a:prstGeom>
            <a:noFill/>
            <a:ln w="76200" cap="rnd">
              <a:solidFill>
                <a:srgbClr val="00FF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84" name="Secondary…"/>
            <p:cNvSpPr txBox="1"/>
            <p:nvPr/>
          </p:nvSpPr>
          <p:spPr>
            <a:xfrm>
              <a:off x="-1" y="628947"/>
              <a:ext cx="2184401" cy="92650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Secondary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Memory</a:t>
              </a:r>
            </a:p>
          </p:txBody>
        </p:sp>
      </p:grpSp>
      <p:sp>
        <p:nvSpPr>
          <p:cNvPr id="186" name="Shape 384"/>
          <p:cNvSpPr/>
          <p:nvPr/>
        </p:nvSpPr>
        <p:spPr>
          <a:xfrm flipH="1">
            <a:off x="5030785" y="3190194"/>
            <a:ext cx="1058863" cy="17463"/>
          </a:xfrm>
          <a:prstGeom prst="line">
            <a:avLst/>
          </a:prstGeom>
          <a:ln w="88900" cap="rnd">
            <a:solidFill>
              <a:srgbClr val="FFFF00"/>
            </a:solidFill>
            <a:miter/>
            <a:headEnd type="stealth"/>
            <a:tail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87" name="Shape 385"/>
          <p:cNvSpPr/>
          <p:nvPr/>
        </p:nvSpPr>
        <p:spPr>
          <a:xfrm flipV="1">
            <a:off x="7392669" y="4174444"/>
            <a:ext cx="1" cy="971551"/>
          </a:xfrm>
          <a:prstGeom prst="line">
            <a:avLst/>
          </a:prstGeom>
          <a:ln w="88900" cap="rnd">
            <a:solidFill>
              <a:srgbClr val="FFFF00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88" name="Shape 386"/>
          <p:cNvSpPr/>
          <p:nvPr/>
        </p:nvSpPr>
        <p:spPr>
          <a:xfrm>
            <a:off x="8345485" y="4191906"/>
            <a:ext cx="1" cy="919163"/>
          </a:xfrm>
          <a:prstGeom prst="line">
            <a:avLst/>
          </a:prstGeom>
          <a:ln w="88900" cap="rnd">
            <a:solidFill>
              <a:srgbClr val="FFFF00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89" name="Shape 387"/>
          <p:cNvSpPr/>
          <p:nvPr/>
        </p:nvSpPr>
        <p:spPr>
          <a:xfrm flipH="1">
            <a:off x="9655174" y="3814081"/>
            <a:ext cx="1562100" cy="17462"/>
          </a:xfrm>
          <a:prstGeom prst="line">
            <a:avLst/>
          </a:prstGeom>
          <a:ln w="88900" cap="rnd">
            <a:solidFill>
              <a:srgbClr val="FFFF00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90" name="Shape 388"/>
          <p:cNvSpPr/>
          <p:nvPr/>
        </p:nvSpPr>
        <p:spPr>
          <a:xfrm>
            <a:off x="9620250" y="4818969"/>
            <a:ext cx="1579563" cy="1"/>
          </a:xfrm>
          <a:prstGeom prst="line">
            <a:avLst/>
          </a:prstGeom>
          <a:ln w="88900" cap="rnd">
            <a:solidFill>
              <a:srgbClr val="FFFF00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91" name="Shape 389"/>
          <p:cNvSpPr txBox="1"/>
          <p:nvPr/>
        </p:nvSpPr>
        <p:spPr>
          <a:xfrm>
            <a:off x="12438060" y="1010098"/>
            <a:ext cx="2052637" cy="10518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>
              <a:defRPr sz="3600">
                <a:solidFill>
                  <a:srgbClr val="FFFFFF"/>
                </a:solidFill>
              </a:defRPr>
            </a:pPr>
            <a:r>
              <a:t>Generic</a:t>
            </a:r>
            <a:endParaRPr>
              <a:solidFill>
                <a:srgbClr val="000000"/>
              </a:solidFill>
            </a:endParaRPr>
          </a:p>
          <a:p>
            <a:pPr algn="ctr">
              <a:defRPr sz="3600">
                <a:solidFill>
                  <a:srgbClr val="FFFFFF"/>
                </a:solidFill>
              </a:defRPr>
            </a:pPr>
            <a:r>
              <a:t>Computer</a:t>
            </a:r>
          </a:p>
        </p:txBody>
      </p:sp>
      <p:grpSp>
        <p:nvGrpSpPr>
          <p:cNvPr id="194" name="Shape 390"/>
          <p:cNvGrpSpPr/>
          <p:nvPr/>
        </p:nvGrpSpPr>
        <p:grpSpPr>
          <a:xfrm>
            <a:off x="9182100" y="1110570"/>
            <a:ext cx="1803400" cy="1270001"/>
            <a:chOff x="0" y="0"/>
            <a:chExt cx="1803400" cy="1270000"/>
          </a:xfrm>
        </p:grpSpPr>
        <p:sp>
          <p:nvSpPr>
            <p:cNvPr id="192" name="Quote Bubble"/>
            <p:cNvSpPr/>
            <p:nvPr/>
          </p:nvSpPr>
          <p:spPr>
            <a:xfrm>
              <a:off x="0" y="0"/>
              <a:ext cx="1803400" cy="1270000"/>
            </a:xfrm>
            <a:prstGeom prst="wedgeEllipseCallout">
              <a:avLst>
                <a:gd name="adj1" fmla="val -64148"/>
                <a:gd name="adj2" fmla="val 74451"/>
              </a:avLst>
            </a:prstGeom>
            <a:blipFill rotWithShape="1"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tile tx="0" ty="0" sx="100000" sy="100000" flip="none" algn="tl"/>
            </a:blip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93" name="What…"/>
            <p:cNvSpPr txBox="1"/>
            <p:nvPr/>
          </p:nvSpPr>
          <p:spPr>
            <a:xfrm>
              <a:off x="264101" y="246701"/>
              <a:ext cx="1275198" cy="77659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2600">
                  <a:solidFill>
                    <a:srgbClr val="000000"/>
                  </a:solidFill>
                </a:defRPr>
              </a:pPr>
              <a:r>
                <a:t>What</a:t>
              </a:r>
            </a:p>
            <a:p>
              <a:pPr algn="ctr">
                <a:defRPr sz="2600">
                  <a:solidFill>
                    <a:srgbClr val="000000"/>
                  </a:solidFill>
                </a:defRPr>
              </a:pPr>
              <a:r>
                <a:t>Next?</a:t>
              </a:r>
            </a:p>
          </p:txBody>
        </p:sp>
      </p:grpSp>
      <p:pic>
        <p:nvPicPr>
          <p:cNvPr id="195" name="Shape 391" descr="Shape 39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881810" y="5441269"/>
            <a:ext cx="457201" cy="649287"/>
          </a:xfrm>
          <a:prstGeom prst="rect">
            <a:avLst/>
          </a:prstGeom>
          <a:ln w="12700">
            <a:miter lim="400000"/>
          </a:ln>
        </p:spPr>
      </p:pic>
      <p:sp>
        <p:nvSpPr>
          <p:cNvPr id="196" name="Shape 407"/>
          <p:cNvSpPr txBox="1"/>
          <p:nvPr/>
        </p:nvSpPr>
        <p:spPr>
          <a:xfrm>
            <a:off x="12642850" y="6808328"/>
            <a:ext cx="2171700" cy="10518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>
              <a:defRPr sz="3600">
                <a:solidFill>
                  <a:schemeClr val="accent4"/>
                </a:solidFill>
              </a:defRPr>
            </a:pPr>
            <a:r>
              <a:t>Machine</a:t>
            </a:r>
            <a:endParaRPr>
              <a:solidFill>
                <a:srgbClr val="000000"/>
              </a:solidFill>
            </a:endParaRPr>
          </a:p>
          <a:p>
            <a:pPr algn="ctr">
              <a:defRPr sz="3600">
                <a:solidFill>
                  <a:schemeClr val="accent4"/>
                </a:solidFill>
              </a:defRPr>
            </a:pPr>
            <a:r>
              <a:t>Language</a:t>
            </a:r>
          </a:p>
        </p:txBody>
      </p:sp>
      <p:grpSp>
        <p:nvGrpSpPr>
          <p:cNvPr id="199" name="Shape 410"/>
          <p:cNvGrpSpPr/>
          <p:nvPr/>
        </p:nvGrpSpPr>
        <p:grpSpPr>
          <a:xfrm>
            <a:off x="7670800" y="3962400"/>
            <a:ext cx="2768600" cy="1270000"/>
            <a:chOff x="0" y="0"/>
            <a:chExt cx="2768599" cy="1270000"/>
          </a:xfrm>
        </p:grpSpPr>
        <p:sp>
          <p:nvSpPr>
            <p:cNvPr id="197" name="Quote Bubble"/>
            <p:cNvSpPr/>
            <p:nvPr/>
          </p:nvSpPr>
          <p:spPr>
            <a:xfrm>
              <a:off x="0" y="0"/>
              <a:ext cx="2768600" cy="1270000"/>
            </a:xfrm>
            <a:prstGeom prst="wedgeEllipseCallout">
              <a:avLst>
                <a:gd name="adj1" fmla="val -23159"/>
                <a:gd name="adj2" fmla="val 71986"/>
              </a:avLst>
            </a:prstGeom>
            <a:solidFill>
              <a:srgbClr val="606060"/>
            </a:solidFill>
            <a:ln w="50800" cap="rnd">
              <a:solidFill>
                <a:srgbClr val="FF99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98" name="01001001…"/>
            <p:cNvSpPr txBox="1"/>
            <p:nvPr/>
          </p:nvSpPr>
          <p:spPr>
            <a:xfrm>
              <a:off x="405451" y="241299"/>
              <a:ext cx="1957697" cy="787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2600" b="1">
                  <a:solidFill>
                    <a:schemeClr val="accent4"/>
                  </a:solidFill>
                  <a:latin typeface="Courier"/>
                  <a:ea typeface="Courier"/>
                  <a:cs typeface="Courier"/>
                  <a:sym typeface="Courier"/>
                </a:defRPr>
              </a:pPr>
              <a:r>
                <a:t>01001001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2600" b="1">
                  <a:solidFill>
                    <a:schemeClr val="accent4"/>
                  </a:solidFill>
                  <a:latin typeface="Courier"/>
                  <a:ea typeface="Courier"/>
                  <a:cs typeface="Courier"/>
                  <a:sym typeface="Courier"/>
                </a:defRPr>
              </a:pPr>
              <a:r>
                <a:t>00111001</a:t>
              </a:r>
            </a:p>
          </p:txBody>
        </p:sp>
      </p:grpSp>
    </p:spTree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Shape 430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lIns="38100" tIns="38100" rIns="38100" bIns="38100"/>
          <a:lstStyle>
            <a:lvl1pPr>
              <a:defRPr sz="7200">
                <a:solidFill>
                  <a:srgbClr val="FFD966"/>
                </a:solidFill>
              </a:defRPr>
            </a:lvl1pPr>
          </a:lstStyle>
          <a:p>
            <a:r>
              <a:t>Python as a Language</a:t>
            </a:r>
          </a:p>
        </p:txBody>
      </p:sp>
    </p:spTree>
  </p:cSld>
  <p:clrMapOvr>
    <a:masterClrMapping/>
  </p:clrMapOvr>
  <p:transition spd="med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Shape 443"/>
          <p:cNvSpPr txBox="1"/>
          <p:nvPr/>
        </p:nvSpPr>
        <p:spPr>
          <a:xfrm>
            <a:off x="1225683" y="1705797"/>
            <a:ext cx="10991785" cy="36401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>
              <a:defRPr sz="4200">
                <a:solidFill>
                  <a:srgbClr val="FFFF00"/>
                </a:solidFill>
              </a:defRPr>
            </a:pPr>
            <a:r>
              <a:t>Python</a:t>
            </a:r>
            <a:r>
              <a:rPr>
                <a:solidFill>
                  <a:srgbClr val="FFFFFF"/>
                </a:solidFill>
              </a:rPr>
              <a:t> is a computer language. People who can write Python (or any other programming language) are called </a:t>
            </a:r>
            <a:r>
              <a:rPr>
                <a:solidFill>
                  <a:srgbClr val="00FF00"/>
                </a:solidFill>
              </a:rPr>
              <a:t>programmers</a:t>
            </a:r>
            <a:r>
              <a:rPr>
                <a:solidFill>
                  <a:srgbClr val="FFFFFF"/>
                </a:solidFill>
              </a:rPr>
              <a:t>. Learning to program is just like learning Chinese or English: it takes a long time to get it right, but the results are worth it!</a:t>
            </a:r>
          </a:p>
        </p:txBody>
      </p:sp>
      <p:pic>
        <p:nvPicPr>
          <p:cNvPr id="204" name="Shape 444" descr="Shape 44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3335000" y="4470400"/>
            <a:ext cx="2108101" cy="3174901"/>
          </a:xfrm>
          <a:prstGeom prst="rect">
            <a:avLst/>
          </a:prstGeom>
          <a:ln w="12700">
            <a:miter lim="400000"/>
          </a:ln>
        </p:spPr>
      </p:pic>
      <p:pic>
        <p:nvPicPr>
          <p:cNvPr id="205" name="Shape 445" descr="Shape 445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3246100" y="1041400"/>
            <a:ext cx="2286000" cy="2997300"/>
          </a:xfrm>
          <a:prstGeom prst="rect">
            <a:avLst/>
          </a:prstGeom>
          <a:ln w="12700">
            <a:miter lim="400000"/>
          </a:ln>
        </p:spPr>
      </p:pic>
      <p:pic>
        <p:nvPicPr>
          <p:cNvPr id="206" name="Shape 446" descr="Shape 446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536911" y="5754721"/>
            <a:ext cx="3517900" cy="2078037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Shape 451"/>
          <p:cNvSpPr txBox="1">
            <a:spLocks noGrp="1"/>
          </p:cNvSpPr>
          <p:nvPr>
            <p:ph type="title"/>
          </p:nvPr>
        </p:nvSpPr>
        <p:spPr>
          <a:xfrm>
            <a:off x="812800" y="768095"/>
            <a:ext cx="14630400" cy="1365505"/>
          </a:xfrm>
          <a:prstGeom prst="rect">
            <a:avLst/>
          </a:prstGeom>
        </p:spPr>
        <p:txBody>
          <a:bodyPr lIns="38100" tIns="38100" rIns="38100" bIns="38100" anchor="ctr"/>
          <a:lstStyle/>
          <a:p>
            <a:pPr>
              <a:defRPr sz="7400">
                <a:solidFill>
                  <a:srgbClr val="FFFF00"/>
                </a:solidFill>
              </a:defRPr>
            </a:pPr>
            <a:r>
              <a:t>Early Learner: </a:t>
            </a:r>
            <a:r>
              <a:rPr>
                <a:solidFill>
                  <a:srgbClr val="E06666"/>
                </a:solidFill>
              </a:rPr>
              <a:t>Syntax Errors</a:t>
            </a:r>
          </a:p>
        </p:txBody>
      </p:sp>
      <p:sp>
        <p:nvSpPr>
          <p:cNvPr id="209" name="Shape 45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lIns="38100" tIns="38100" rIns="38100" bIns="38100" anchor="ctr"/>
          <a:lstStyle/>
          <a:p>
            <a:pPr indent="-354711">
              <a:spcBef>
                <a:spcPts val="0"/>
              </a:spcBef>
              <a:defRPr sz="3000"/>
            </a:pPr>
            <a:r>
              <a:t>We need to learn the </a:t>
            </a:r>
            <a:r>
              <a:rPr>
                <a:solidFill>
                  <a:srgbClr val="FFFF00"/>
                </a:solidFill>
              </a:rPr>
              <a:t>Python language </a:t>
            </a:r>
            <a:r>
              <a:t>so we can communicate our instructions to Python.  In the beginning we will make lots of mistakes and speak gibberish like small children.</a:t>
            </a:r>
          </a:p>
          <a:p>
            <a:pPr indent="-354711">
              <a:defRPr sz="3000"/>
            </a:pPr>
            <a:r>
              <a:t>When you make a mistake, the computer does not think you are “cute”.  It says </a:t>
            </a:r>
            <a:r>
              <a:rPr>
                <a:solidFill>
                  <a:srgbClr val="E06666"/>
                </a:solidFill>
              </a:rPr>
              <a:t>“syntax error”</a:t>
            </a:r>
            <a:r>
              <a:t> - given that it knows the language and you are just learning it.  It seems like Python is cruel and unfeeling.</a:t>
            </a:r>
          </a:p>
          <a:p>
            <a:pPr indent="-354711">
              <a:defRPr sz="3000"/>
            </a:pPr>
            <a:r>
              <a:t>You must remember that you are intelligent and can learn. The computer is simple and very fast, but cannot learn. So </a:t>
            </a:r>
            <a:r>
              <a:rPr>
                <a:solidFill>
                  <a:srgbClr val="FFFF00"/>
                </a:solidFill>
              </a:rPr>
              <a:t>it is easier for you to learn Python than for the computer to learn English</a:t>
            </a:r>
            <a:r>
              <a:t>...</a:t>
            </a:r>
          </a:p>
        </p:txBody>
      </p:sp>
    </p:spTree>
  </p:cSld>
  <p:clrMapOvr>
    <a:masterClrMapping/>
  </p:clrMapOvr>
  <p:transition spd="med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Shape 457"/>
          <p:cNvSpPr txBox="1">
            <a:spLocks noGrp="1"/>
          </p:cNvSpPr>
          <p:nvPr>
            <p:ph type="ctrTitle"/>
          </p:nvPr>
        </p:nvSpPr>
        <p:spPr>
          <a:xfrm>
            <a:off x="1155700" y="2667000"/>
            <a:ext cx="13931900" cy="250008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200">
                <a:solidFill>
                  <a:srgbClr val="FFD966"/>
                </a:solidFill>
              </a:defRPr>
            </a:lvl1pPr>
          </a:lstStyle>
          <a:p>
            <a:r>
              <a:t>Talking to Python</a:t>
            </a:r>
          </a:p>
        </p:txBody>
      </p:sp>
    </p:spTree>
  </p:cSld>
  <p:clrMapOvr>
    <a:masterClrMapping/>
  </p:clrMapOvr>
  <p:transition spd="med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Shape 462"/>
          <p:cNvSpPr txBox="1"/>
          <p:nvPr/>
        </p:nvSpPr>
        <p:spPr>
          <a:xfrm>
            <a:off x="1336472" y="1623784"/>
            <a:ext cx="12628500" cy="26520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3600">
                <a:solidFill>
                  <a:srgbClr val="FFFFFF"/>
                </a:solidFill>
              </a:defRPr>
            </a:pPr>
            <a:r>
              <a:t>$ </a:t>
            </a:r>
            <a:r>
              <a:rPr>
                <a:solidFill>
                  <a:srgbClr val="FFFF00"/>
                </a:solidFill>
              </a:rPr>
              <a:t>python3</a:t>
            </a: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FF"/>
                </a:solidFill>
              </a:defRPr>
            </a:pPr>
            <a:r>
              <a:t>Python 3.5.1 (v3.5.1:37a07cee5969, Dec  5 2015, 21:12:44) [GCC 4.2.1 (Apple Inc. build 5666) (dot 3)] on darwinType "help", "copyright", "credits" or "license" for more information.</a:t>
            </a: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FF"/>
                </a:solidFill>
              </a:defRPr>
            </a:pPr>
            <a:r>
              <a:t>&gt;&gt;&gt; </a:t>
            </a:r>
          </a:p>
        </p:txBody>
      </p:sp>
      <p:grpSp>
        <p:nvGrpSpPr>
          <p:cNvPr id="216" name="Shape 463"/>
          <p:cNvGrpSpPr/>
          <p:nvPr/>
        </p:nvGrpSpPr>
        <p:grpSpPr>
          <a:xfrm>
            <a:off x="2916761" y="4130883"/>
            <a:ext cx="4239246" cy="1051844"/>
            <a:chOff x="0" y="0"/>
            <a:chExt cx="4239244" cy="1051842"/>
          </a:xfrm>
        </p:grpSpPr>
        <p:sp>
          <p:nvSpPr>
            <p:cNvPr id="214" name="Shape 464"/>
            <p:cNvSpPr txBox="1"/>
            <p:nvPr/>
          </p:nvSpPr>
          <p:spPr>
            <a:xfrm>
              <a:off x="1964344" y="-1"/>
              <a:ext cx="2274901" cy="10518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600">
                  <a:solidFill>
                    <a:srgbClr val="FFFF00"/>
                  </a:solidFill>
                </a:defRPr>
              </a:lvl1pPr>
            </a:lstStyle>
            <a:p>
              <a:r>
                <a:t>What next?</a:t>
              </a:r>
            </a:p>
          </p:txBody>
        </p:sp>
        <p:sp>
          <p:nvSpPr>
            <p:cNvPr id="215" name="Shape 465"/>
            <p:cNvSpPr/>
            <p:nvPr/>
          </p:nvSpPr>
          <p:spPr>
            <a:xfrm>
              <a:off x="-1" y="88592"/>
              <a:ext cx="2281200" cy="437330"/>
            </a:xfrm>
            <a:prstGeom prst="line">
              <a:avLst/>
            </a:prstGeom>
            <a:noFill/>
            <a:ln w="76200" cap="rnd">
              <a:solidFill>
                <a:srgbClr val="FFFF00"/>
              </a:solidFill>
              <a:prstDash val="solid"/>
              <a:miter lim="800000"/>
              <a:headEnd type="stealth" w="med" len="med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</p:grpSp>
    </p:spTree>
  </p:cSld>
  <p:clrMapOvr>
    <a:masterClrMapping/>
  </p:clrMapOvr>
  <p:transition spd="med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Shape 470"/>
          <p:cNvSpPr txBox="1"/>
          <p:nvPr/>
        </p:nvSpPr>
        <p:spPr>
          <a:xfrm>
            <a:off x="1820860" y="1639428"/>
            <a:ext cx="12628564" cy="58524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3600">
                <a:solidFill>
                  <a:srgbClr val="FFFFFF"/>
                </a:solidFill>
              </a:defRPr>
            </a:pPr>
            <a:r>
              <a:t>$ </a:t>
            </a:r>
            <a:r>
              <a:rPr>
                <a:solidFill>
                  <a:srgbClr val="FFFF00"/>
                </a:solidFill>
              </a:rPr>
              <a:t>python3</a:t>
            </a: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FF"/>
                </a:solidFill>
              </a:defRPr>
            </a:pPr>
            <a:r>
              <a:t>Python 3.5.1 (v3.5.1:37a07cee5969, Dec  5 2015, 21:12:44) [GCC 4.2.1 (Apple Inc. build 5666) (dot 3)] on darwinType "help", "copyright", "credits" or "license" for more information.</a:t>
            </a:r>
          </a:p>
          <a:p>
            <a:pPr>
              <a:defRPr sz="3600">
                <a:solidFill>
                  <a:srgbClr val="FFFFFF"/>
                </a:solidFill>
              </a:defRPr>
            </a:pPr>
            <a:r>
              <a:t>&gt;&gt;&gt; </a:t>
            </a:r>
            <a:r>
              <a:rPr>
                <a:solidFill>
                  <a:srgbClr val="FFFF00"/>
                </a:solidFill>
              </a:rPr>
              <a:t>x = 1</a:t>
            </a: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FF"/>
                </a:solidFill>
              </a:defRPr>
            </a:pPr>
            <a:r>
              <a:t>&gt;&gt;&gt; </a:t>
            </a:r>
            <a:r>
              <a:rPr>
                <a:solidFill>
                  <a:srgbClr val="FFFF00"/>
                </a:solidFill>
              </a:rPr>
              <a:t>print(x)</a:t>
            </a: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FF"/>
                </a:solidFill>
              </a:defRPr>
            </a:pPr>
            <a:r>
              <a:t>1</a:t>
            </a: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FF"/>
                </a:solidFill>
              </a:defRPr>
            </a:pPr>
            <a:r>
              <a:t>&gt;&gt;&gt; </a:t>
            </a:r>
            <a:r>
              <a:rPr>
                <a:solidFill>
                  <a:srgbClr val="FFFF00"/>
                </a:solidFill>
              </a:rPr>
              <a:t>x = x + 1</a:t>
            </a: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FF"/>
                </a:solidFill>
              </a:defRPr>
            </a:pPr>
            <a:r>
              <a:t>&gt;&gt;&gt;</a:t>
            </a:r>
            <a:r>
              <a:rPr>
                <a:solidFill>
                  <a:srgbClr val="FF7F00"/>
                </a:solidFill>
              </a:rPr>
              <a:t> </a:t>
            </a:r>
            <a:r>
              <a:rPr>
                <a:solidFill>
                  <a:srgbClr val="FFFF00"/>
                </a:solidFill>
              </a:rPr>
              <a:t>print(x)</a:t>
            </a: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FF"/>
                </a:solidFill>
              </a:defRPr>
            </a:pPr>
            <a:r>
              <a:t>2</a:t>
            </a: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FF"/>
                </a:solidFill>
              </a:defRPr>
            </a:pPr>
            <a:r>
              <a:t>&gt;&gt;&gt; </a:t>
            </a:r>
            <a:r>
              <a:rPr>
                <a:solidFill>
                  <a:srgbClr val="FFFF00"/>
                </a:solidFill>
              </a:rPr>
              <a:t>exit()</a:t>
            </a:r>
          </a:p>
        </p:txBody>
      </p:sp>
      <p:sp>
        <p:nvSpPr>
          <p:cNvPr id="219" name="Shape 471"/>
          <p:cNvSpPr txBox="1"/>
          <p:nvPr/>
        </p:nvSpPr>
        <p:spPr>
          <a:xfrm>
            <a:off x="5618834" y="5544590"/>
            <a:ext cx="9536026" cy="15852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3600">
                <a:solidFill>
                  <a:srgbClr val="FFFF00"/>
                </a:solidFill>
              </a:defRPr>
            </a:lvl1pPr>
          </a:lstStyle>
          <a:p>
            <a:r>
              <a:t>This is a good test to make sure that you have Python correctly installed.  Note that quit() also works to end the interactive session.</a:t>
            </a:r>
          </a:p>
        </p:txBody>
      </p:sp>
    </p:spTree>
  </p:cSld>
  <p:clrMapOvr>
    <a:masterClrMapping/>
  </p:clrMapOvr>
  <p:transition spd="med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Shape 483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lIns="38100" tIns="38100" rIns="38100" bIns="38100"/>
          <a:lstStyle>
            <a:lvl1pPr>
              <a:defRPr sz="7200">
                <a:solidFill>
                  <a:srgbClr val="FFD966"/>
                </a:solidFill>
              </a:defRPr>
            </a:lvl1pPr>
          </a:lstStyle>
          <a:p>
            <a:r>
              <a:t>What Do We Say?</a:t>
            </a:r>
          </a:p>
        </p:txBody>
      </p:sp>
    </p:spTree>
  </p:cSld>
  <p:clrMapOvr>
    <a:masterClrMapping/>
  </p:clrMapOvr>
  <p:transition spd="med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Shape 488"/>
          <p:cNvSpPr txBox="1">
            <a:spLocks noGrp="1"/>
          </p:cNvSpPr>
          <p:nvPr>
            <p:ph type="title"/>
          </p:nvPr>
        </p:nvSpPr>
        <p:spPr>
          <a:xfrm>
            <a:off x="812800" y="768095"/>
            <a:ext cx="14630400" cy="136550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600">
                <a:solidFill>
                  <a:srgbClr val="FFD966"/>
                </a:solidFill>
              </a:defRPr>
            </a:lvl1pPr>
          </a:lstStyle>
          <a:p>
            <a:r>
              <a:t>Elements of Python</a:t>
            </a:r>
          </a:p>
        </p:txBody>
      </p:sp>
      <p:sp>
        <p:nvSpPr>
          <p:cNvPr id="224" name="Shape 489"/>
          <p:cNvSpPr txBox="1">
            <a:spLocks noGrp="1"/>
          </p:cNvSpPr>
          <p:nvPr>
            <p:ph type="body" idx="1"/>
          </p:nvPr>
        </p:nvSpPr>
        <p:spPr>
          <a:xfrm>
            <a:off x="812800" y="2133600"/>
            <a:ext cx="14630400" cy="4374894"/>
          </a:xfrm>
          <a:prstGeom prst="rect">
            <a:avLst/>
          </a:prstGeom>
        </p:spPr>
        <p:txBody>
          <a:bodyPr lIns="38100" tIns="38100" rIns="38100" bIns="38100" anchor="ctr"/>
          <a:lstStyle/>
          <a:p>
            <a:pPr marL="787400" indent="-571500">
              <a:spcBef>
                <a:spcPts val="0"/>
              </a:spcBef>
              <a:buSzPct val="171000"/>
              <a:buFont typeface="Arial"/>
              <a:defRPr sz="3600">
                <a:solidFill>
                  <a:srgbClr val="FFFF00"/>
                </a:solidFill>
              </a:defRPr>
            </a:pPr>
            <a:r>
              <a:t>Vocabulary / Words</a:t>
            </a:r>
            <a:r>
              <a:rPr>
                <a:solidFill>
                  <a:srgbClr val="FFFFFF"/>
                </a:solidFill>
              </a:rPr>
              <a:t> - Variables and Reserved words (Chapter 2)</a:t>
            </a:r>
          </a:p>
          <a:p>
            <a:pPr indent="-533400">
              <a:buSzPct val="171000"/>
              <a:defRPr sz="3600">
                <a:solidFill>
                  <a:srgbClr val="FFFF00"/>
                </a:solidFill>
              </a:defRPr>
            </a:pPr>
            <a:r>
              <a:t>Sentence structure</a:t>
            </a:r>
            <a:r>
              <a:rPr>
                <a:solidFill>
                  <a:srgbClr val="FFFFFF"/>
                </a:solidFill>
              </a:rPr>
              <a:t> - valid syntax patterns (Chapters 3-5)</a:t>
            </a:r>
          </a:p>
          <a:p>
            <a:pPr indent="-533400">
              <a:buSzPct val="171000"/>
              <a:defRPr sz="3600">
                <a:solidFill>
                  <a:srgbClr val="FFFF00"/>
                </a:solidFill>
              </a:defRPr>
            </a:pPr>
            <a:r>
              <a:t>Story structure</a:t>
            </a:r>
            <a:r>
              <a:rPr>
                <a:solidFill>
                  <a:srgbClr val="FFFFFF"/>
                </a:solidFill>
              </a:rPr>
              <a:t> - constructing a program for a purpose</a:t>
            </a:r>
          </a:p>
        </p:txBody>
      </p:sp>
    </p:spTree>
  </p:cSld>
  <p:clrMapOvr>
    <a:masterClrMapping/>
  </p:clrMapOvr>
  <p:transition spd="med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Shape 494"/>
          <p:cNvSpPr txBox="1"/>
          <p:nvPr/>
        </p:nvSpPr>
        <p:spPr>
          <a:xfrm>
            <a:off x="419418" y="850541"/>
            <a:ext cx="9839008" cy="7340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name = input('Enter file:')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handle = open(name)</a:t>
            </a:r>
            <a:endParaRPr>
              <a:solidFill>
                <a:srgbClr val="000000"/>
              </a:solidFill>
            </a:endParaRPr>
          </a:p>
          <a:p>
            <a:pPr algn="ctr"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counts = dict()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for line in handle: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words = line.split()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for word in words: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counts[word] = counts.get(word,0) + 1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bigcount = None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bigword = None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for word,count in counts.items():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if bigcount is None or count &gt; bigcount: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bigword = word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bigcount = count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print(bigword, bigcount)</a:t>
            </a:r>
          </a:p>
        </p:txBody>
      </p:sp>
      <p:grpSp>
        <p:nvGrpSpPr>
          <p:cNvPr id="229" name="Shape 495"/>
          <p:cNvGrpSpPr/>
          <p:nvPr/>
        </p:nvGrpSpPr>
        <p:grpSpPr>
          <a:xfrm>
            <a:off x="10840733" y="4690622"/>
            <a:ext cx="4445001" cy="1689101"/>
            <a:chOff x="0" y="0"/>
            <a:chExt cx="4445000" cy="1689100"/>
          </a:xfrm>
        </p:grpSpPr>
        <p:sp>
          <p:nvSpPr>
            <p:cNvPr id="227" name="Rectangle"/>
            <p:cNvSpPr/>
            <p:nvPr/>
          </p:nvSpPr>
          <p:spPr>
            <a:xfrm>
              <a:off x="0" y="0"/>
              <a:ext cx="4445000" cy="1689100"/>
            </a:xfrm>
            <a:prstGeom prst="rect">
              <a:avLst/>
            </a:prstGeom>
            <a:noFill/>
            <a:ln w="12700" cap="rnd">
              <a:solidFill>
                <a:srgbClr val="FFFF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228" name="python words.py…"/>
            <p:cNvSpPr txBox="1"/>
            <p:nvPr/>
          </p:nvSpPr>
          <p:spPr>
            <a:xfrm>
              <a:off x="0" y="51928"/>
              <a:ext cx="4445000" cy="15852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>
                <a:defRPr sz="3600">
                  <a:solidFill>
                    <a:srgbClr val="FFFF00"/>
                  </a:solidFill>
                </a:defRPr>
              </a:pPr>
              <a:r>
                <a:t> python words.py </a:t>
              </a:r>
              <a:endParaRPr>
                <a:solidFill>
                  <a:srgbClr val="000000"/>
                </a:solidFill>
              </a:endParaRPr>
            </a:p>
            <a:p>
              <a:pPr>
                <a:defRPr sz="3600">
                  <a:solidFill>
                    <a:srgbClr val="FFFF00"/>
                  </a:solidFill>
                </a:defRPr>
              </a:pPr>
              <a:r>
                <a:t> Enter file: words.txt</a:t>
              </a:r>
              <a:endParaRPr>
                <a:solidFill>
                  <a:srgbClr val="000000"/>
                </a:solidFill>
              </a:endParaRPr>
            </a:p>
            <a:p>
              <a:pPr>
                <a:defRPr sz="3600">
                  <a:solidFill>
                    <a:srgbClr val="FFFF00"/>
                  </a:solidFill>
                </a:defRPr>
              </a:pPr>
              <a:r>
                <a:t> to 16</a:t>
              </a:r>
            </a:p>
          </p:txBody>
        </p:sp>
      </p:grpSp>
      <p:sp>
        <p:nvSpPr>
          <p:cNvPr id="230" name="Shape 496"/>
          <p:cNvSpPr txBox="1"/>
          <p:nvPr/>
        </p:nvSpPr>
        <p:spPr>
          <a:xfrm>
            <a:off x="10258425" y="1556035"/>
            <a:ext cx="4813300" cy="24713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4300">
                <a:solidFill>
                  <a:srgbClr val="FFFFFF"/>
                </a:solidFill>
              </a:defRPr>
            </a:lvl1pPr>
          </a:lstStyle>
          <a:p>
            <a:r>
              <a:t>A short “story” about how to count words in a file in Python</a:t>
            </a:r>
          </a:p>
        </p:txBody>
      </p:sp>
    </p:spTree>
  </p:cSld>
  <p:clrMapOvr>
    <a:masterClrMapping/>
  </p:clrMapOvr>
  <p:transition spd="med"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Shape 501"/>
          <p:cNvSpPr txBox="1">
            <a:spLocks noGrp="1"/>
          </p:cNvSpPr>
          <p:nvPr>
            <p:ph type="title"/>
          </p:nvPr>
        </p:nvSpPr>
        <p:spPr>
          <a:xfrm>
            <a:off x="812800" y="768095"/>
            <a:ext cx="14630400" cy="136550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600">
                <a:solidFill>
                  <a:srgbClr val="FFD966"/>
                </a:solidFill>
              </a:defRPr>
            </a:lvl1pPr>
          </a:lstStyle>
          <a:p>
            <a:r>
              <a:t>Reserved Words</a:t>
            </a:r>
          </a:p>
        </p:txBody>
      </p:sp>
      <p:sp>
        <p:nvSpPr>
          <p:cNvPr id="233" name="Shape 502"/>
          <p:cNvSpPr txBox="1">
            <a:spLocks noGrp="1"/>
          </p:cNvSpPr>
          <p:nvPr>
            <p:ph type="body" sz="quarter" idx="1"/>
          </p:nvPr>
        </p:nvSpPr>
        <p:spPr>
          <a:xfrm>
            <a:off x="1298892" y="2529190"/>
            <a:ext cx="14144309" cy="1186777"/>
          </a:xfrm>
          <a:prstGeom prst="rect">
            <a:avLst/>
          </a:prstGeom>
        </p:spPr>
        <p:txBody>
          <a:bodyPr lIns="38100" tIns="38100" rIns="38100" bIns="38100"/>
          <a:lstStyle/>
          <a:p>
            <a:pPr marL="0" indent="215900">
              <a:spcBef>
                <a:spcPts val="0"/>
              </a:spcBef>
              <a:buSzTx/>
              <a:buNone/>
              <a:defRPr sz="3600"/>
            </a:pPr>
            <a:r>
              <a:t>You</a:t>
            </a:r>
            <a:r>
              <a:rPr>
                <a:solidFill>
                  <a:srgbClr val="FFFF00"/>
                </a:solidFill>
              </a:rPr>
              <a:t> </a:t>
            </a:r>
            <a:r>
              <a:t>cannot</a:t>
            </a:r>
            <a:r>
              <a:rPr>
                <a:solidFill>
                  <a:srgbClr val="FFFF00"/>
                </a:solidFill>
              </a:rPr>
              <a:t> </a:t>
            </a:r>
            <a:r>
              <a:t>use </a:t>
            </a:r>
            <a:r>
              <a:rPr>
                <a:solidFill>
                  <a:srgbClr val="FFFF00"/>
                </a:solidFill>
              </a:rPr>
              <a:t>reserved words</a:t>
            </a:r>
            <a:r>
              <a:t> as variable names / identifiers</a:t>
            </a:r>
          </a:p>
        </p:txBody>
      </p:sp>
      <p:sp>
        <p:nvSpPr>
          <p:cNvPr id="234" name="Shape 503"/>
          <p:cNvSpPr txBox="1"/>
          <p:nvPr/>
        </p:nvSpPr>
        <p:spPr>
          <a:xfrm>
            <a:off x="3346315" y="3884535"/>
            <a:ext cx="10369686" cy="3378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32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False 	class 	return	is 		finally </a:t>
            </a:r>
            <a:endParaRPr>
              <a:solidFill>
                <a:srgbClr val="000000"/>
              </a:solidFill>
            </a:endParaRPr>
          </a:p>
          <a:p>
            <a:pPr>
              <a:defRPr sz="32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None 	if		for 	lambda 	continue </a:t>
            </a:r>
            <a:endParaRPr>
              <a:solidFill>
                <a:srgbClr val="000000"/>
              </a:solidFill>
            </a:endParaRPr>
          </a:p>
          <a:p>
            <a:pPr>
              <a:defRPr sz="32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True 	def 	from 	while	nonlocal</a:t>
            </a:r>
          </a:p>
          <a:p>
            <a:pPr>
              <a:defRPr sz="32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and 	del 	global 	not 	with</a:t>
            </a:r>
          </a:p>
          <a:p>
            <a:pPr>
              <a:defRPr sz="32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as  	elif 	try		or 		yield</a:t>
            </a:r>
          </a:p>
          <a:p>
            <a:pPr>
              <a:defRPr sz="32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assert 	else 	import 	pass</a:t>
            </a:r>
            <a:endParaRPr>
              <a:solidFill>
                <a:srgbClr val="000000"/>
              </a:solidFill>
            </a:endParaRPr>
          </a:p>
          <a:p>
            <a:pPr>
              <a:defRPr sz="32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break 	except 	in 		raise</a:t>
            </a:r>
          </a:p>
        </p:txBody>
      </p:sp>
    </p:spTree>
  </p:cSld>
  <p:clrMapOvr>
    <a:masterClrMapping/>
  </p:clrMapOvr>
  <p:transition spd="med"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Shape 508"/>
          <p:cNvSpPr txBox="1">
            <a:spLocks noGrp="1"/>
          </p:cNvSpPr>
          <p:nvPr>
            <p:ph type="title"/>
          </p:nvPr>
        </p:nvSpPr>
        <p:spPr>
          <a:xfrm>
            <a:off x="812800" y="768095"/>
            <a:ext cx="14630400" cy="136550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600">
                <a:solidFill>
                  <a:srgbClr val="FFD966"/>
                </a:solidFill>
              </a:defRPr>
            </a:lvl1pPr>
          </a:lstStyle>
          <a:p>
            <a:r>
              <a:t>Sentences or Lines</a:t>
            </a:r>
          </a:p>
        </p:txBody>
      </p:sp>
      <p:sp>
        <p:nvSpPr>
          <p:cNvPr id="237" name="Shape 509"/>
          <p:cNvSpPr txBox="1"/>
          <p:nvPr/>
        </p:nvSpPr>
        <p:spPr>
          <a:xfrm>
            <a:off x="1554125" y="3644698"/>
            <a:ext cx="4003500" cy="2209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480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x</a:t>
            </a:r>
            <a:r>
              <a:rPr>
                <a:solidFill>
                  <a:srgbClr val="FF7F00"/>
                </a:solidFill>
              </a:rPr>
              <a:t> </a:t>
            </a:r>
            <a:r>
              <a:rPr>
                <a:solidFill>
                  <a:srgbClr val="FFFFFF"/>
                </a:solidFill>
              </a:rPr>
              <a:t>=</a:t>
            </a:r>
            <a:r>
              <a:rPr>
                <a:solidFill>
                  <a:srgbClr val="FF7F00"/>
                </a:solidFill>
              </a:rPr>
              <a:t> </a:t>
            </a:r>
            <a:r>
              <a:rPr>
                <a:solidFill>
                  <a:srgbClr val="00FFFF"/>
                </a:solidFill>
              </a:rPr>
              <a:t>2</a:t>
            </a:r>
            <a:endParaRPr>
              <a:solidFill>
                <a:srgbClr val="000000"/>
              </a:solidFill>
            </a:endParaRPr>
          </a:p>
          <a:p>
            <a:pPr>
              <a:defRPr sz="480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x</a:t>
            </a:r>
            <a:r>
              <a:rPr>
                <a:solidFill>
                  <a:srgbClr val="FF7F00"/>
                </a:solidFill>
              </a:rPr>
              <a:t> </a:t>
            </a:r>
            <a:r>
              <a:rPr>
                <a:solidFill>
                  <a:srgbClr val="FFFFFF"/>
                </a:solidFill>
              </a:rPr>
              <a:t>=</a:t>
            </a:r>
            <a:r>
              <a:rPr>
                <a:solidFill>
                  <a:srgbClr val="FF7F00"/>
                </a:solidFill>
              </a:rPr>
              <a:t> </a:t>
            </a:r>
            <a:r>
              <a:t>x</a:t>
            </a:r>
            <a:r>
              <a:rPr>
                <a:solidFill>
                  <a:srgbClr val="FF7F00"/>
                </a:solidFill>
              </a:rPr>
              <a:t> </a:t>
            </a:r>
            <a:r>
              <a:rPr>
                <a:solidFill>
                  <a:srgbClr val="FFFFFF"/>
                </a:solidFill>
              </a:rPr>
              <a:t>+</a:t>
            </a:r>
            <a:r>
              <a:rPr>
                <a:solidFill>
                  <a:srgbClr val="FF7F00"/>
                </a:solidFill>
              </a:rPr>
              <a:t> </a:t>
            </a:r>
            <a:r>
              <a:rPr>
                <a:solidFill>
                  <a:srgbClr val="00FFFF"/>
                </a:solidFill>
              </a:rPr>
              <a:t>2</a:t>
            </a:r>
            <a:endParaRPr>
              <a:solidFill>
                <a:srgbClr val="000000"/>
              </a:solidFill>
            </a:endParaRPr>
          </a:p>
          <a:p>
            <a:pPr>
              <a:defRPr sz="4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print(</a:t>
            </a:r>
            <a:r>
              <a:rPr>
                <a:solidFill>
                  <a:srgbClr val="FF9900"/>
                </a:solidFill>
              </a:rPr>
              <a:t>x</a:t>
            </a:r>
            <a:r>
              <a:t>)</a:t>
            </a:r>
          </a:p>
        </p:txBody>
      </p:sp>
      <p:sp>
        <p:nvSpPr>
          <p:cNvPr id="238" name="Shape 510"/>
          <p:cNvSpPr txBox="1"/>
          <p:nvPr/>
        </p:nvSpPr>
        <p:spPr>
          <a:xfrm>
            <a:off x="1322914" y="7103297"/>
            <a:ext cx="2341500" cy="5921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4200">
                <a:solidFill>
                  <a:srgbClr val="FF9900"/>
                </a:solidFill>
              </a:defRPr>
            </a:lvl1pPr>
          </a:lstStyle>
          <a:p>
            <a:r>
              <a:t>Variable</a:t>
            </a:r>
          </a:p>
        </p:txBody>
      </p:sp>
      <p:sp>
        <p:nvSpPr>
          <p:cNvPr id="239" name="Shape 511"/>
          <p:cNvSpPr txBox="1"/>
          <p:nvPr/>
        </p:nvSpPr>
        <p:spPr>
          <a:xfrm>
            <a:off x="4696364" y="7103297"/>
            <a:ext cx="2197201" cy="5921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4200">
                <a:solidFill>
                  <a:srgbClr val="FFFFFF"/>
                </a:solidFill>
              </a:defRPr>
            </a:lvl1pPr>
          </a:lstStyle>
          <a:p>
            <a:r>
              <a:t>Operator</a:t>
            </a:r>
          </a:p>
        </p:txBody>
      </p:sp>
      <p:sp>
        <p:nvSpPr>
          <p:cNvPr id="240" name="Shape 512"/>
          <p:cNvSpPr txBox="1"/>
          <p:nvPr/>
        </p:nvSpPr>
        <p:spPr>
          <a:xfrm>
            <a:off x="8080915" y="7154097"/>
            <a:ext cx="2336801" cy="5921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4200">
                <a:solidFill>
                  <a:srgbClr val="00FFFF"/>
                </a:solidFill>
              </a:defRPr>
            </a:lvl1pPr>
          </a:lstStyle>
          <a:p>
            <a:r>
              <a:t>Constant</a:t>
            </a:r>
          </a:p>
        </p:txBody>
      </p:sp>
      <p:sp>
        <p:nvSpPr>
          <p:cNvPr id="241" name="Shape 513"/>
          <p:cNvSpPr txBox="1"/>
          <p:nvPr/>
        </p:nvSpPr>
        <p:spPr>
          <a:xfrm>
            <a:off x="11728990" y="7154097"/>
            <a:ext cx="3489300" cy="5921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4200">
                <a:solidFill>
                  <a:srgbClr val="FFFF00"/>
                </a:solidFill>
              </a:defRPr>
            </a:lvl1pPr>
          </a:lstStyle>
          <a:p>
            <a:r>
              <a:t>Function</a:t>
            </a:r>
          </a:p>
        </p:txBody>
      </p:sp>
      <p:sp>
        <p:nvSpPr>
          <p:cNvPr id="242" name="Shape 514"/>
          <p:cNvSpPr txBox="1"/>
          <p:nvPr/>
        </p:nvSpPr>
        <p:spPr>
          <a:xfrm>
            <a:off x="7213599" y="3567216"/>
            <a:ext cx="8875950" cy="23397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5400">
                <a:solidFill>
                  <a:srgbClr val="FFFFFF"/>
                </a:solidFill>
              </a:defRPr>
            </a:pPr>
            <a:r>
              <a:t>Assignment statement</a:t>
            </a:r>
            <a:endParaRPr>
              <a:solidFill>
                <a:srgbClr val="000000"/>
              </a:solidFill>
            </a:endParaRPr>
          </a:p>
          <a:p>
            <a:pPr>
              <a:defRPr sz="5400">
                <a:solidFill>
                  <a:srgbClr val="FFFFFF"/>
                </a:solidFill>
              </a:defRPr>
            </a:pPr>
            <a:r>
              <a:t>Assignment with expression</a:t>
            </a:r>
            <a:endParaRPr>
              <a:solidFill>
                <a:srgbClr val="000000"/>
              </a:solidFill>
            </a:endParaRPr>
          </a:p>
          <a:p>
            <a:pPr>
              <a:defRPr sz="5400">
                <a:solidFill>
                  <a:srgbClr val="FFFFFF"/>
                </a:solidFill>
              </a:defRPr>
            </a:pPr>
            <a:r>
              <a:t>Print statement</a:t>
            </a:r>
          </a:p>
        </p:txBody>
      </p:sp>
      <p:sp>
        <p:nvSpPr>
          <p:cNvPr id="243" name="Shape 515"/>
          <p:cNvSpPr/>
          <p:nvPr/>
        </p:nvSpPr>
        <p:spPr>
          <a:xfrm flipV="1">
            <a:off x="5308599" y="3886261"/>
            <a:ext cx="1330200" cy="17400"/>
          </a:xfrm>
          <a:prstGeom prst="line">
            <a:avLst/>
          </a:prstGeom>
          <a:ln w="63500" cap="rnd">
            <a:solidFill>
              <a:srgbClr val="FF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44" name="Shape 516"/>
          <p:cNvSpPr/>
          <p:nvPr/>
        </p:nvSpPr>
        <p:spPr>
          <a:xfrm flipV="1">
            <a:off x="5816600" y="4734061"/>
            <a:ext cx="933600" cy="7801"/>
          </a:xfrm>
          <a:prstGeom prst="line">
            <a:avLst/>
          </a:prstGeom>
          <a:ln w="63500" cap="rnd">
            <a:solidFill>
              <a:srgbClr val="FF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45" name="Shape 517"/>
          <p:cNvSpPr/>
          <p:nvPr/>
        </p:nvSpPr>
        <p:spPr>
          <a:xfrm flipV="1">
            <a:off x="5384799" y="5562661"/>
            <a:ext cx="1330200" cy="17400"/>
          </a:xfrm>
          <a:prstGeom prst="line">
            <a:avLst/>
          </a:prstGeom>
          <a:ln w="63500" cap="rnd">
            <a:solidFill>
              <a:srgbClr val="FF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</p:spTree>
  </p:cSld>
  <p:clrMapOvr>
    <a:masterClrMapping/>
  </p:clrMapOvr>
  <p:transition spd="med"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Shape 522"/>
          <p:cNvSpPr txBox="1">
            <a:spLocks noGrp="1"/>
          </p:cNvSpPr>
          <p:nvPr>
            <p:ph type="ctrTitle"/>
          </p:nvPr>
        </p:nvSpPr>
        <p:spPr>
          <a:xfrm>
            <a:off x="1155700" y="2685144"/>
            <a:ext cx="13931900" cy="2536371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200">
                <a:solidFill>
                  <a:srgbClr val="FFD966"/>
                </a:solidFill>
              </a:defRPr>
            </a:lvl1pPr>
          </a:lstStyle>
          <a:p>
            <a:r>
              <a:t>Programming Paragraphs</a:t>
            </a:r>
          </a:p>
        </p:txBody>
      </p:sp>
    </p:spTree>
  </p:cSld>
  <p:clrMapOvr>
    <a:masterClrMapping/>
  </p:clrMapOvr>
  <p:transition spd="med"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Shape 527"/>
          <p:cNvSpPr txBox="1">
            <a:spLocks noGrp="1"/>
          </p:cNvSpPr>
          <p:nvPr>
            <p:ph type="title"/>
          </p:nvPr>
        </p:nvSpPr>
        <p:spPr>
          <a:xfrm>
            <a:off x="812800" y="768095"/>
            <a:ext cx="14630400" cy="136550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400">
                <a:solidFill>
                  <a:srgbClr val="FFD966"/>
                </a:solidFill>
              </a:defRPr>
            </a:lvl1pPr>
          </a:lstStyle>
          <a:p>
            <a:r>
              <a:t>Python Scripts</a:t>
            </a:r>
          </a:p>
        </p:txBody>
      </p:sp>
      <p:sp>
        <p:nvSpPr>
          <p:cNvPr id="250" name="Shape 528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lIns="38100" tIns="38100" rIns="38100" bIns="38100" anchor="ctr"/>
          <a:lstStyle/>
          <a:p>
            <a:pPr indent="-380111">
              <a:spcBef>
                <a:spcPts val="0"/>
              </a:spcBef>
              <a:defRPr sz="3400"/>
            </a:pPr>
            <a:r>
              <a:t>Interactive Python is good for experiments and programs of 3-4 lines long.</a:t>
            </a:r>
          </a:p>
          <a:p>
            <a:pPr indent="-380111">
              <a:defRPr sz="3400"/>
            </a:pPr>
            <a:r>
              <a:t>Most programs are much longer, so we type them into a file and tell Python to run the commands in the file.</a:t>
            </a:r>
          </a:p>
          <a:p>
            <a:pPr indent="-380111">
              <a:defRPr sz="3400"/>
            </a:pPr>
            <a:r>
              <a:t>In a sense, we are “giving Python a script”.</a:t>
            </a:r>
          </a:p>
          <a:p>
            <a:pPr indent="-380111">
              <a:defRPr sz="3400"/>
            </a:pPr>
            <a:r>
              <a:t>As a convention, we add “.py” as the suffix on the end of these files to indicate they contain Python.</a:t>
            </a:r>
          </a:p>
        </p:txBody>
      </p:sp>
    </p:spTree>
  </p:cSld>
  <p:clrMapOvr>
    <a:masterClrMapping/>
  </p:clrMapOvr>
  <p:transition spd="med"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Shape 538"/>
          <p:cNvSpPr txBox="1">
            <a:spLocks noGrp="1"/>
          </p:cNvSpPr>
          <p:nvPr>
            <p:ph type="title"/>
          </p:nvPr>
        </p:nvSpPr>
        <p:spPr>
          <a:xfrm>
            <a:off x="812800" y="768095"/>
            <a:ext cx="14630400" cy="136550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400">
                <a:solidFill>
                  <a:srgbClr val="FFD966"/>
                </a:solidFill>
              </a:defRPr>
            </a:lvl1pPr>
          </a:lstStyle>
          <a:p>
            <a:r>
              <a:t>Interactive versus Script</a:t>
            </a:r>
          </a:p>
        </p:txBody>
      </p:sp>
      <p:sp>
        <p:nvSpPr>
          <p:cNvPr id="253" name="Shape 539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lIns="38100" tIns="38100" rIns="38100" bIns="38100" anchor="ctr"/>
          <a:lstStyle/>
          <a:p>
            <a:pPr indent="-533400">
              <a:spcBef>
                <a:spcPts val="0"/>
              </a:spcBef>
              <a:buClr>
                <a:srgbClr val="FFFF00"/>
              </a:buClr>
              <a:buSzPct val="171000"/>
              <a:defRPr sz="3400">
                <a:solidFill>
                  <a:srgbClr val="FFFF00"/>
                </a:solidFill>
              </a:defRPr>
            </a:pPr>
            <a:r>
              <a:t>Interactive</a:t>
            </a:r>
          </a:p>
          <a:p>
            <a:pPr marL="0" lvl="1" indent="508000">
              <a:buSzTx/>
              <a:buNone/>
              <a:defRPr sz="3400"/>
            </a:pPr>
            <a:r>
              <a:t> -  You type directly to Python one line at a time and it responds</a:t>
            </a:r>
            <a:endParaRPr sz="1400">
              <a:solidFill>
                <a:srgbClr val="000000"/>
              </a:solidFill>
            </a:endParaRPr>
          </a:p>
          <a:p>
            <a:pPr indent="-533400">
              <a:buClr>
                <a:srgbClr val="FFFF00"/>
              </a:buClr>
              <a:buSzPct val="171000"/>
              <a:defRPr sz="3400">
                <a:solidFill>
                  <a:srgbClr val="FFFF00"/>
                </a:solidFill>
              </a:defRPr>
            </a:pPr>
            <a:r>
              <a:t>Script</a:t>
            </a:r>
          </a:p>
          <a:p>
            <a:pPr marL="0" lvl="1" indent="508000">
              <a:buSzTx/>
              <a:buNone/>
              <a:defRPr sz="3400"/>
            </a:pPr>
            <a:r>
              <a:t> -  You enter many statements (lines) into a file and tell Python to read the file line-by-line and execute (run) each statement</a:t>
            </a:r>
          </a:p>
        </p:txBody>
      </p:sp>
    </p:spTree>
  </p:cSld>
  <p:clrMapOvr>
    <a:masterClrMapping/>
  </p:clrMapOvr>
  <p:transition spd="med"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Shape 544"/>
          <p:cNvSpPr txBox="1">
            <a:spLocks noGrp="1"/>
          </p:cNvSpPr>
          <p:nvPr>
            <p:ph type="title"/>
          </p:nvPr>
        </p:nvSpPr>
        <p:spPr>
          <a:xfrm>
            <a:off x="812800" y="768095"/>
            <a:ext cx="14630400" cy="136550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600">
                <a:solidFill>
                  <a:srgbClr val="FFD966"/>
                </a:solidFill>
              </a:defRPr>
            </a:lvl1pPr>
          </a:lstStyle>
          <a:p>
            <a:r>
              <a:t>Program Steps or Program Flow</a:t>
            </a:r>
          </a:p>
        </p:txBody>
      </p:sp>
      <p:sp>
        <p:nvSpPr>
          <p:cNvPr id="256" name="Shape 545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lIns="38100" tIns="38100" rIns="38100" bIns="38100" anchor="ctr"/>
          <a:lstStyle/>
          <a:p>
            <a:pPr indent="-533400">
              <a:spcBef>
                <a:spcPts val="0"/>
              </a:spcBef>
              <a:buSzPct val="171000"/>
              <a:defRPr sz="3600"/>
            </a:pPr>
            <a:r>
              <a:t>Like a recipe or installation instructions, a program is a </a:t>
            </a:r>
            <a:r>
              <a:rPr>
                <a:solidFill>
                  <a:srgbClr val="FFFF00"/>
                </a:solidFill>
              </a:rPr>
              <a:t>sequence</a:t>
            </a:r>
            <a:r>
              <a:t> of steps to be done in order.</a:t>
            </a:r>
          </a:p>
          <a:p>
            <a:pPr indent="-533400">
              <a:buSzPct val="171000"/>
              <a:defRPr sz="3600"/>
            </a:pPr>
            <a:r>
              <a:t>Some steps are </a:t>
            </a:r>
            <a:r>
              <a:rPr>
                <a:solidFill>
                  <a:srgbClr val="FFFF00"/>
                </a:solidFill>
              </a:rPr>
              <a:t>conditional</a:t>
            </a:r>
            <a:r>
              <a:t> - they may be skipped.</a:t>
            </a:r>
          </a:p>
          <a:p>
            <a:pPr indent="-533400">
              <a:buSzPct val="171000"/>
              <a:defRPr sz="3600"/>
            </a:pPr>
            <a:r>
              <a:t>Sometimes a step or group of steps is to be </a:t>
            </a:r>
            <a:r>
              <a:rPr>
                <a:solidFill>
                  <a:srgbClr val="FFFF00"/>
                </a:solidFill>
              </a:rPr>
              <a:t>repeated</a:t>
            </a:r>
            <a:r>
              <a:t>.</a:t>
            </a:r>
          </a:p>
          <a:p>
            <a:pPr indent="-533400">
              <a:buSzPct val="171000"/>
              <a:defRPr sz="3600"/>
            </a:pPr>
            <a:r>
              <a:t>Sometimes we store a set of steps to be used over and over as needed several places throughout the program (these are called </a:t>
            </a:r>
            <a:r>
              <a:rPr>
                <a:solidFill>
                  <a:srgbClr val="FFFF00"/>
                </a:solidFill>
              </a:rPr>
              <a:t>functions</a:t>
            </a:r>
            <a:r>
              <a:t> and we will get to them later)</a:t>
            </a:r>
          </a:p>
        </p:txBody>
      </p:sp>
    </p:spTree>
  </p:cSld>
  <p:clrMapOvr>
    <a:masterClrMapping/>
  </p:clrMapOvr>
  <p:transition spd="med"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Shape 550"/>
          <p:cNvSpPr txBox="1">
            <a:spLocks noGrp="1"/>
          </p:cNvSpPr>
          <p:nvPr>
            <p:ph type="title"/>
          </p:nvPr>
        </p:nvSpPr>
        <p:spPr>
          <a:xfrm>
            <a:off x="812800" y="768095"/>
            <a:ext cx="14630400" cy="136550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600">
                <a:solidFill>
                  <a:srgbClr val="FFD966"/>
                </a:solidFill>
              </a:defRPr>
            </a:lvl1pPr>
          </a:lstStyle>
          <a:p>
            <a:r>
              <a:t>Sequential Steps</a:t>
            </a:r>
          </a:p>
        </p:txBody>
      </p:sp>
      <p:sp>
        <p:nvSpPr>
          <p:cNvPr id="259" name="Shape 551"/>
          <p:cNvSpPr txBox="1"/>
          <p:nvPr/>
        </p:nvSpPr>
        <p:spPr>
          <a:xfrm>
            <a:off x="6582116" y="2835109"/>
            <a:ext cx="3244647" cy="3251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3600">
                <a:solidFill>
                  <a:srgbClr val="FFFFFF"/>
                </a:solidFill>
              </a:defRPr>
            </a:pPr>
            <a:r>
              <a:t>Program:</a:t>
            </a:r>
            <a:endParaRPr>
              <a:solidFill>
                <a:srgbClr val="000000"/>
              </a:solidFill>
            </a:endParaRPr>
          </a:p>
          <a:p>
            <a:pPr algn="ctr">
              <a:defRPr sz="3600">
                <a:solidFill>
                  <a:srgbClr val="FF7F00"/>
                </a:solidFill>
              </a:defRPr>
            </a:pP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x = 2</a:t>
            </a: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print(</a:t>
            </a:r>
            <a:r>
              <a:rPr>
                <a:solidFill>
                  <a:srgbClr val="00FF00"/>
                </a:solidFill>
              </a:rPr>
              <a:t>x</a:t>
            </a:r>
            <a:r>
              <a:t>)</a:t>
            </a:r>
            <a:endParaRPr>
              <a:solidFill>
                <a:srgbClr val="00FF00"/>
              </a:solidFill>
            </a:endParaRPr>
          </a:p>
          <a:p>
            <a:pPr>
              <a:defRPr sz="36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x = x + 2</a:t>
            </a: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print(</a:t>
            </a:r>
            <a:r>
              <a:rPr>
                <a:solidFill>
                  <a:srgbClr val="00FF00"/>
                </a:solidFill>
              </a:rPr>
              <a:t>x</a:t>
            </a:r>
            <a:r>
              <a:t>)</a:t>
            </a:r>
          </a:p>
        </p:txBody>
      </p:sp>
      <p:sp>
        <p:nvSpPr>
          <p:cNvPr id="260" name="Shape 552"/>
          <p:cNvSpPr txBox="1"/>
          <p:nvPr/>
        </p:nvSpPr>
        <p:spPr>
          <a:xfrm>
            <a:off x="11812569" y="3331993"/>
            <a:ext cx="1734098" cy="21186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3600">
                <a:solidFill>
                  <a:srgbClr val="FFFFFF"/>
                </a:solidFill>
              </a:defRPr>
            </a:pPr>
            <a:r>
              <a:t>Output:</a:t>
            </a:r>
            <a:endParaRPr>
              <a:solidFill>
                <a:srgbClr val="000000"/>
              </a:solidFill>
            </a:endParaRPr>
          </a:p>
          <a:p>
            <a:pPr algn="ctr">
              <a:defRPr sz="3600">
                <a:solidFill>
                  <a:srgbClr val="FFFFFF"/>
                </a:solidFill>
              </a:defRPr>
            </a:pP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00"/>
                </a:solidFill>
              </a:defRPr>
            </a:pPr>
            <a:r>
              <a:t>  2</a:t>
            </a: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00"/>
                </a:solidFill>
              </a:defRPr>
            </a:pPr>
            <a:r>
              <a:t>  4</a:t>
            </a:r>
          </a:p>
        </p:txBody>
      </p:sp>
      <p:grpSp>
        <p:nvGrpSpPr>
          <p:cNvPr id="263" name="Shape 553"/>
          <p:cNvGrpSpPr/>
          <p:nvPr/>
        </p:nvGrpSpPr>
        <p:grpSpPr>
          <a:xfrm>
            <a:off x="1587499" y="2742664"/>
            <a:ext cx="2743201" cy="596901"/>
            <a:chOff x="0" y="0"/>
            <a:chExt cx="2743199" cy="596900"/>
          </a:xfrm>
        </p:grpSpPr>
        <p:sp>
          <p:nvSpPr>
            <p:cNvPr id="261" name="Rectangle"/>
            <p:cNvSpPr/>
            <p:nvPr/>
          </p:nvSpPr>
          <p:spPr>
            <a:xfrm>
              <a:off x="-1" y="0"/>
              <a:ext cx="2743201" cy="596900"/>
            </a:xfrm>
            <a:prstGeom prst="rect">
              <a:avLst/>
            </a:prstGeom>
            <a:noFill/>
            <a:ln w="76200" cap="flat">
              <a:solidFill>
                <a:srgbClr val="00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262" name="x = 2"/>
            <p:cNvSpPr txBox="1"/>
            <p:nvPr/>
          </p:nvSpPr>
          <p:spPr>
            <a:xfrm>
              <a:off x="-1" y="51720"/>
              <a:ext cx="2743201" cy="49346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500">
                  <a:solidFill>
                    <a:srgbClr val="FFFFFF"/>
                  </a:solidFill>
                </a:defRPr>
              </a:lvl1pPr>
            </a:lstStyle>
            <a:p>
              <a:r>
                <a:t>x = 2</a:t>
              </a:r>
            </a:p>
          </p:txBody>
        </p:sp>
      </p:grpSp>
      <p:grpSp>
        <p:nvGrpSpPr>
          <p:cNvPr id="266" name="Shape 554"/>
          <p:cNvGrpSpPr/>
          <p:nvPr/>
        </p:nvGrpSpPr>
        <p:grpSpPr>
          <a:xfrm>
            <a:off x="1587499" y="3847565"/>
            <a:ext cx="2743201" cy="596901"/>
            <a:chOff x="0" y="0"/>
            <a:chExt cx="2743199" cy="596900"/>
          </a:xfrm>
        </p:grpSpPr>
        <p:sp>
          <p:nvSpPr>
            <p:cNvPr id="264" name="Rectangle"/>
            <p:cNvSpPr/>
            <p:nvPr/>
          </p:nvSpPr>
          <p:spPr>
            <a:xfrm>
              <a:off x="-1" y="0"/>
              <a:ext cx="2743201" cy="596900"/>
            </a:xfrm>
            <a:prstGeom prst="rect">
              <a:avLst/>
            </a:prstGeom>
            <a:noFill/>
            <a:ln w="76200" cap="flat">
              <a:solidFill>
                <a:srgbClr val="00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265" name="print(x)"/>
            <p:cNvSpPr txBox="1"/>
            <p:nvPr/>
          </p:nvSpPr>
          <p:spPr>
            <a:xfrm>
              <a:off x="-1" y="51720"/>
              <a:ext cx="2743201" cy="49346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500">
                  <a:solidFill>
                    <a:srgbClr val="FFFFFF"/>
                  </a:solidFill>
                </a:defRPr>
              </a:lvl1pPr>
            </a:lstStyle>
            <a:p>
              <a:r>
                <a:t>print(x)</a:t>
              </a:r>
            </a:p>
          </p:txBody>
        </p:sp>
      </p:grpSp>
      <p:sp>
        <p:nvSpPr>
          <p:cNvPr id="267" name="Shape 555"/>
          <p:cNvSpPr/>
          <p:nvPr/>
        </p:nvSpPr>
        <p:spPr>
          <a:xfrm flipH="1" flipV="1">
            <a:off x="2940049" y="3339706"/>
            <a:ext cx="14288" cy="566737"/>
          </a:xfrm>
          <a:prstGeom prst="line">
            <a:avLst/>
          </a:prstGeom>
          <a:ln w="76200" cap="rnd">
            <a:solidFill>
              <a:srgbClr val="00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grpSp>
        <p:nvGrpSpPr>
          <p:cNvPr id="270" name="Shape 556"/>
          <p:cNvGrpSpPr/>
          <p:nvPr/>
        </p:nvGrpSpPr>
        <p:grpSpPr>
          <a:xfrm>
            <a:off x="1587499" y="4928796"/>
            <a:ext cx="2743201" cy="596901"/>
            <a:chOff x="0" y="0"/>
            <a:chExt cx="2743199" cy="596900"/>
          </a:xfrm>
        </p:grpSpPr>
        <p:sp>
          <p:nvSpPr>
            <p:cNvPr id="268" name="Rectangle"/>
            <p:cNvSpPr/>
            <p:nvPr/>
          </p:nvSpPr>
          <p:spPr>
            <a:xfrm>
              <a:off x="-1" y="0"/>
              <a:ext cx="2743201" cy="596900"/>
            </a:xfrm>
            <a:prstGeom prst="rect">
              <a:avLst/>
            </a:prstGeom>
            <a:noFill/>
            <a:ln w="76200" cap="flat">
              <a:solidFill>
                <a:srgbClr val="00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269" name="x = x + 2"/>
            <p:cNvSpPr txBox="1"/>
            <p:nvPr/>
          </p:nvSpPr>
          <p:spPr>
            <a:xfrm>
              <a:off x="-1" y="51720"/>
              <a:ext cx="2743201" cy="49346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500">
                  <a:solidFill>
                    <a:srgbClr val="FFFFFF"/>
                  </a:solidFill>
                </a:defRPr>
              </a:lvl1pPr>
            </a:lstStyle>
            <a:p>
              <a:r>
                <a:t>x = x + 2</a:t>
              </a:r>
            </a:p>
          </p:txBody>
        </p:sp>
      </p:grpSp>
      <p:sp>
        <p:nvSpPr>
          <p:cNvPr id="271" name="Shape 557"/>
          <p:cNvSpPr/>
          <p:nvPr/>
        </p:nvSpPr>
        <p:spPr>
          <a:xfrm flipH="1" flipV="1">
            <a:off x="2940049" y="4436812"/>
            <a:ext cx="14288" cy="566737"/>
          </a:xfrm>
          <a:prstGeom prst="line">
            <a:avLst/>
          </a:prstGeom>
          <a:ln w="76200" cap="rnd">
            <a:solidFill>
              <a:srgbClr val="00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grpSp>
        <p:nvGrpSpPr>
          <p:cNvPr id="274" name="Shape 558"/>
          <p:cNvGrpSpPr/>
          <p:nvPr/>
        </p:nvGrpSpPr>
        <p:grpSpPr>
          <a:xfrm>
            <a:off x="1587499" y="6031965"/>
            <a:ext cx="2743201" cy="596901"/>
            <a:chOff x="0" y="0"/>
            <a:chExt cx="2743199" cy="596900"/>
          </a:xfrm>
        </p:grpSpPr>
        <p:sp>
          <p:nvSpPr>
            <p:cNvPr id="272" name="Rectangle"/>
            <p:cNvSpPr/>
            <p:nvPr/>
          </p:nvSpPr>
          <p:spPr>
            <a:xfrm>
              <a:off x="-1" y="0"/>
              <a:ext cx="2743201" cy="596900"/>
            </a:xfrm>
            <a:prstGeom prst="rect">
              <a:avLst/>
            </a:prstGeom>
            <a:noFill/>
            <a:ln w="76200" cap="flat">
              <a:solidFill>
                <a:srgbClr val="00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273" name="print(x)"/>
            <p:cNvSpPr txBox="1"/>
            <p:nvPr/>
          </p:nvSpPr>
          <p:spPr>
            <a:xfrm>
              <a:off x="-1" y="51720"/>
              <a:ext cx="2743201" cy="49346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500">
                  <a:solidFill>
                    <a:srgbClr val="FFFFFF"/>
                  </a:solidFill>
                </a:defRPr>
              </a:lvl1pPr>
            </a:lstStyle>
            <a:p>
              <a:r>
                <a:t>print(x)</a:t>
              </a:r>
            </a:p>
          </p:txBody>
        </p:sp>
      </p:grpSp>
      <p:sp>
        <p:nvSpPr>
          <p:cNvPr id="275" name="Shape 559"/>
          <p:cNvSpPr/>
          <p:nvPr/>
        </p:nvSpPr>
        <p:spPr>
          <a:xfrm flipH="1" flipV="1">
            <a:off x="2940049" y="5525551"/>
            <a:ext cx="14288" cy="566737"/>
          </a:xfrm>
          <a:prstGeom prst="line">
            <a:avLst/>
          </a:prstGeom>
          <a:ln w="76200" cap="rnd">
            <a:solidFill>
              <a:srgbClr val="00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76" name="Shape 560"/>
          <p:cNvSpPr/>
          <p:nvPr/>
        </p:nvSpPr>
        <p:spPr>
          <a:xfrm flipH="1">
            <a:off x="8774348" y="4669276"/>
            <a:ext cx="2762658" cy="72058"/>
          </a:xfrm>
          <a:prstGeom prst="line">
            <a:avLst/>
          </a:prstGeom>
          <a:ln w="50800" cap="rnd">
            <a:solidFill>
              <a:srgbClr val="FF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77" name="Shape 561"/>
          <p:cNvSpPr/>
          <p:nvPr/>
        </p:nvSpPr>
        <p:spPr>
          <a:xfrm flipH="1">
            <a:off x="8774348" y="5278964"/>
            <a:ext cx="2783187" cy="613836"/>
          </a:xfrm>
          <a:prstGeom prst="line">
            <a:avLst/>
          </a:prstGeom>
          <a:ln w="50800" cap="rnd">
            <a:solidFill>
              <a:srgbClr val="FF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78" name="Shape 562"/>
          <p:cNvSpPr txBox="1"/>
          <p:nvPr/>
        </p:nvSpPr>
        <p:spPr>
          <a:xfrm>
            <a:off x="2054200" y="7285169"/>
            <a:ext cx="12401102" cy="95149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3300">
                <a:solidFill>
                  <a:srgbClr val="FFFFFF"/>
                </a:solidFill>
              </a:defRPr>
            </a:lvl1pPr>
          </a:lstStyle>
          <a:p>
            <a:r>
              <a:t>When a program is running, it flows from one step to the next.  As programmers, we set up “paths” for the program to follow.</a:t>
            </a:r>
          </a:p>
        </p:txBody>
      </p:sp>
    </p:spTree>
  </p:cSld>
  <p:clrMapOvr>
    <a:masterClrMapping/>
  </p:clrMapOvr>
  <p:transition spd="med"/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Shape 567"/>
          <p:cNvSpPr txBox="1">
            <a:spLocks noGrp="1"/>
          </p:cNvSpPr>
          <p:nvPr>
            <p:ph type="title"/>
          </p:nvPr>
        </p:nvSpPr>
        <p:spPr>
          <a:xfrm>
            <a:off x="5854700" y="768095"/>
            <a:ext cx="9588500" cy="136550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600">
                <a:solidFill>
                  <a:srgbClr val="FFD966"/>
                </a:solidFill>
              </a:defRPr>
            </a:lvl1pPr>
          </a:lstStyle>
          <a:p>
            <a:r>
              <a:t>Conditional Steps</a:t>
            </a:r>
          </a:p>
        </p:txBody>
      </p:sp>
      <p:sp>
        <p:nvSpPr>
          <p:cNvPr id="281" name="Shape 568"/>
          <p:cNvSpPr txBox="1"/>
          <p:nvPr/>
        </p:nvSpPr>
        <p:spPr>
          <a:xfrm>
            <a:off x="13684012" y="3595228"/>
            <a:ext cx="1581151" cy="21186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3600">
                <a:solidFill>
                  <a:srgbClr val="FFFFFF"/>
                </a:solidFill>
              </a:defRPr>
            </a:pPr>
            <a:r>
              <a:t>Output:</a:t>
            </a:r>
            <a:endParaRPr>
              <a:solidFill>
                <a:srgbClr val="000000"/>
              </a:solidFill>
            </a:endParaRPr>
          </a:p>
          <a:p>
            <a:pPr algn="ctr">
              <a:defRPr sz="3600">
                <a:solidFill>
                  <a:srgbClr val="FFFFFF"/>
                </a:solidFill>
              </a:defRPr>
            </a:pP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00"/>
                </a:solidFill>
              </a:defRPr>
            </a:pPr>
            <a:r>
              <a:t>Smaller</a:t>
            </a: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00"/>
                </a:solidFill>
              </a:defRPr>
            </a:pPr>
            <a:r>
              <a:t>Finis </a:t>
            </a:r>
          </a:p>
        </p:txBody>
      </p:sp>
      <p:sp>
        <p:nvSpPr>
          <p:cNvPr id="282" name="Shape 569"/>
          <p:cNvSpPr txBox="1"/>
          <p:nvPr/>
        </p:nvSpPr>
        <p:spPr>
          <a:xfrm>
            <a:off x="7799385" y="3321049"/>
            <a:ext cx="4535287" cy="408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3600">
                <a:solidFill>
                  <a:srgbClr val="FFFFFF"/>
                </a:solidFill>
              </a:defRPr>
            </a:pPr>
            <a:r>
              <a:t>Program:</a:t>
            </a:r>
            <a:endParaRPr>
              <a:solidFill>
                <a:srgbClr val="000000"/>
              </a:solidFill>
            </a:endParaRPr>
          </a:p>
          <a:p>
            <a:pPr algn="ctr">
              <a:defRPr sz="3600">
                <a:solidFill>
                  <a:srgbClr val="FF7F00"/>
                </a:solidFill>
              </a:defRPr>
            </a:pP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x = 5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if</a:t>
            </a:r>
            <a:r>
              <a:rPr>
                <a:solidFill>
                  <a:srgbClr val="FF7F00"/>
                </a:solidFill>
              </a:rPr>
              <a:t> </a:t>
            </a:r>
            <a:r>
              <a:rPr>
                <a:solidFill>
                  <a:srgbClr val="00FF00"/>
                </a:solidFill>
              </a:rPr>
              <a:t>x &lt; 10: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</a:t>
            </a:r>
            <a:r>
              <a:rPr>
                <a:solidFill>
                  <a:srgbClr val="FFFF00"/>
                </a:solidFill>
              </a:rPr>
              <a:t>print(</a:t>
            </a:r>
            <a:r>
              <a:rPr>
                <a:solidFill>
                  <a:srgbClr val="00FF00"/>
                </a:solidFill>
              </a:rPr>
              <a:t>'Smaller'</a:t>
            </a:r>
            <a:r>
              <a:rPr>
                <a:solidFill>
                  <a:srgbClr val="FFFF00"/>
                </a:solidFill>
              </a:rPr>
              <a:t>)</a:t>
            </a:r>
            <a:endParaRPr>
              <a:solidFill>
                <a:srgbClr val="00FF00"/>
              </a:solidFill>
            </a:endParaRPr>
          </a:p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if</a:t>
            </a:r>
            <a:r>
              <a:rPr>
                <a:solidFill>
                  <a:srgbClr val="FF7F00"/>
                </a:solidFill>
              </a:rPr>
              <a:t> </a:t>
            </a:r>
            <a:r>
              <a:rPr>
                <a:solidFill>
                  <a:srgbClr val="00FF00"/>
                </a:solidFill>
              </a:rPr>
              <a:t>x &gt; 20: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</a:t>
            </a:r>
            <a:r>
              <a:rPr>
                <a:solidFill>
                  <a:srgbClr val="FFFF00"/>
                </a:solidFill>
              </a:rPr>
              <a:t>print(</a:t>
            </a:r>
            <a:r>
              <a:rPr>
                <a:solidFill>
                  <a:srgbClr val="00FF00"/>
                </a:solidFill>
              </a:rPr>
              <a:t>'Bigger'</a:t>
            </a:r>
            <a:r>
              <a:rPr>
                <a:solidFill>
                  <a:srgbClr val="FFFF00"/>
                </a:solidFill>
              </a:rPr>
              <a:t>)</a:t>
            </a:r>
            <a:endParaRPr>
              <a:solidFill>
                <a:srgbClr val="00FF00"/>
              </a:solidFill>
            </a:endParaRPr>
          </a:p>
          <a:p>
            <a:pPr algn="ctr"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endParaRPr>
              <a:solidFill>
                <a:srgbClr val="00FF00"/>
              </a:solidFill>
            </a:endParaRPr>
          </a:p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print(</a:t>
            </a:r>
            <a:r>
              <a:rPr>
                <a:solidFill>
                  <a:srgbClr val="00FF00"/>
                </a:solidFill>
              </a:rPr>
              <a:t>'Finis'</a:t>
            </a:r>
            <a:r>
              <a:t>)</a:t>
            </a:r>
          </a:p>
        </p:txBody>
      </p:sp>
      <p:grpSp>
        <p:nvGrpSpPr>
          <p:cNvPr id="285" name="Shape 570"/>
          <p:cNvGrpSpPr/>
          <p:nvPr/>
        </p:nvGrpSpPr>
        <p:grpSpPr>
          <a:xfrm>
            <a:off x="1244599" y="977900"/>
            <a:ext cx="2743201" cy="597000"/>
            <a:chOff x="0" y="0"/>
            <a:chExt cx="2743199" cy="596999"/>
          </a:xfrm>
        </p:grpSpPr>
        <p:sp>
          <p:nvSpPr>
            <p:cNvPr id="283" name="Rectangle"/>
            <p:cNvSpPr/>
            <p:nvPr/>
          </p:nvSpPr>
          <p:spPr>
            <a:xfrm>
              <a:off x="-1" y="0"/>
              <a:ext cx="2743201" cy="597000"/>
            </a:xfrm>
            <a:prstGeom prst="rect">
              <a:avLst/>
            </a:prstGeom>
            <a:noFill/>
            <a:ln w="76200" cap="flat">
              <a:solidFill>
                <a:srgbClr val="00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284" name="x = 5"/>
            <p:cNvSpPr txBox="1"/>
            <p:nvPr/>
          </p:nvSpPr>
          <p:spPr>
            <a:xfrm>
              <a:off x="-1" y="88832"/>
              <a:ext cx="2743201" cy="41933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000">
                  <a:solidFill>
                    <a:srgbClr val="FFFFFF"/>
                  </a:solidFill>
                </a:defRPr>
              </a:lvl1pPr>
            </a:lstStyle>
            <a:p>
              <a:r>
                <a:t>x = 5</a:t>
              </a:r>
            </a:p>
          </p:txBody>
        </p:sp>
      </p:grpSp>
      <p:sp>
        <p:nvSpPr>
          <p:cNvPr id="286" name="Shape 571"/>
          <p:cNvSpPr/>
          <p:nvPr/>
        </p:nvSpPr>
        <p:spPr>
          <a:xfrm flipH="1" flipV="1">
            <a:off x="2597149" y="1576387"/>
            <a:ext cx="14288" cy="566737"/>
          </a:xfrm>
          <a:prstGeom prst="line">
            <a:avLst/>
          </a:prstGeom>
          <a:ln w="76200" cap="rnd">
            <a:solidFill>
              <a:srgbClr val="00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87" name="Shape 572"/>
          <p:cNvSpPr/>
          <p:nvPr/>
        </p:nvSpPr>
        <p:spPr>
          <a:xfrm flipH="1">
            <a:off x="12334672" y="4948237"/>
            <a:ext cx="1206231" cy="417514"/>
          </a:xfrm>
          <a:prstGeom prst="line">
            <a:avLst/>
          </a:prstGeom>
          <a:ln w="50800" cap="rnd">
            <a:solidFill>
              <a:srgbClr val="FF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grpSp>
        <p:nvGrpSpPr>
          <p:cNvPr id="290" name="Shape 573"/>
          <p:cNvGrpSpPr/>
          <p:nvPr/>
        </p:nvGrpSpPr>
        <p:grpSpPr>
          <a:xfrm>
            <a:off x="1181100" y="2120900"/>
            <a:ext cx="2870200" cy="1270000"/>
            <a:chOff x="0" y="0"/>
            <a:chExt cx="2870200" cy="1270000"/>
          </a:xfrm>
        </p:grpSpPr>
        <p:sp>
          <p:nvSpPr>
            <p:cNvPr id="288" name="Polygon"/>
            <p:cNvSpPr/>
            <p:nvPr/>
          </p:nvSpPr>
          <p:spPr>
            <a:xfrm>
              <a:off x="0" y="0"/>
              <a:ext cx="2870200" cy="1270000"/>
            </a:xfrm>
            <a:prstGeom prst="diamond">
              <a:avLst/>
            </a:prstGeom>
            <a:noFill/>
            <a:ln w="76200" cap="flat">
              <a:solidFill>
                <a:srgbClr val="00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289" name="x &lt; 10 ?"/>
            <p:cNvSpPr txBox="1"/>
            <p:nvPr/>
          </p:nvSpPr>
          <p:spPr>
            <a:xfrm>
              <a:off x="717550" y="425332"/>
              <a:ext cx="1435100" cy="41933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000">
                  <a:solidFill>
                    <a:srgbClr val="FFFFFF"/>
                  </a:solidFill>
                </a:defRPr>
              </a:lvl1pPr>
            </a:lstStyle>
            <a:p>
              <a:r>
                <a:t>x &lt; 10 ?</a:t>
              </a:r>
            </a:p>
          </p:txBody>
        </p:sp>
      </p:grpSp>
      <p:sp>
        <p:nvSpPr>
          <p:cNvPr id="291" name="Shape 574"/>
          <p:cNvSpPr/>
          <p:nvPr/>
        </p:nvSpPr>
        <p:spPr>
          <a:xfrm flipH="1" flipV="1">
            <a:off x="2597150" y="3338512"/>
            <a:ext cx="19050" cy="1609726"/>
          </a:xfrm>
          <a:prstGeom prst="line">
            <a:avLst/>
          </a:prstGeom>
          <a:ln w="76200" cap="rnd">
            <a:solidFill>
              <a:srgbClr val="00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grpSp>
        <p:nvGrpSpPr>
          <p:cNvPr id="294" name="Shape 575"/>
          <p:cNvGrpSpPr/>
          <p:nvPr/>
        </p:nvGrpSpPr>
        <p:grpSpPr>
          <a:xfrm>
            <a:off x="3327400" y="3352799"/>
            <a:ext cx="2921000" cy="749301"/>
            <a:chOff x="0" y="0"/>
            <a:chExt cx="2921000" cy="749299"/>
          </a:xfrm>
        </p:grpSpPr>
        <p:sp>
          <p:nvSpPr>
            <p:cNvPr id="292" name="Rectangle"/>
            <p:cNvSpPr/>
            <p:nvPr/>
          </p:nvSpPr>
          <p:spPr>
            <a:xfrm>
              <a:off x="0" y="-1"/>
              <a:ext cx="2921000" cy="749301"/>
            </a:xfrm>
            <a:prstGeom prst="rect">
              <a:avLst/>
            </a:prstGeom>
            <a:noFill/>
            <a:ln w="76200" cap="flat">
              <a:solidFill>
                <a:srgbClr val="00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30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93" name="print('Smaller')"/>
            <p:cNvSpPr txBox="1"/>
            <p:nvPr/>
          </p:nvSpPr>
          <p:spPr>
            <a:xfrm>
              <a:off x="0" y="164981"/>
              <a:ext cx="2921000" cy="4193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000">
                  <a:solidFill>
                    <a:srgbClr val="FFFFFF"/>
                  </a:solidFill>
                </a:defRPr>
              </a:lvl1pPr>
            </a:lstStyle>
            <a:p>
              <a:r>
                <a:t>print('Smaller')</a:t>
              </a:r>
            </a:p>
          </p:txBody>
        </p:sp>
      </p:grpSp>
      <p:sp>
        <p:nvSpPr>
          <p:cNvPr id="295" name="Shape 576"/>
          <p:cNvSpPr/>
          <p:nvPr/>
        </p:nvSpPr>
        <p:spPr>
          <a:xfrm flipH="1" flipV="1">
            <a:off x="4038598" y="2749549"/>
            <a:ext cx="777876" cy="15876"/>
          </a:xfrm>
          <a:prstGeom prst="line">
            <a:avLst/>
          </a:prstGeom>
          <a:ln w="76200" cap="rnd">
            <a:solidFill>
              <a:srgbClr val="00FFFF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96" name="Shape 577"/>
          <p:cNvSpPr/>
          <p:nvPr/>
        </p:nvSpPr>
        <p:spPr>
          <a:xfrm flipV="1">
            <a:off x="4783137" y="2749549"/>
            <a:ext cx="15876" cy="644525"/>
          </a:xfrm>
          <a:prstGeom prst="line">
            <a:avLst/>
          </a:prstGeom>
          <a:ln w="76200" cap="rnd">
            <a:solidFill>
              <a:srgbClr val="00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97" name="Shape 578"/>
          <p:cNvSpPr/>
          <p:nvPr/>
        </p:nvSpPr>
        <p:spPr>
          <a:xfrm flipH="1">
            <a:off x="4783136" y="4087812"/>
            <a:ext cx="15876" cy="314325"/>
          </a:xfrm>
          <a:prstGeom prst="line">
            <a:avLst/>
          </a:prstGeom>
          <a:ln w="76200" cap="rnd">
            <a:solidFill>
              <a:srgbClr val="00FFFF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98" name="Shape 579"/>
          <p:cNvSpPr/>
          <p:nvPr/>
        </p:nvSpPr>
        <p:spPr>
          <a:xfrm>
            <a:off x="2649535" y="4419600"/>
            <a:ext cx="2149475" cy="0"/>
          </a:xfrm>
          <a:prstGeom prst="line">
            <a:avLst/>
          </a:prstGeom>
          <a:ln w="76200" cap="rnd">
            <a:solidFill>
              <a:srgbClr val="00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grpSp>
        <p:nvGrpSpPr>
          <p:cNvPr id="301" name="Shape 580"/>
          <p:cNvGrpSpPr/>
          <p:nvPr/>
        </p:nvGrpSpPr>
        <p:grpSpPr>
          <a:xfrm>
            <a:off x="1181100" y="4864100"/>
            <a:ext cx="2870200" cy="1270000"/>
            <a:chOff x="0" y="0"/>
            <a:chExt cx="2870200" cy="1270000"/>
          </a:xfrm>
        </p:grpSpPr>
        <p:sp>
          <p:nvSpPr>
            <p:cNvPr id="299" name="Polygon"/>
            <p:cNvSpPr/>
            <p:nvPr/>
          </p:nvSpPr>
          <p:spPr>
            <a:xfrm>
              <a:off x="0" y="0"/>
              <a:ext cx="2870200" cy="1270000"/>
            </a:xfrm>
            <a:prstGeom prst="diamond">
              <a:avLst/>
            </a:prstGeom>
            <a:noFill/>
            <a:ln w="76200" cap="flat">
              <a:solidFill>
                <a:srgbClr val="00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300" name="x &gt; 20 ?"/>
            <p:cNvSpPr txBox="1"/>
            <p:nvPr/>
          </p:nvSpPr>
          <p:spPr>
            <a:xfrm>
              <a:off x="717550" y="425332"/>
              <a:ext cx="1435100" cy="41933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000">
                  <a:solidFill>
                    <a:srgbClr val="FFFFFF"/>
                  </a:solidFill>
                </a:defRPr>
              </a:lvl1pPr>
            </a:lstStyle>
            <a:p>
              <a:r>
                <a:t>x &gt; 20 ?</a:t>
              </a:r>
            </a:p>
          </p:txBody>
        </p:sp>
      </p:grpSp>
      <p:sp>
        <p:nvSpPr>
          <p:cNvPr id="302" name="Shape 581"/>
          <p:cNvSpPr/>
          <p:nvPr/>
        </p:nvSpPr>
        <p:spPr>
          <a:xfrm flipH="1" flipV="1">
            <a:off x="2597150" y="6097585"/>
            <a:ext cx="19050" cy="1609726"/>
          </a:xfrm>
          <a:prstGeom prst="line">
            <a:avLst/>
          </a:prstGeom>
          <a:ln w="76200" cap="rnd">
            <a:solidFill>
              <a:srgbClr val="00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grpSp>
        <p:nvGrpSpPr>
          <p:cNvPr id="305" name="Shape 582"/>
          <p:cNvGrpSpPr/>
          <p:nvPr/>
        </p:nvGrpSpPr>
        <p:grpSpPr>
          <a:xfrm>
            <a:off x="3327400" y="6095999"/>
            <a:ext cx="2921000" cy="749301"/>
            <a:chOff x="0" y="0"/>
            <a:chExt cx="2921000" cy="749299"/>
          </a:xfrm>
        </p:grpSpPr>
        <p:sp>
          <p:nvSpPr>
            <p:cNvPr id="303" name="Rectangle"/>
            <p:cNvSpPr/>
            <p:nvPr/>
          </p:nvSpPr>
          <p:spPr>
            <a:xfrm>
              <a:off x="0" y="-1"/>
              <a:ext cx="2921000" cy="749301"/>
            </a:xfrm>
            <a:prstGeom prst="rect">
              <a:avLst/>
            </a:prstGeom>
            <a:noFill/>
            <a:ln w="76200" cap="flat">
              <a:solidFill>
                <a:srgbClr val="00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30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304" name="print('Bigger')"/>
            <p:cNvSpPr txBox="1"/>
            <p:nvPr/>
          </p:nvSpPr>
          <p:spPr>
            <a:xfrm>
              <a:off x="0" y="164981"/>
              <a:ext cx="2921000" cy="4193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000">
                  <a:solidFill>
                    <a:srgbClr val="FFFFFF"/>
                  </a:solidFill>
                </a:defRPr>
              </a:lvl1pPr>
            </a:lstStyle>
            <a:p>
              <a:r>
                <a:t>print('Bigger')</a:t>
              </a:r>
            </a:p>
          </p:txBody>
        </p:sp>
      </p:grpSp>
      <p:sp>
        <p:nvSpPr>
          <p:cNvPr id="306" name="Shape 583"/>
          <p:cNvSpPr/>
          <p:nvPr/>
        </p:nvSpPr>
        <p:spPr>
          <a:xfrm flipH="1" flipV="1">
            <a:off x="4038598" y="5492748"/>
            <a:ext cx="777876" cy="15876"/>
          </a:xfrm>
          <a:prstGeom prst="line">
            <a:avLst/>
          </a:prstGeom>
          <a:ln w="76200" cap="rnd">
            <a:solidFill>
              <a:srgbClr val="00FFFF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07" name="Shape 584"/>
          <p:cNvSpPr/>
          <p:nvPr/>
        </p:nvSpPr>
        <p:spPr>
          <a:xfrm flipV="1">
            <a:off x="4783137" y="5492750"/>
            <a:ext cx="15876" cy="644525"/>
          </a:xfrm>
          <a:prstGeom prst="line">
            <a:avLst/>
          </a:prstGeom>
          <a:ln w="76200" cap="rnd">
            <a:solidFill>
              <a:srgbClr val="00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08" name="Shape 585"/>
          <p:cNvSpPr/>
          <p:nvPr/>
        </p:nvSpPr>
        <p:spPr>
          <a:xfrm flipH="1">
            <a:off x="4783136" y="6831010"/>
            <a:ext cx="15876" cy="314325"/>
          </a:xfrm>
          <a:prstGeom prst="line">
            <a:avLst/>
          </a:prstGeom>
          <a:ln w="76200" cap="rnd">
            <a:solidFill>
              <a:srgbClr val="00FFFF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09" name="Shape 586"/>
          <p:cNvSpPr/>
          <p:nvPr/>
        </p:nvSpPr>
        <p:spPr>
          <a:xfrm>
            <a:off x="2649535" y="7162800"/>
            <a:ext cx="2149475" cy="0"/>
          </a:xfrm>
          <a:prstGeom prst="line">
            <a:avLst/>
          </a:prstGeom>
          <a:ln w="76200" cap="rnd">
            <a:solidFill>
              <a:srgbClr val="00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10" name="Shape 587"/>
          <p:cNvSpPr/>
          <p:nvPr/>
        </p:nvSpPr>
        <p:spPr>
          <a:xfrm flipH="1">
            <a:off x="11431588" y="5508624"/>
            <a:ext cx="2109315" cy="1654177"/>
          </a:xfrm>
          <a:prstGeom prst="line">
            <a:avLst/>
          </a:prstGeom>
          <a:ln w="50800" cap="rnd">
            <a:solidFill>
              <a:srgbClr val="FF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grpSp>
        <p:nvGrpSpPr>
          <p:cNvPr id="313" name="Shape 588"/>
          <p:cNvGrpSpPr/>
          <p:nvPr/>
        </p:nvGrpSpPr>
        <p:grpSpPr>
          <a:xfrm>
            <a:off x="1244599" y="7658100"/>
            <a:ext cx="2743201" cy="596900"/>
            <a:chOff x="0" y="0"/>
            <a:chExt cx="2743199" cy="596900"/>
          </a:xfrm>
        </p:grpSpPr>
        <p:sp>
          <p:nvSpPr>
            <p:cNvPr id="311" name="Rectangle"/>
            <p:cNvSpPr/>
            <p:nvPr/>
          </p:nvSpPr>
          <p:spPr>
            <a:xfrm>
              <a:off x="-1" y="0"/>
              <a:ext cx="2743201" cy="596900"/>
            </a:xfrm>
            <a:prstGeom prst="rect">
              <a:avLst/>
            </a:prstGeom>
            <a:noFill/>
            <a:ln w="76200" cap="flat">
              <a:solidFill>
                <a:srgbClr val="00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30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312" name="print('Finis')"/>
            <p:cNvSpPr txBox="1"/>
            <p:nvPr/>
          </p:nvSpPr>
          <p:spPr>
            <a:xfrm>
              <a:off x="-1" y="88782"/>
              <a:ext cx="2743201" cy="41933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000">
                  <a:solidFill>
                    <a:srgbClr val="FFFFFF"/>
                  </a:solidFill>
                </a:defRPr>
              </a:lvl1pPr>
            </a:lstStyle>
            <a:p>
              <a:r>
                <a:t>print('Finis')</a:t>
              </a:r>
            </a:p>
          </p:txBody>
        </p:sp>
      </p:grpSp>
      <p:sp>
        <p:nvSpPr>
          <p:cNvPr id="314" name="Shape 589"/>
          <p:cNvSpPr txBox="1"/>
          <p:nvPr/>
        </p:nvSpPr>
        <p:spPr>
          <a:xfrm>
            <a:off x="4414837" y="2209681"/>
            <a:ext cx="725487" cy="419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3000">
                <a:solidFill>
                  <a:srgbClr val="FFFFFF"/>
                </a:solidFill>
              </a:defRPr>
            </a:lvl1pPr>
          </a:lstStyle>
          <a:p>
            <a:r>
              <a:t>Yes</a:t>
            </a:r>
          </a:p>
        </p:txBody>
      </p:sp>
      <p:sp>
        <p:nvSpPr>
          <p:cNvPr id="315" name="Shape 591"/>
          <p:cNvSpPr txBox="1"/>
          <p:nvPr/>
        </p:nvSpPr>
        <p:spPr>
          <a:xfrm>
            <a:off x="1652279" y="3710696"/>
            <a:ext cx="725400" cy="419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3000">
                <a:solidFill>
                  <a:srgbClr val="FFFFFF"/>
                </a:solidFill>
              </a:defRPr>
            </a:lvl1pPr>
          </a:lstStyle>
          <a:p>
            <a:r>
              <a:t>No</a:t>
            </a:r>
          </a:p>
        </p:txBody>
      </p:sp>
      <p:sp>
        <p:nvSpPr>
          <p:cNvPr id="316" name="Shape 591"/>
          <p:cNvSpPr txBox="1"/>
          <p:nvPr/>
        </p:nvSpPr>
        <p:spPr>
          <a:xfrm>
            <a:off x="1663560" y="6387254"/>
            <a:ext cx="725400" cy="4193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3000">
                <a:solidFill>
                  <a:srgbClr val="FFFFFF"/>
                </a:solidFill>
              </a:defRPr>
            </a:lvl1pPr>
          </a:lstStyle>
          <a:p>
            <a:r>
              <a:t>No</a:t>
            </a:r>
          </a:p>
        </p:txBody>
      </p:sp>
      <p:sp>
        <p:nvSpPr>
          <p:cNvPr id="317" name="Shape 589"/>
          <p:cNvSpPr txBox="1"/>
          <p:nvPr/>
        </p:nvSpPr>
        <p:spPr>
          <a:xfrm>
            <a:off x="4414837" y="4904141"/>
            <a:ext cx="725487" cy="419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3000">
                <a:solidFill>
                  <a:srgbClr val="FFFFFF"/>
                </a:solidFill>
              </a:defRPr>
            </a:lvl1pPr>
          </a:lstStyle>
          <a:p>
            <a:r>
              <a:t>Yes</a:t>
            </a:r>
          </a:p>
        </p:txBody>
      </p:sp>
    </p:spTree>
  </p:cSld>
  <p:clrMapOvr>
    <a:masterClrMapping/>
  </p:clrMapOvr>
  <p:transition spd="med"/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Shape 596"/>
          <p:cNvSpPr txBox="1">
            <a:spLocks noGrp="1"/>
          </p:cNvSpPr>
          <p:nvPr>
            <p:ph type="title"/>
          </p:nvPr>
        </p:nvSpPr>
        <p:spPr>
          <a:xfrm>
            <a:off x="5889607" y="768095"/>
            <a:ext cx="9553593" cy="136550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600">
                <a:solidFill>
                  <a:srgbClr val="FFD966"/>
                </a:solidFill>
              </a:defRPr>
            </a:lvl1pPr>
          </a:lstStyle>
          <a:p>
            <a:r>
              <a:t>Repeated Steps</a:t>
            </a:r>
          </a:p>
        </p:txBody>
      </p:sp>
      <p:sp>
        <p:nvSpPr>
          <p:cNvPr id="320" name="Shape 597"/>
          <p:cNvSpPr txBox="1"/>
          <p:nvPr/>
        </p:nvSpPr>
        <p:spPr>
          <a:xfrm>
            <a:off x="13337271" y="2413809"/>
            <a:ext cx="1993801" cy="42522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3600">
                <a:solidFill>
                  <a:srgbClr val="FFFFFF"/>
                </a:solidFill>
              </a:defRPr>
            </a:pPr>
            <a:r>
              <a:t>Output:</a:t>
            </a:r>
            <a:endParaRPr>
              <a:solidFill>
                <a:srgbClr val="000000"/>
              </a:solidFill>
            </a:endParaRPr>
          </a:p>
          <a:p>
            <a:pPr algn="ctr">
              <a:defRPr sz="3600">
                <a:solidFill>
                  <a:srgbClr val="FF00FF"/>
                </a:solidFill>
              </a:defRPr>
            </a:pP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00"/>
                </a:solidFill>
              </a:defRPr>
            </a:pPr>
            <a:r>
              <a:t>5</a:t>
            </a: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00"/>
                </a:solidFill>
              </a:defRPr>
            </a:pPr>
            <a:r>
              <a:t>4</a:t>
            </a: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00"/>
                </a:solidFill>
              </a:defRPr>
            </a:pPr>
            <a:r>
              <a:t>3</a:t>
            </a: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00"/>
                </a:solidFill>
              </a:defRPr>
            </a:pPr>
            <a:r>
              <a:t>2</a:t>
            </a: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00"/>
                </a:solidFill>
              </a:defRPr>
            </a:pPr>
            <a:r>
              <a:t>1</a:t>
            </a: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00"/>
                </a:solidFill>
              </a:defRPr>
            </a:pPr>
            <a:r>
              <a:t>Blastoff!</a:t>
            </a:r>
          </a:p>
        </p:txBody>
      </p:sp>
      <p:sp>
        <p:nvSpPr>
          <p:cNvPr id="321" name="Shape 598"/>
          <p:cNvSpPr txBox="1"/>
          <p:nvPr/>
        </p:nvSpPr>
        <p:spPr>
          <a:xfrm>
            <a:off x="7491961" y="2937194"/>
            <a:ext cx="3895179" cy="3225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3600">
                <a:solidFill>
                  <a:srgbClr val="FFFFFF"/>
                </a:solidFill>
              </a:defRPr>
            </a:pPr>
            <a:r>
              <a:t>Program:</a:t>
            </a:r>
            <a:endParaRPr>
              <a:solidFill>
                <a:srgbClr val="000000"/>
              </a:solidFill>
            </a:endParaRPr>
          </a:p>
          <a:p>
            <a:pPr algn="ctr">
              <a:defRPr sz="3600">
                <a:solidFill>
                  <a:srgbClr val="FF7F00"/>
                </a:solidFill>
              </a:defRPr>
            </a:pP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n = 5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while</a:t>
            </a:r>
            <a:r>
              <a:rPr>
                <a:solidFill>
                  <a:srgbClr val="00FF00"/>
                </a:solidFill>
              </a:rPr>
              <a:t> n &gt; 0</a:t>
            </a:r>
            <a:r>
              <a:t> :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print(</a:t>
            </a:r>
            <a:r>
              <a:rPr>
                <a:solidFill>
                  <a:srgbClr val="00FF00"/>
                </a:solidFill>
              </a:rPr>
              <a:t>n</a:t>
            </a:r>
            <a:r>
              <a:t>)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</a:t>
            </a:r>
            <a:r>
              <a:rPr>
                <a:solidFill>
                  <a:srgbClr val="00FF00"/>
                </a:solidFill>
              </a:rPr>
              <a:t>n = n – 1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print(</a:t>
            </a:r>
            <a:r>
              <a:rPr>
                <a:solidFill>
                  <a:srgbClr val="00FF00"/>
                </a:solidFill>
              </a:rPr>
              <a:t>'Blastoff!'</a:t>
            </a:r>
            <a:r>
              <a:rPr b="1"/>
              <a:t>)</a:t>
            </a:r>
          </a:p>
        </p:txBody>
      </p:sp>
      <p:sp>
        <p:nvSpPr>
          <p:cNvPr id="322" name="Shape 599"/>
          <p:cNvSpPr/>
          <p:nvPr/>
        </p:nvSpPr>
        <p:spPr>
          <a:xfrm flipH="1" flipV="1">
            <a:off x="2838336" y="1981647"/>
            <a:ext cx="14401" cy="566700"/>
          </a:xfrm>
          <a:prstGeom prst="line">
            <a:avLst/>
          </a:prstGeom>
          <a:ln w="76200" cap="rnd">
            <a:solidFill>
              <a:srgbClr val="00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23" name="Shape 600"/>
          <p:cNvSpPr/>
          <p:nvPr/>
        </p:nvSpPr>
        <p:spPr>
          <a:xfrm flipH="1">
            <a:off x="10129838" y="3846243"/>
            <a:ext cx="2720974" cy="1231902"/>
          </a:xfrm>
          <a:prstGeom prst="line">
            <a:avLst/>
          </a:prstGeom>
          <a:ln w="50800" cap="rnd">
            <a:solidFill>
              <a:srgbClr val="FF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grpSp>
        <p:nvGrpSpPr>
          <p:cNvPr id="326" name="Shape 601"/>
          <p:cNvGrpSpPr/>
          <p:nvPr/>
        </p:nvGrpSpPr>
        <p:grpSpPr>
          <a:xfrm>
            <a:off x="1422400" y="2527567"/>
            <a:ext cx="2870101" cy="1269900"/>
            <a:chOff x="0" y="0"/>
            <a:chExt cx="2870100" cy="1269899"/>
          </a:xfrm>
        </p:grpSpPr>
        <p:sp>
          <p:nvSpPr>
            <p:cNvPr id="324" name="Polygon"/>
            <p:cNvSpPr/>
            <p:nvPr/>
          </p:nvSpPr>
          <p:spPr>
            <a:xfrm>
              <a:off x="0" y="0"/>
              <a:ext cx="2870101" cy="1269900"/>
            </a:xfrm>
            <a:prstGeom prst="diamond">
              <a:avLst/>
            </a:prstGeom>
            <a:noFill/>
            <a:ln w="76200" cap="flat">
              <a:solidFill>
                <a:srgbClr val="00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325" name="n &gt; 0 ?"/>
            <p:cNvSpPr txBox="1"/>
            <p:nvPr/>
          </p:nvSpPr>
          <p:spPr>
            <a:xfrm>
              <a:off x="717525" y="375728"/>
              <a:ext cx="1435051" cy="51844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600">
                  <a:solidFill>
                    <a:srgbClr val="FFFFFF"/>
                  </a:solidFill>
                </a:defRPr>
              </a:lvl1pPr>
            </a:lstStyle>
            <a:p>
              <a:r>
                <a:t>n &gt; 0 ?</a:t>
              </a:r>
            </a:p>
          </p:txBody>
        </p:sp>
      </p:grpSp>
      <p:sp>
        <p:nvSpPr>
          <p:cNvPr id="327" name="Shape 602"/>
          <p:cNvSpPr/>
          <p:nvPr/>
        </p:nvSpPr>
        <p:spPr>
          <a:xfrm flipV="1">
            <a:off x="2836860" y="3797516"/>
            <a:ext cx="20701" cy="2317800"/>
          </a:xfrm>
          <a:prstGeom prst="line">
            <a:avLst/>
          </a:prstGeom>
          <a:ln w="76200" cap="rnd">
            <a:solidFill>
              <a:srgbClr val="00FFFF"/>
            </a:solidFill>
            <a:miter/>
            <a:tail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28" name="Shape 603"/>
          <p:cNvSpPr/>
          <p:nvPr/>
        </p:nvSpPr>
        <p:spPr>
          <a:xfrm flipH="1" flipV="1">
            <a:off x="4279898" y="3156216"/>
            <a:ext cx="777876" cy="15876"/>
          </a:xfrm>
          <a:prstGeom prst="line">
            <a:avLst/>
          </a:prstGeom>
          <a:ln w="76200" cap="rnd">
            <a:solidFill>
              <a:srgbClr val="00FFFF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29" name="Shape 604"/>
          <p:cNvSpPr/>
          <p:nvPr/>
        </p:nvSpPr>
        <p:spPr>
          <a:xfrm flipV="1">
            <a:off x="5024437" y="3156217"/>
            <a:ext cx="15876" cy="644525"/>
          </a:xfrm>
          <a:prstGeom prst="line">
            <a:avLst/>
          </a:prstGeom>
          <a:ln w="76200" cap="rnd">
            <a:solidFill>
              <a:srgbClr val="00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30" name="Shape 605"/>
          <p:cNvSpPr/>
          <p:nvPr/>
        </p:nvSpPr>
        <p:spPr>
          <a:xfrm flipH="1">
            <a:off x="5024449" y="5778866"/>
            <a:ext cx="4801" cy="300001"/>
          </a:xfrm>
          <a:prstGeom prst="line">
            <a:avLst/>
          </a:prstGeom>
          <a:ln w="76200" cap="rnd">
            <a:solidFill>
              <a:srgbClr val="00FFFF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31" name="Shape 607"/>
          <p:cNvSpPr/>
          <p:nvPr/>
        </p:nvSpPr>
        <p:spPr>
          <a:xfrm>
            <a:off x="2852736" y="6081979"/>
            <a:ext cx="2187601" cy="14400"/>
          </a:xfrm>
          <a:prstGeom prst="line">
            <a:avLst/>
          </a:prstGeom>
          <a:ln w="76200" cap="rnd">
            <a:solidFill>
              <a:srgbClr val="00FFFF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32" name="Shape 608"/>
          <p:cNvSpPr/>
          <p:nvPr/>
        </p:nvSpPr>
        <p:spPr>
          <a:xfrm flipH="1">
            <a:off x="1066800" y="3172091"/>
            <a:ext cx="396875" cy="3175"/>
          </a:xfrm>
          <a:prstGeom prst="line">
            <a:avLst/>
          </a:prstGeom>
          <a:ln w="76200" cap="rnd">
            <a:solidFill>
              <a:srgbClr val="00FFFF"/>
            </a:solidFill>
            <a:miter/>
            <a:tail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33" name="Shape 609"/>
          <p:cNvSpPr/>
          <p:nvPr/>
        </p:nvSpPr>
        <p:spPr>
          <a:xfrm flipV="1">
            <a:off x="2840035" y="6559940"/>
            <a:ext cx="15899" cy="644401"/>
          </a:xfrm>
          <a:prstGeom prst="line">
            <a:avLst/>
          </a:prstGeom>
          <a:ln w="76200" cap="rnd">
            <a:solidFill>
              <a:srgbClr val="00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34" name="Shape 610"/>
          <p:cNvSpPr/>
          <p:nvPr/>
        </p:nvSpPr>
        <p:spPr>
          <a:xfrm flipV="1">
            <a:off x="1100137" y="3156217"/>
            <a:ext cx="2" cy="3478787"/>
          </a:xfrm>
          <a:prstGeom prst="line">
            <a:avLst/>
          </a:prstGeom>
          <a:ln w="76200" cap="rnd">
            <a:solidFill>
              <a:srgbClr val="00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35" name="Shape 611"/>
          <p:cNvSpPr/>
          <p:nvPr/>
        </p:nvSpPr>
        <p:spPr>
          <a:xfrm>
            <a:off x="1084262" y="6577279"/>
            <a:ext cx="1752601" cy="1"/>
          </a:xfrm>
          <a:prstGeom prst="line">
            <a:avLst/>
          </a:prstGeom>
          <a:ln w="76200" cap="rnd">
            <a:solidFill>
              <a:srgbClr val="00FFFF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36" name="Shape 612"/>
          <p:cNvSpPr/>
          <p:nvPr/>
        </p:nvSpPr>
        <p:spPr>
          <a:xfrm flipH="1" flipV="1">
            <a:off x="11387138" y="6115315"/>
            <a:ext cx="1692274" cy="336017"/>
          </a:xfrm>
          <a:prstGeom prst="line">
            <a:avLst/>
          </a:prstGeom>
          <a:ln w="50800" cap="rnd">
            <a:solidFill>
              <a:srgbClr val="FF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37" name="Shape 613"/>
          <p:cNvSpPr txBox="1"/>
          <p:nvPr/>
        </p:nvSpPr>
        <p:spPr>
          <a:xfrm>
            <a:off x="5158135" y="7131032"/>
            <a:ext cx="10585501" cy="9265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>
              <a:defRPr sz="3200">
                <a:solidFill>
                  <a:srgbClr val="FFFFFF"/>
                </a:solidFill>
              </a:defRPr>
            </a:pPr>
            <a:r>
              <a:t>Loops (repeated steps) have </a:t>
            </a:r>
            <a:r>
              <a:rPr>
                <a:solidFill>
                  <a:srgbClr val="00FF00"/>
                </a:solidFill>
              </a:rPr>
              <a:t>iteration variables</a:t>
            </a:r>
            <a:r>
              <a:rPr>
                <a:solidFill>
                  <a:srgbClr val="FF0000"/>
                </a:solidFill>
              </a:rPr>
              <a:t> </a:t>
            </a:r>
            <a:r>
              <a:t>that change each time through a loop.</a:t>
            </a:r>
          </a:p>
        </p:txBody>
      </p:sp>
      <p:sp>
        <p:nvSpPr>
          <p:cNvPr id="338" name="Shape 614"/>
          <p:cNvSpPr txBox="1"/>
          <p:nvPr/>
        </p:nvSpPr>
        <p:spPr>
          <a:xfrm>
            <a:off x="542925" y="2465195"/>
            <a:ext cx="723900" cy="5184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3600">
                <a:solidFill>
                  <a:srgbClr val="FFFFFF"/>
                </a:solidFill>
              </a:defRPr>
            </a:lvl1pPr>
          </a:lstStyle>
          <a:p>
            <a:r>
              <a:t>No</a:t>
            </a:r>
          </a:p>
        </p:txBody>
      </p:sp>
      <p:grpSp>
        <p:nvGrpSpPr>
          <p:cNvPr id="341" name="Shape 615"/>
          <p:cNvGrpSpPr/>
          <p:nvPr/>
        </p:nvGrpSpPr>
        <p:grpSpPr>
          <a:xfrm>
            <a:off x="1338265" y="7175766"/>
            <a:ext cx="3051276" cy="749400"/>
            <a:chOff x="0" y="0"/>
            <a:chExt cx="3051274" cy="749399"/>
          </a:xfrm>
        </p:grpSpPr>
        <p:sp>
          <p:nvSpPr>
            <p:cNvPr id="339" name="Rectangle"/>
            <p:cNvSpPr/>
            <p:nvPr/>
          </p:nvSpPr>
          <p:spPr>
            <a:xfrm>
              <a:off x="-1" y="-1"/>
              <a:ext cx="3051276" cy="749401"/>
            </a:xfrm>
            <a:prstGeom prst="rect">
              <a:avLst/>
            </a:prstGeom>
            <a:noFill/>
            <a:ln w="76200" cap="flat">
              <a:solidFill>
                <a:srgbClr val="00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35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340" name="print('Blastoff')"/>
            <p:cNvSpPr txBox="1"/>
            <p:nvPr/>
          </p:nvSpPr>
          <p:spPr>
            <a:xfrm>
              <a:off x="-1" y="127970"/>
              <a:ext cx="3051276" cy="49345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500">
                  <a:solidFill>
                    <a:srgbClr val="FFFFFF"/>
                  </a:solidFill>
                </a:defRPr>
              </a:lvl1pPr>
            </a:lstStyle>
            <a:p>
              <a:r>
                <a:t>print('Blastoff')</a:t>
              </a:r>
            </a:p>
          </p:txBody>
        </p:sp>
      </p:grpSp>
      <p:sp>
        <p:nvSpPr>
          <p:cNvPr id="342" name="Shape 616"/>
          <p:cNvSpPr txBox="1"/>
          <p:nvPr/>
        </p:nvSpPr>
        <p:spPr>
          <a:xfrm>
            <a:off x="4659310" y="2465195"/>
            <a:ext cx="997650" cy="5184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3600">
                <a:solidFill>
                  <a:srgbClr val="FFFFFF"/>
                </a:solidFill>
              </a:defRPr>
            </a:lvl1pPr>
          </a:lstStyle>
          <a:p>
            <a:r>
              <a:t>Yes</a:t>
            </a:r>
          </a:p>
        </p:txBody>
      </p:sp>
      <p:grpSp>
        <p:nvGrpSpPr>
          <p:cNvPr id="345" name="Shape 617"/>
          <p:cNvGrpSpPr/>
          <p:nvPr/>
        </p:nvGrpSpPr>
        <p:grpSpPr>
          <a:xfrm>
            <a:off x="1396999" y="1232167"/>
            <a:ext cx="2921101" cy="749400"/>
            <a:chOff x="0" y="0"/>
            <a:chExt cx="2921099" cy="749399"/>
          </a:xfrm>
        </p:grpSpPr>
        <p:sp>
          <p:nvSpPr>
            <p:cNvPr id="343" name="Rectangle"/>
            <p:cNvSpPr/>
            <p:nvPr/>
          </p:nvSpPr>
          <p:spPr>
            <a:xfrm>
              <a:off x="-1" y="-1"/>
              <a:ext cx="2921101" cy="749401"/>
            </a:xfrm>
            <a:prstGeom prst="rect">
              <a:avLst/>
            </a:prstGeom>
            <a:noFill/>
            <a:ln w="76200" cap="flat">
              <a:solidFill>
                <a:srgbClr val="00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344" name="n = 5"/>
            <p:cNvSpPr txBox="1"/>
            <p:nvPr/>
          </p:nvSpPr>
          <p:spPr>
            <a:xfrm>
              <a:off x="-1" y="127970"/>
              <a:ext cx="2921101" cy="49345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500">
                  <a:solidFill>
                    <a:srgbClr val="FFFFFF"/>
                  </a:solidFill>
                </a:defRPr>
              </a:lvl1pPr>
            </a:lstStyle>
            <a:p>
              <a:r>
                <a:t>n = 5</a:t>
              </a:r>
            </a:p>
          </p:txBody>
        </p:sp>
      </p:grpSp>
      <p:grpSp>
        <p:nvGrpSpPr>
          <p:cNvPr id="348" name="Shape 618"/>
          <p:cNvGrpSpPr/>
          <p:nvPr/>
        </p:nvGrpSpPr>
        <p:grpSpPr>
          <a:xfrm>
            <a:off x="3581399" y="3810267"/>
            <a:ext cx="2921101" cy="749400"/>
            <a:chOff x="0" y="0"/>
            <a:chExt cx="2921099" cy="749399"/>
          </a:xfrm>
        </p:grpSpPr>
        <p:sp>
          <p:nvSpPr>
            <p:cNvPr id="346" name="Rectangle"/>
            <p:cNvSpPr/>
            <p:nvPr/>
          </p:nvSpPr>
          <p:spPr>
            <a:xfrm>
              <a:off x="-1" y="-1"/>
              <a:ext cx="2921101" cy="749401"/>
            </a:xfrm>
            <a:prstGeom prst="rect">
              <a:avLst/>
            </a:prstGeom>
            <a:noFill/>
            <a:ln w="76200" cap="flat">
              <a:solidFill>
                <a:srgbClr val="00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347" name="print(n)"/>
            <p:cNvSpPr txBox="1"/>
            <p:nvPr/>
          </p:nvSpPr>
          <p:spPr>
            <a:xfrm>
              <a:off x="-1" y="127970"/>
              <a:ext cx="2921101" cy="49345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500">
                  <a:solidFill>
                    <a:srgbClr val="FFFFFF"/>
                  </a:solidFill>
                </a:defRPr>
              </a:lvl1pPr>
            </a:lstStyle>
            <a:p>
              <a:r>
                <a:t>print(n)</a:t>
              </a:r>
            </a:p>
          </p:txBody>
        </p:sp>
      </p:grpSp>
      <p:sp>
        <p:nvSpPr>
          <p:cNvPr id="349" name="Shape 619"/>
          <p:cNvSpPr/>
          <p:nvPr/>
        </p:nvSpPr>
        <p:spPr>
          <a:xfrm flipH="1" flipV="1">
            <a:off x="10129838" y="5206731"/>
            <a:ext cx="2798762" cy="636589"/>
          </a:xfrm>
          <a:prstGeom prst="line">
            <a:avLst/>
          </a:prstGeom>
          <a:ln w="50800" cap="rnd">
            <a:solidFill>
              <a:srgbClr val="FF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grpSp>
        <p:nvGrpSpPr>
          <p:cNvPr id="352" name="Shape 606"/>
          <p:cNvGrpSpPr/>
          <p:nvPr/>
        </p:nvGrpSpPr>
        <p:grpSpPr>
          <a:xfrm>
            <a:off x="3568699" y="5029467"/>
            <a:ext cx="2921101" cy="749400"/>
            <a:chOff x="0" y="0"/>
            <a:chExt cx="2921099" cy="749399"/>
          </a:xfrm>
        </p:grpSpPr>
        <p:sp>
          <p:nvSpPr>
            <p:cNvPr id="350" name="Rectangle"/>
            <p:cNvSpPr/>
            <p:nvPr/>
          </p:nvSpPr>
          <p:spPr>
            <a:xfrm>
              <a:off x="-1" y="-1"/>
              <a:ext cx="2921101" cy="749401"/>
            </a:xfrm>
            <a:prstGeom prst="rect">
              <a:avLst/>
            </a:prstGeom>
            <a:noFill/>
            <a:ln w="76200" cap="flat">
              <a:solidFill>
                <a:srgbClr val="00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351" name="n = n -1"/>
            <p:cNvSpPr txBox="1"/>
            <p:nvPr/>
          </p:nvSpPr>
          <p:spPr>
            <a:xfrm>
              <a:off x="-1" y="127970"/>
              <a:ext cx="2921101" cy="49345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500">
                  <a:solidFill>
                    <a:srgbClr val="FFFFFF"/>
                  </a:solidFill>
                </a:defRPr>
              </a:lvl1pPr>
            </a:lstStyle>
            <a:p>
              <a:r>
                <a:t> n = n -1</a:t>
              </a:r>
            </a:p>
          </p:txBody>
        </p:sp>
      </p:grpSp>
      <p:sp>
        <p:nvSpPr>
          <p:cNvPr id="354" name="Shape 620"/>
          <p:cNvSpPr/>
          <p:nvPr/>
        </p:nvSpPr>
        <p:spPr>
          <a:xfrm>
            <a:off x="5033549" y="4597667"/>
            <a:ext cx="4102" cy="393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21600" y="0"/>
                </a:lnTo>
              </a:path>
            </a:pathLst>
          </a:custGeom>
          <a:ln w="76200" cap="rnd">
            <a:solidFill>
              <a:srgbClr val="00FFFF"/>
            </a:solidFill>
            <a:miter/>
            <a:headEnd type="stealth"/>
          </a:ln>
        </p:spPr>
        <p:txBody>
          <a:bodyPr/>
          <a:lstStyle/>
          <a:p>
            <a:endParaRPr/>
          </a:p>
        </p:txBody>
      </p:sp>
    </p:spTree>
  </p:cSld>
  <p:clrMapOvr>
    <a:masterClrMapping/>
  </p:clrMapOvr>
  <p:transition spd="med"/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Shape 625"/>
          <p:cNvSpPr txBox="1"/>
          <p:nvPr/>
        </p:nvSpPr>
        <p:spPr>
          <a:xfrm>
            <a:off x="998325" y="882245"/>
            <a:ext cx="10035300" cy="7340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name = </a:t>
            </a:r>
            <a:r>
              <a:rPr>
                <a:solidFill>
                  <a:srgbClr val="FFFFFF"/>
                </a:solidFill>
              </a:rPr>
              <a:t>input</a:t>
            </a:r>
            <a:r>
              <a:t>('Enter file:')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handle = open(name, 'r')</a:t>
            </a:r>
            <a:endParaRPr>
              <a:solidFill>
                <a:srgbClr val="000000"/>
              </a:solidFill>
            </a:endParaRPr>
          </a:p>
          <a:p>
            <a:pPr algn="ctr"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counts = dict()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A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for line in handle: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A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words = line.split()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A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for word in words: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A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counts[word] = counts.get(word,0) + 1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bigcount = None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bigword = None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A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for word,count in counts.items():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93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if bigcount is None or count &gt; bigcount: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93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bigword = word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93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bigcount = count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print(bigword, bigcount)</a:t>
            </a:r>
          </a:p>
        </p:txBody>
      </p:sp>
      <p:sp>
        <p:nvSpPr>
          <p:cNvPr id="357" name="Shape 626"/>
          <p:cNvSpPr txBox="1"/>
          <p:nvPr/>
        </p:nvSpPr>
        <p:spPr>
          <a:xfrm>
            <a:off x="12081999" y="1132713"/>
            <a:ext cx="2550300" cy="17022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>
              <a:lnSpc>
                <a:spcPct val="150000"/>
              </a:lnSpc>
              <a:defRPr sz="3000">
                <a:solidFill>
                  <a:srgbClr val="FFFF00"/>
                </a:solidFill>
              </a:defRPr>
            </a:pPr>
            <a:r>
              <a:t>Sequential</a:t>
            </a:r>
            <a:endParaRPr>
              <a:solidFill>
                <a:srgbClr val="000000"/>
              </a:solidFill>
            </a:endParaRPr>
          </a:p>
          <a:p>
            <a:pPr algn="ctr">
              <a:lnSpc>
                <a:spcPct val="150000"/>
              </a:lnSpc>
              <a:defRPr sz="3000">
                <a:solidFill>
                  <a:srgbClr val="00FF00"/>
                </a:solidFill>
              </a:defRPr>
            </a:pPr>
            <a:r>
              <a:t>Repeated</a:t>
            </a:r>
            <a:endParaRPr>
              <a:solidFill>
                <a:srgbClr val="000000"/>
              </a:solidFill>
            </a:endParaRPr>
          </a:p>
          <a:p>
            <a:pPr algn="ctr">
              <a:lnSpc>
                <a:spcPct val="150000"/>
              </a:lnSpc>
              <a:defRPr sz="3000">
                <a:solidFill>
                  <a:srgbClr val="FF9900"/>
                </a:solidFill>
              </a:defRPr>
            </a:pPr>
            <a:r>
              <a:t>Conditional</a:t>
            </a:r>
          </a:p>
        </p:txBody>
      </p:sp>
    </p:spTree>
  </p:cSld>
  <p:clrMapOvr>
    <a:masterClrMapping/>
  </p:clrMapOvr>
  <p:transition spd="med"/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Shape 625"/>
          <p:cNvSpPr txBox="1"/>
          <p:nvPr/>
        </p:nvSpPr>
        <p:spPr>
          <a:xfrm>
            <a:off x="998325" y="882245"/>
            <a:ext cx="10035300" cy="7340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name = </a:t>
            </a:r>
            <a:r>
              <a:rPr>
                <a:solidFill>
                  <a:srgbClr val="FFFFFF"/>
                </a:solidFill>
              </a:rPr>
              <a:t>input</a:t>
            </a:r>
            <a:r>
              <a:t>('Enter file:')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handle = open(name, 'r')</a:t>
            </a:r>
            <a:endParaRPr>
              <a:solidFill>
                <a:srgbClr val="000000"/>
              </a:solidFill>
            </a:endParaRPr>
          </a:p>
          <a:p>
            <a:pPr algn="ctr"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counts = dict()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for line in handle: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words = line.split()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for word in words: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counts[word] = counts.get(word,0) + 1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bigcount = None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bigword = None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for word,count in counts.items():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</a:t>
            </a:r>
            <a:r>
              <a:rPr>
                <a:solidFill>
                  <a:srgbClr val="FF7F00"/>
                </a:solidFill>
              </a:rPr>
              <a:t>  </a:t>
            </a:r>
            <a:r>
              <a:rPr>
                <a:solidFill>
                  <a:srgbClr val="FF9900"/>
                </a:solidFill>
              </a:rPr>
              <a:t>if bigcount is None or count &gt; bigcount: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bigword = word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bigcount = count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print(bigword, bigcount)</a:t>
            </a:r>
          </a:p>
        </p:txBody>
      </p:sp>
      <p:grpSp>
        <p:nvGrpSpPr>
          <p:cNvPr id="362" name="Shape 632"/>
          <p:cNvGrpSpPr/>
          <p:nvPr/>
        </p:nvGrpSpPr>
        <p:grpSpPr>
          <a:xfrm>
            <a:off x="12003133" y="712245"/>
            <a:ext cx="3996001" cy="7680598"/>
            <a:chOff x="0" y="0"/>
            <a:chExt cx="3995999" cy="7680597"/>
          </a:xfrm>
        </p:grpSpPr>
        <p:sp>
          <p:nvSpPr>
            <p:cNvPr id="360" name="Rectangle"/>
            <p:cNvSpPr/>
            <p:nvPr/>
          </p:nvSpPr>
          <p:spPr>
            <a:xfrm>
              <a:off x="0" y="0"/>
              <a:ext cx="3996000" cy="7680598"/>
            </a:xfrm>
            <a:prstGeom prst="rect">
              <a:avLst/>
            </a:prstGeom>
            <a:noFill/>
            <a:ln w="9525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15000"/>
                </a:lnSpc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361" name="A short Python “Story” about how to count words in a file…"/>
            <p:cNvSpPr txBox="1"/>
            <p:nvPr/>
          </p:nvSpPr>
          <p:spPr>
            <a:xfrm>
              <a:off x="0" y="415078"/>
              <a:ext cx="3996000" cy="68504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lnSpc>
                  <a:spcPct val="115000"/>
                </a:lnSpc>
                <a:defRPr sz="3000">
                  <a:solidFill>
                    <a:srgbClr val="FFFF00"/>
                  </a:solidFill>
                </a:defRPr>
              </a:pPr>
              <a:r>
                <a:t>A short Python “Story” about how to count words in a file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lnSpc>
                  <a:spcPct val="115000"/>
                </a:lnSpc>
                <a:defRPr sz="3000">
                  <a:solidFill>
                    <a:srgbClr val="00FF00"/>
                  </a:solidFill>
                </a:defRPr>
              </a:pPr>
              <a:endParaRPr>
                <a:solidFill>
                  <a:srgbClr val="000000"/>
                </a:solidFill>
              </a:endParaRPr>
            </a:p>
            <a:p>
              <a:pPr algn="ctr">
                <a:lnSpc>
                  <a:spcPct val="115000"/>
                </a:lnSpc>
                <a:defRPr sz="3000">
                  <a:solidFill>
                    <a:srgbClr val="FFFFFF"/>
                  </a:solidFill>
                </a:defRPr>
              </a:pPr>
              <a:r>
                <a:t>A word used to read data from a user 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lnSpc>
                  <a:spcPct val="115000"/>
                </a:lnSpc>
                <a:defRPr sz="3000">
                  <a:solidFill>
                    <a:srgbClr val="00FFFF"/>
                  </a:solidFill>
                </a:defRPr>
              </a:pPr>
              <a:endParaRPr>
                <a:solidFill>
                  <a:srgbClr val="000000"/>
                </a:solidFill>
              </a:endParaRPr>
            </a:p>
            <a:p>
              <a:pPr algn="ctr">
                <a:lnSpc>
                  <a:spcPct val="115000"/>
                </a:lnSpc>
                <a:defRPr sz="3000">
                  <a:solidFill>
                    <a:srgbClr val="00FA00"/>
                  </a:solidFill>
                </a:defRPr>
              </a:pPr>
              <a:r>
                <a:t>A sentence about updating one of the many counts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lnSpc>
                  <a:spcPct val="115000"/>
                </a:lnSpc>
                <a:defRPr sz="3000">
                  <a:solidFill>
                    <a:srgbClr val="FF00FF"/>
                  </a:solidFill>
                </a:defRPr>
              </a:pPr>
              <a:endParaRPr>
                <a:solidFill>
                  <a:srgbClr val="000000"/>
                </a:solidFill>
              </a:endParaRPr>
            </a:p>
            <a:p>
              <a:pPr algn="ctr">
                <a:lnSpc>
                  <a:spcPct val="115000"/>
                </a:lnSpc>
                <a:defRPr sz="3000">
                  <a:solidFill>
                    <a:srgbClr val="FF9900"/>
                  </a:solidFill>
                </a:defRPr>
              </a:pPr>
              <a:r>
                <a:t>A paragraph about how  to find the largest item in a list</a:t>
              </a:r>
            </a:p>
          </p:txBody>
        </p:sp>
      </p:grpSp>
      <p:sp>
        <p:nvSpPr>
          <p:cNvPr id="363" name="Shape 633"/>
          <p:cNvSpPr/>
          <p:nvPr/>
        </p:nvSpPr>
        <p:spPr>
          <a:xfrm>
            <a:off x="6986588" y="1211262"/>
            <a:ext cx="5172986" cy="2324000"/>
          </a:xfrm>
          <a:prstGeom prst="line">
            <a:avLst/>
          </a:prstGeom>
          <a:ln w="38100">
            <a:solidFill>
              <a:srgbClr val="FFFFFF"/>
            </a:solidFill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64" name="Shape 634"/>
          <p:cNvSpPr/>
          <p:nvPr/>
        </p:nvSpPr>
        <p:spPr>
          <a:xfrm>
            <a:off x="9890125" y="4349750"/>
            <a:ext cx="2269450" cy="857115"/>
          </a:xfrm>
          <a:prstGeom prst="line">
            <a:avLst/>
          </a:prstGeom>
          <a:ln w="38100">
            <a:solidFill>
              <a:srgbClr val="FFFF00"/>
            </a:solidFill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65" name="Shape 635"/>
          <p:cNvSpPr/>
          <p:nvPr/>
        </p:nvSpPr>
        <p:spPr>
          <a:xfrm>
            <a:off x="10214043" y="6887182"/>
            <a:ext cx="1789091" cy="680938"/>
          </a:xfrm>
          <a:prstGeom prst="line">
            <a:avLst/>
          </a:prstGeom>
          <a:ln w="38100">
            <a:solidFill>
              <a:srgbClr val="FF9900"/>
            </a:solidFill>
          </a:ln>
        </p:spPr>
        <p:txBody>
          <a:bodyPr lIns="45719" rIns="45719"/>
          <a:lstStyle/>
          <a:p>
            <a:endParaRPr/>
          </a:p>
        </p:txBody>
      </p:sp>
    </p:spTree>
  </p:cSld>
  <p:clrMapOvr>
    <a:masterClrMapping/>
  </p:clrMapOvr>
  <p:transition spd="med"/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Shape 640"/>
          <p:cNvSpPr txBox="1">
            <a:spLocks noGrp="1"/>
          </p:cNvSpPr>
          <p:nvPr>
            <p:ph type="title"/>
          </p:nvPr>
        </p:nvSpPr>
        <p:spPr>
          <a:xfrm>
            <a:off x="812800" y="768095"/>
            <a:ext cx="14630400" cy="136550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600">
                <a:solidFill>
                  <a:srgbClr val="FFD966"/>
                </a:solidFill>
              </a:defRPr>
            </a:lvl1pPr>
          </a:lstStyle>
          <a:p>
            <a:r>
              <a:rPr dirty="0"/>
              <a:t>Summary</a:t>
            </a:r>
          </a:p>
        </p:txBody>
      </p:sp>
      <p:sp>
        <p:nvSpPr>
          <p:cNvPr id="368" name="Shape 641"/>
          <p:cNvSpPr txBox="1">
            <a:spLocks noGrp="1"/>
          </p:cNvSpPr>
          <p:nvPr>
            <p:ph type="body" idx="1"/>
          </p:nvPr>
        </p:nvSpPr>
        <p:spPr>
          <a:xfrm>
            <a:off x="812800" y="2138869"/>
            <a:ext cx="14630400" cy="5109732"/>
          </a:xfrm>
          <a:prstGeom prst="rect">
            <a:avLst/>
          </a:prstGeom>
        </p:spPr>
        <p:txBody>
          <a:bodyPr lIns="38100" tIns="38100" rIns="38100" bIns="38100" anchor="ctr"/>
          <a:lstStyle>
            <a:lvl1pPr indent="-533400">
              <a:spcBef>
                <a:spcPts val="0"/>
              </a:spcBef>
              <a:buSzPct val="171000"/>
              <a:defRPr sz="3600"/>
            </a:lvl1pPr>
          </a:lstStyle>
          <a:p>
            <a:r>
              <a:rPr dirty="0"/>
              <a:t>That’s it! Please take a look at </a:t>
            </a:r>
            <a:r>
              <a:rPr lang="en-US" dirty="0"/>
              <a:t>the quiz I have assigned to you</a:t>
            </a:r>
            <a:r>
              <a:rPr dirty="0"/>
              <a:t>. ;) </a:t>
            </a:r>
          </a:p>
        </p:txBody>
      </p:sp>
    </p:spTree>
  </p:cSld>
  <p:clrMapOvr>
    <a:masterClrMapping/>
  </p:clrMapOvr>
  <p:transition spd="med"/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Shape 548"/>
          <p:cNvSpPr txBox="1">
            <a:spLocks noGrp="1"/>
          </p:cNvSpPr>
          <p:nvPr>
            <p:ph type="title"/>
          </p:nvPr>
        </p:nvSpPr>
        <p:spPr>
          <a:xfrm>
            <a:off x="812800" y="768095"/>
            <a:ext cx="14630400" cy="1365505"/>
          </a:xfrm>
          <a:prstGeom prst="rect">
            <a:avLst/>
          </a:prstGeom>
        </p:spPr>
        <p:txBody>
          <a:bodyPr anchor="ctr"/>
          <a:lstStyle>
            <a:lvl1pPr>
              <a:defRPr sz="3600">
                <a:solidFill>
                  <a:srgbClr val="FFFF00"/>
                </a:solidFill>
              </a:defRPr>
            </a:lvl1pPr>
          </a:lstStyle>
          <a:p>
            <a:r>
              <a:t>Acknowledgements / Contributions</a:t>
            </a:r>
          </a:p>
        </p:txBody>
      </p:sp>
      <p:sp>
        <p:nvSpPr>
          <p:cNvPr id="371" name="Shape 549"/>
          <p:cNvSpPr txBox="1"/>
          <p:nvPr/>
        </p:nvSpPr>
        <p:spPr>
          <a:xfrm>
            <a:off x="1155700" y="2171402"/>
            <a:ext cx="6797700" cy="39091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91424" tIns="91424" rIns="91424" bIns="91424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These slides are Copyright 2010-  Charles R. Severance (</a:t>
            </a:r>
            <a:r>
              <a:rPr u="sng">
                <a:solidFill>
                  <a:srgbClr val="009999"/>
                </a:solidFill>
                <a:uFill>
                  <a:solidFill>
                    <a:srgbClr val="009999"/>
                  </a:solidFill>
                </a:uFill>
                <a:hlinkClick r:id="rId2"/>
              </a:rPr>
              <a:t>www.dr-chuck.com</a:t>
            </a:r>
            <a:r>
              <a:t>) of the University of Michigan School of Information and made available under a Creative Commons Attribution 4.0 License.  Please maintain this last slide in all copies of the document to comply with the attribution requirements of the license.  If you make a change, feel free to add your name and organization to the list of contributors on this page as you republish the materials.</a:t>
            </a:r>
            <a:endParaRPr>
              <a:solidFill>
                <a:srgbClr val="000000"/>
              </a:solidFill>
            </a:endParaRPr>
          </a:p>
          <a:p>
            <a:pPr>
              <a:defRPr sz="1800">
                <a:solidFill>
                  <a:srgbClr val="FFFFFF"/>
                </a:solidFill>
              </a:defRPr>
            </a:pPr>
            <a:endParaRPr>
              <a:solidFill>
                <a:srgbClr val="000000"/>
              </a:solidFill>
            </a:endParaRP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Initial Development: Charles Severance, University of Michigan School of Information</a:t>
            </a:r>
            <a:endParaRPr>
              <a:solidFill>
                <a:srgbClr val="000000"/>
              </a:solidFill>
            </a:endParaRPr>
          </a:p>
          <a:p>
            <a:pPr>
              <a:defRPr sz="1800">
                <a:solidFill>
                  <a:srgbClr val="FFFFFF"/>
                </a:solidFill>
              </a:defRPr>
            </a:pPr>
            <a:endParaRPr>
              <a:solidFill>
                <a:srgbClr val="000000"/>
              </a:solidFill>
            </a:endParaRP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Slides condensed into an 8 deck series aimed at younger learners in China by Jeremy Pedersen.</a:t>
            </a:r>
          </a:p>
        </p:txBody>
      </p:sp>
      <p:pic>
        <p:nvPicPr>
          <p:cNvPr id="373" name="Shape 551" descr="Shape 551"/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897686" y="1170102"/>
            <a:ext cx="1968600" cy="66840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Title &amp; Subtitle">
  <a:themeElements>
    <a:clrScheme name="Title &amp; Subtitle">
      <a:dk1>
        <a:srgbClr val="000000"/>
      </a:dk1>
      <a:lt1>
        <a:srgbClr val="808080"/>
      </a:lt1>
      <a:dk2>
        <a:srgbClr val="A7A7A7"/>
      </a:dk2>
      <a:lt2>
        <a:srgbClr val="535353"/>
      </a:lt2>
      <a:accent1>
        <a:srgbClr val="BBE0E3"/>
      </a:accent1>
      <a:accent2>
        <a:srgbClr val="333399"/>
      </a:accent2>
      <a:accent3>
        <a:srgbClr val="AAAAAA"/>
      </a:accent3>
      <a:accent4>
        <a:srgbClr val="DADADA"/>
      </a:accent4>
      <a:accent5>
        <a:srgbClr val="DAEDEF"/>
      </a:accent5>
      <a:accent6>
        <a:srgbClr val="2D2D8A"/>
      </a:accent6>
      <a:hlink>
        <a:srgbClr val="0000FF"/>
      </a:hlink>
      <a:folHlink>
        <a:srgbClr val="FF00FF"/>
      </a:folHlink>
    </a:clrScheme>
    <a:fontScheme name="Title &amp; Subtitle">
      <a:majorFont>
        <a:latin typeface="Helvetica"/>
        <a:ea typeface="Helvetica"/>
        <a:cs typeface="Helvetica"/>
      </a:majorFont>
      <a:minorFont>
        <a:latin typeface="Arial"/>
        <a:ea typeface="Arial"/>
        <a:cs typeface="Arial"/>
      </a:minorFont>
    </a:fontScheme>
    <a:fmtScheme name="Title &amp; Subtitl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0000" dir="5400000" rotWithShape="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blurRad="38100" dist="23000" dir="5400000" rotWithShape="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400" b="0" i="0" u="none" strike="noStrike" cap="none" spc="0" normalizeH="0" baseline="0">
            <a:ln>
              <a:noFill/>
            </a:ln>
            <a:solidFill>
              <a:srgbClr val="808080"/>
            </a:solidFill>
            <a:effectLst/>
            <a:uFillTx/>
            <a:latin typeface="+mn-lt"/>
            <a:ea typeface="+mn-ea"/>
            <a:cs typeface="+mn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blurRad="38100" dist="20000" dir="5400000" rotWithShape="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400" b="0" i="0" u="none" strike="noStrike" cap="none" spc="0" normalizeH="0" baseline="0">
            <a:ln>
              <a:noFill/>
            </a:ln>
            <a:solidFill>
              <a:srgbClr val="808080"/>
            </a:solidFill>
            <a:effectLst/>
            <a:uFillTx/>
            <a:latin typeface="+mn-lt"/>
            <a:ea typeface="+mn-ea"/>
            <a:cs typeface="+mn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Title &amp; Subtitle">
  <a:themeElements>
    <a:clrScheme name="Title &amp; Subtitl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BBE0E3"/>
      </a:accent1>
      <a:accent2>
        <a:srgbClr val="333399"/>
      </a:accent2>
      <a:accent3>
        <a:srgbClr val="AAAAAA"/>
      </a:accent3>
      <a:accent4>
        <a:srgbClr val="DADADA"/>
      </a:accent4>
      <a:accent5>
        <a:srgbClr val="DAEDEF"/>
      </a:accent5>
      <a:accent6>
        <a:srgbClr val="2D2D8A"/>
      </a:accent6>
      <a:hlink>
        <a:srgbClr val="0000FF"/>
      </a:hlink>
      <a:folHlink>
        <a:srgbClr val="FF00FF"/>
      </a:folHlink>
    </a:clrScheme>
    <a:fontScheme name="Title &amp; Subtitle">
      <a:majorFont>
        <a:latin typeface="Helvetica"/>
        <a:ea typeface="Helvetica"/>
        <a:cs typeface="Helvetica"/>
      </a:majorFont>
      <a:minorFont>
        <a:latin typeface="Arial"/>
        <a:ea typeface="Arial"/>
        <a:cs typeface="Arial"/>
      </a:minorFont>
    </a:fontScheme>
    <a:fmtScheme name="Title &amp; Subtitl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0000" dir="5400000" rotWithShape="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blurRad="38100" dist="23000" dir="5400000" rotWithShape="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400" b="0" i="0" u="none" strike="noStrike" cap="none" spc="0" normalizeH="0" baseline="0">
            <a:ln>
              <a:noFill/>
            </a:ln>
            <a:solidFill>
              <a:srgbClr val="808080"/>
            </a:solidFill>
            <a:effectLst/>
            <a:uFillTx/>
            <a:latin typeface="+mn-lt"/>
            <a:ea typeface="+mn-ea"/>
            <a:cs typeface="+mn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blurRad="38100" dist="20000" dir="5400000" rotWithShape="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400" b="0" i="0" u="none" strike="noStrike" cap="none" spc="0" normalizeH="0" baseline="0">
            <a:ln>
              <a:noFill/>
            </a:ln>
            <a:solidFill>
              <a:srgbClr val="808080"/>
            </a:solidFill>
            <a:effectLst/>
            <a:uFillTx/>
            <a:latin typeface="+mn-lt"/>
            <a:ea typeface="+mn-ea"/>
            <a:cs typeface="+mn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22</TotalTime>
  <Words>1839</Words>
  <Application>Microsoft Macintosh PowerPoint</Application>
  <PresentationFormat>Custom</PresentationFormat>
  <Paragraphs>306</Paragraphs>
  <Slides>39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4" baseType="lpstr">
      <vt:lpstr>Ovo</vt:lpstr>
      <vt:lpstr>Arial</vt:lpstr>
      <vt:lpstr>Courier</vt:lpstr>
      <vt:lpstr>Helvetica</vt:lpstr>
      <vt:lpstr>Title &amp; Subtitle</vt:lpstr>
      <vt:lpstr>Welcome To Class!</vt:lpstr>
      <vt:lpstr>About Me</vt:lpstr>
      <vt:lpstr>And You?</vt:lpstr>
      <vt:lpstr>What is a Computer?</vt:lpstr>
      <vt:lpstr>Talking to the Computer</vt:lpstr>
      <vt:lpstr>Users vs. Programmers</vt:lpstr>
      <vt:lpstr>Why be a Programmer?</vt:lpstr>
      <vt:lpstr>PowerPoint Presentation</vt:lpstr>
      <vt:lpstr>What is Code?  Software? A Program?</vt:lpstr>
      <vt:lpstr>Programs for Humans</vt:lpstr>
      <vt:lpstr>Hardware Architecture (What is Inside the Computer?)</vt:lpstr>
      <vt:lpstr>PowerPoint Presentation</vt:lpstr>
      <vt:lpstr>PowerPoint Presentation</vt:lpstr>
      <vt:lpstr>PowerPoint Presentation</vt:lpstr>
      <vt:lpstr>Definitions</vt:lpstr>
      <vt:lpstr>PowerPoint Presentation</vt:lpstr>
      <vt:lpstr>PowerPoint Presentation</vt:lpstr>
      <vt:lpstr>Python as a Language</vt:lpstr>
      <vt:lpstr>PowerPoint Presentation</vt:lpstr>
      <vt:lpstr>Early Learner: Syntax Errors</vt:lpstr>
      <vt:lpstr>Talking to Python</vt:lpstr>
      <vt:lpstr>PowerPoint Presentation</vt:lpstr>
      <vt:lpstr>PowerPoint Presentation</vt:lpstr>
      <vt:lpstr>What Do We Say?</vt:lpstr>
      <vt:lpstr>Elements of Python</vt:lpstr>
      <vt:lpstr>PowerPoint Presentation</vt:lpstr>
      <vt:lpstr>Reserved Words</vt:lpstr>
      <vt:lpstr>Sentences or Lines</vt:lpstr>
      <vt:lpstr>Programming Paragraphs</vt:lpstr>
      <vt:lpstr>Python Scripts</vt:lpstr>
      <vt:lpstr>Interactive versus Script</vt:lpstr>
      <vt:lpstr>Program Steps or Program Flow</vt:lpstr>
      <vt:lpstr>Sequential Steps</vt:lpstr>
      <vt:lpstr>Conditional Steps</vt:lpstr>
      <vt:lpstr>Repeated Steps</vt:lpstr>
      <vt:lpstr>PowerPoint Presentation</vt:lpstr>
      <vt:lpstr>PowerPoint Presentation</vt:lpstr>
      <vt:lpstr>Summary</vt:lpstr>
      <vt:lpstr>Acknowledgements / Contributions</vt:lpstr>
    </vt:vector>
  </TitlesOfParts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Welcome To Class!</dc:title>
  <cp:lastModifiedBy>Microsoft Office User</cp:lastModifiedBy>
  <cp:revision>13</cp:revision>
  <dcterms:modified xsi:type="dcterms:W3CDTF">2018-12-01T04:40:19Z</dcterms:modified>
</cp:coreProperties>
</file>