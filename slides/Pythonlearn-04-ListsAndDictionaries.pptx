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92" r:id="rId1"/>
  </p:sldMasterIdLst>
  <p:notesMasterIdLst>
    <p:notesMasterId r:id="rId46"/>
  </p:notesMasterIdLst>
  <p:sldIdLst>
    <p:sldId id="256" r:id="rId2"/>
    <p:sldId id="331" r:id="rId3"/>
    <p:sldId id="330" r:id="rId4"/>
    <p:sldId id="332" r:id="rId5"/>
    <p:sldId id="333" r:id="rId6"/>
    <p:sldId id="257" r:id="rId7"/>
    <p:sldId id="259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82" r:id="rId23"/>
    <p:sldId id="329" r:id="rId24"/>
    <p:sldId id="334" r:id="rId25"/>
    <p:sldId id="336" r:id="rId26"/>
    <p:sldId id="258" r:id="rId27"/>
    <p:sldId id="337" r:id="rId28"/>
    <p:sldId id="338" r:id="rId29"/>
    <p:sldId id="340" r:id="rId30"/>
    <p:sldId id="263" r:id="rId31"/>
    <p:sldId id="341" r:id="rId32"/>
    <p:sldId id="342" r:id="rId33"/>
    <p:sldId id="344" r:id="rId34"/>
    <p:sldId id="345" r:id="rId35"/>
    <p:sldId id="346" r:id="rId36"/>
    <p:sldId id="347" r:id="rId37"/>
    <p:sldId id="348" r:id="rId38"/>
    <p:sldId id="349" r:id="rId39"/>
    <p:sldId id="275" r:id="rId40"/>
    <p:sldId id="276" r:id="rId41"/>
    <p:sldId id="350" r:id="rId42"/>
    <p:sldId id="283" r:id="rId43"/>
    <p:sldId id="351" r:id="rId44"/>
    <p:sldId id="328" r:id="rId45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FD2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42" autoAdjust="0"/>
    <p:restoredTop sz="88249"/>
  </p:normalViewPr>
  <p:slideViewPr>
    <p:cSldViewPr snapToGrid="0" snapToObjects="1">
      <p:cViewPr varScale="1">
        <p:scale>
          <a:sx n="72" d="100"/>
          <a:sy n="72" d="100"/>
        </p:scale>
        <p:origin x="1304" y="192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>
              <a:spcBef>
                <a:spcPts val="0"/>
              </a:spcBef>
              <a:defRPr sz="1100"/>
            </a:lvl1pPr>
            <a:lvl2pPr lvl="1">
              <a:spcBef>
                <a:spcPts val="0"/>
              </a:spcBef>
              <a:defRPr sz="1100"/>
            </a:lvl2pPr>
            <a:lvl3pPr lvl="2">
              <a:spcBef>
                <a:spcPts val="0"/>
              </a:spcBef>
              <a:defRPr sz="1100"/>
            </a:lvl3pPr>
            <a:lvl4pPr lvl="3">
              <a:spcBef>
                <a:spcPts val="0"/>
              </a:spcBef>
              <a:defRPr sz="1100"/>
            </a:lvl4pPr>
            <a:lvl5pPr lvl="4">
              <a:spcBef>
                <a:spcPts val="0"/>
              </a:spcBef>
              <a:defRPr sz="1100"/>
            </a:lvl5pPr>
            <a:lvl6pPr lvl="5">
              <a:spcBef>
                <a:spcPts val="0"/>
              </a:spcBef>
              <a:defRPr sz="1100"/>
            </a:lvl6pPr>
            <a:lvl7pPr lvl="6">
              <a:spcBef>
                <a:spcPts val="0"/>
              </a:spcBef>
              <a:defRPr sz="1100"/>
            </a:lvl7pPr>
            <a:lvl8pPr lvl="7">
              <a:spcBef>
                <a:spcPts val="0"/>
              </a:spcBef>
              <a:defRPr sz="1100"/>
            </a:lvl8pPr>
            <a:lvl9pPr lvl="8">
              <a:spcBef>
                <a:spcPts val="0"/>
              </a:spcBef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69528870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lang="en-US" dirty="0">
              <a:solidFill>
                <a:schemeClr val="dk2"/>
              </a:solidFill>
            </a:endParaRPr>
          </a:p>
        </p:txBody>
      </p:sp>
      <p:sp>
        <p:nvSpPr>
          <p:cNvPr id="163" name="Shape 1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167990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acknowledgement page(s)</a:t>
            </a:r>
            <a:r>
              <a:rPr lang="en-US" baseline="0" dirty="0">
                <a:solidFill>
                  <a:schemeClr val="dk2"/>
                </a:solidFill>
              </a:rPr>
              <a:t> at the end.</a:t>
            </a:r>
            <a:endParaRPr lang="en-US" dirty="0">
              <a:solidFill>
                <a:schemeClr val="dk2"/>
              </a:solidFill>
            </a:endParaRPr>
          </a:p>
        </p:txBody>
      </p:sp>
      <p:sp>
        <p:nvSpPr>
          <p:cNvPr id="163" name="Shape 1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7836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Shape 40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03" name="Shape 40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604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Shape 30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08" name="Shape 30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601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r>
              <a:rPr lang="en-US" dirty="0">
                <a:solidFill>
                  <a:schemeClr val="dk2"/>
                </a:solidFill>
              </a:rPr>
              <a:t>Note from Chuck.  If you are using these materials, you can remove the UM logo and replace it with your own, but please retain the CC-BY logo on the first page as well as retain the acknowledgement page(s)</a:t>
            </a:r>
            <a:r>
              <a:rPr lang="en-US" baseline="0" dirty="0">
                <a:solidFill>
                  <a:schemeClr val="dk2"/>
                </a:solidFill>
              </a:rPr>
              <a:t> at the end.</a:t>
            </a:r>
            <a:endParaRPr lang="en-US" dirty="0">
              <a:solidFill>
                <a:schemeClr val="dk2"/>
              </a:solidFill>
            </a:endParaRPr>
          </a:p>
        </p:txBody>
      </p:sp>
      <p:sp>
        <p:nvSpPr>
          <p:cNvPr id="163" name="Shape 1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160006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Shape 17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72" name="Shape 17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6837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Shape 1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87" name="Shape 18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2331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19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194" name="Shape 19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977115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Shape 2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01" name="Shape 20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43540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21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1" name="Shape 21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97148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23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32" name="Shape 23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3324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3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39" name="Shape 23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1277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Shape 24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46" name="Shape 24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946824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Shape 25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4" name="Shape 25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73929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Shape 26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61" name="Shape 26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848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hape 26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68" name="Shape 26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0856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Shape 27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75" name="Shape 27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12026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28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2" name="Shape 28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2926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28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9" name="Shape 28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1387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2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6" name="Shape 29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64204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Shape 30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03" name="Shape 30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1869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37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71" name="Shape 3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74242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37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71" name="Shape 3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01319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lang="en-US" dirty="0">
              <a:solidFill>
                <a:schemeClr val="dk2"/>
              </a:solidFill>
            </a:endParaRPr>
          </a:p>
        </p:txBody>
      </p:sp>
      <p:sp>
        <p:nvSpPr>
          <p:cNvPr id="163" name="Shape 1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57187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0" name="Shape 2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849119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2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17" name="Shape 21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21057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22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24" name="Shape 22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10000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23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35" name="Shape 23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922174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25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6" name="Shape 25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26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2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63" name="Shape 2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00944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Shape 27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71" name="Shape 27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035430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Shape 2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3" name="Shape 29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45524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Shape 3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29" name="Shape 32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7877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Shape 3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7" name="Shape 34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132358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Shape 3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66" name="Shape 3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59636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37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76" name="Shape 37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337964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Shape 38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3" name="Shape 38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90070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1" name="Shape 39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75816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Shape 40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01" name="Shape 40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6476034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hape 41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11" name="Shape 41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8098113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Shape 45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54" name="Shape 45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134346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46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1" name="Shape 46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7679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Shape 46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1" name="Shape 46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43280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5844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pening Titl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342900" lvl="0" indent="-342900" algn="ctr" rtl="0">
              <a:spcBef>
                <a:spcPts val="0"/>
              </a:spcBef>
              <a:spcAft>
                <a:spcPts val="0"/>
              </a:spcAft>
              <a:defRPr/>
            </a:lvl1pPr>
            <a:lvl2pPr marL="742950" lvl="1" indent="-285750" algn="ctr" rtl="0">
              <a:spcBef>
                <a:spcPts val="0"/>
              </a:spcBef>
              <a:spcAft>
                <a:spcPts val="0"/>
              </a:spcAft>
              <a:defRPr/>
            </a:lvl2pPr>
            <a:lvl3pPr marL="1143000" lvl="2" indent="-228600" algn="ctr" rtl="0">
              <a:spcBef>
                <a:spcPts val="0"/>
              </a:spcBef>
              <a:spcAft>
                <a:spcPts val="0"/>
              </a:spcAft>
              <a:defRPr/>
            </a:lvl3pPr>
            <a:lvl4pPr marL="1600200" lvl="3" indent="-228600" algn="ctr" rtl="0">
              <a:spcBef>
                <a:spcPts val="0"/>
              </a:spcBef>
              <a:spcAft>
                <a:spcPts val="0"/>
              </a:spcAft>
              <a:defRPr/>
            </a:lvl4pPr>
            <a:lvl5pPr marL="2057400" lvl="4" indent="-22860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3931900" cy="175029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157" name="Shape 157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1900" cy="57022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647700" lvl="0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 sz="3200"/>
            </a:lvl1pPr>
            <a:lvl2pPr marL="939800" lvl="1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2pPr>
            <a:lvl3pPr marL="1231900" lvl="2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3pPr>
            <a:lvl4pPr marL="1536700" lvl="3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4pPr>
            <a:lvl5pPr marL="1828800" lvl="4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5pPr>
            <a:lvl6pPr marL="2286000" lvl="5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6pPr>
            <a:lvl7pPr marL="2743200" lvl="6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7pPr>
            <a:lvl8pPr marL="3200400" lvl="7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8pPr>
            <a:lvl9pPr marL="3657600" lvl="8" indent="-165861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3931900" cy="175029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5493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3295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194"/>
          <p:cNvSpPr txBox="1">
            <a:spLocks noGrp="1"/>
          </p:cNvSpPr>
          <p:nvPr>
            <p:ph type="title"/>
          </p:nvPr>
        </p:nvSpPr>
        <p:spPr>
          <a:xfrm>
            <a:off x="1155700" y="817418"/>
            <a:ext cx="13932000" cy="172248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>
                <a:solidFill>
                  <a:srgbClr val="FFFF00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3881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342900" marR="0" lvl="0" indent="-342900" algn="ctr" rtl="0">
              <a:spcBef>
                <a:spcPts val="0"/>
              </a:spcBef>
              <a:spcAft>
                <a:spcPts val="0"/>
              </a:spcAft>
              <a:defRPr/>
            </a:lvl1pPr>
            <a:lvl2pPr marL="742950" marR="0" lvl="1" indent="-285750" algn="ctr" rtl="0">
              <a:spcBef>
                <a:spcPts val="0"/>
              </a:spcBef>
              <a:spcAft>
                <a:spcPts val="0"/>
              </a:spcAft>
              <a:defRPr/>
            </a:lvl2pPr>
            <a:lvl3pPr marL="1143000" marR="0" lvl="2" indent="-228600" algn="ctr" rtl="0">
              <a:spcBef>
                <a:spcPts val="0"/>
              </a:spcBef>
              <a:spcAft>
                <a:spcPts val="0"/>
              </a:spcAft>
              <a:defRPr/>
            </a:lvl3pPr>
            <a:lvl4pPr marL="1600200" marR="0" lvl="3" indent="-228600" algn="ctr" rtl="0">
              <a:spcBef>
                <a:spcPts val="0"/>
              </a:spcBef>
              <a:spcAft>
                <a:spcPts val="0"/>
              </a:spcAft>
              <a:defRPr/>
            </a:lvl4pPr>
            <a:lvl5pPr marL="2057400" marR="0" lvl="4" indent="-22860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93" r:id="rId3"/>
    <p:sldLayoutId id="2147483694" r:id="rId4"/>
    <p:sldLayoutId id="214748369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docs.python.org/tutorial/datastructures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jpeg"/><Relationship Id="rId5" Type="http://schemas.openxmlformats.org/officeDocument/2006/relationships/image" Target="../media/image7.jpg"/><Relationship Id="rId4" Type="http://schemas.openxmlformats.org/officeDocument/2006/relationships/image" Target="../media/image6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://en.wikipedia.org/wiki/Associative_array" TargetMode="External"/><Relationship Id="rId4" Type="http://schemas.openxmlformats.org/officeDocument/2006/relationships/image" Target="../media/image7.jp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www.youtube.com/watch?v=EHJ9uYx5L58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 and Dictionaries</a:t>
            </a:r>
          </a:p>
        </p:txBody>
      </p:sp>
      <p:sp>
        <p:nvSpPr>
          <p:cNvPr id="166" name="Shape 16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Class 4</a:t>
            </a:r>
          </a:p>
        </p:txBody>
      </p:sp>
      <p:sp>
        <p:nvSpPr>
          <p:cNvPr id="167" name="Shape 167"/>
          <p:cNvSpPr txBox="1"/>
          <p:nvPr/>
        </p:nvSpPr>
        <p:spPr>
          <a:xfrm>
            <a:off x="3804600" y="6415089"/>
            <a:ext cx="7987499" cy="156060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for Everybody</a:t>
            </a:r>
            <a:endParaRPr lang="en-US" sz="32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www.py4e.com</a:t>
            </a:r>
            <a:endParaRPr lang="en-US" sz="3200" u="none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pic>
        <p:nvPicPr>
          <p:cNvPr id="168" name="Shape 168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587412" y="7318368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But First! A Quick Review…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842832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40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Definite Loops</a:t>
            </a:r>
          </a:p>
        </p:txBody>
      </p:sp>
      <p:sp>
        <p:nvSpPr>
          <p:cNvPr id="406" name="Shape 406"/>
          <p:cNvSpPr txBox="1"/>
          <p:nvPr/>
        </p:nvSpPr>
        <p:spPr>
          <a:xfrm>
            <a:off x="698125" y="4144325"/>
            <a:ext cx="9213900" cy="22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['Joseph', 'Glenn', 'Sally']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'Happy New Year:'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'Done!'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07" name="Shape 407"/>
          <p:cNvSpPr txBox="1"/>
          <p:nvPr/>
        </p:nvSpPr>
        <p:spPr>
          <a:xfrm>
            <a:off x="10607875" y="3551825"/>
            <a:ext cx="5447100" cy="3096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Joseph</a:t>
            </a:r>
            <a:b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Glenn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Sally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Font typeface="Cabin"/>
              <a:buNone/>
            </a:pPr>
            <a:endParaRPr sz="3600">
              <a:solidFill>
                <a:srgbClr val="FF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Done!</a:t>
            </a:r>
          </a:p>
        </p:txBody>
      </p:sp>
      <p:cxnSp>
        <p:nvCxnSpPr>
          <p:cNvPr id="408" name="Shape 408"/>
          <p:cNvCxnSpPr/>
          <p:nvPr/>
        </p:nvCxnSpPr>
        <p:spPr>
          <a:xfrm flipH="1">
            <a:off x="9001125" y="4534150"/>
            <a:ext cx="1417924" cy="952250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9" name="Shape 409"/>
          <p:cNvCxnSpPr/>
          <p:nvPr/>
        </p:nvCxnSpPr>
        <p:spPr>
          <a:xfrm flipH="1" flipV="1">
            <a:off x="4057650" y="5972175"/>
            <a:ext cx="6411949" cy="243725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4669753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0" name="Shape 310"/>
          <p:cNvCxnSpPr>
            <a:cxnSpLocks/>
          </p:cNvCxnSpPr>
          <p:nvPr/>
        </p:nvCxnSpPr>
        <p:spPr>
          <a:xfrm rot="10800000">
            <a:off x="10644558" y="1308733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11" name="Shape 311"/>
          <p:cNvSpPr/>
          <p:nvPr/>
        </p:nvSpPr>
        <p:spPr>
          <a:xfrm>
            <a:off x="9228622" y="1869084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True ?</a:t>
            </a:r>
          </a:p>
        </p:txBody>
      </p:sp>
      <p:cxnSp>
        <p:nvCxnSpPr>
          <p:cNvPr id="312" name="Shape 312"/>
          <p:cNvCxnSpPr>
            <a:cxnSpLocks/>
          </p:cNvCxnSpPr>
          <p:nvPr/>
        </p:nvCxnSpPr>
        <p:spPr>
          <a:xfrm rot="10800000" flipH="1">
            <a:off x="10612522" y="3177284"/>
            <a:ext cx="51300" cy="39545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313" name="Shape 313"/>
          <p:cNvCxnSpPr>
            <a:cxnSpLocks/>
          </p:cNvCxnSpPr>
          <p:nvPr/>
        </p:nvCxnSpPr>
        <p:spPr>
          <a:xfrm rot="10800000">
            <a:off x="12009897" y="2497709"/>
            <a:ext cx="777899" cy="158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14" name="Shape 314"/>
          <p:cNvCxnSpPr>
            <a:stCxn id="315" idx="0"/>
            <a:endCxn id="316" idx="2"/>
          </p:cNvCxnSpPr>
          <p:nvPr/>
        </p:nvCxnSpPr>
        <p:spPr>
          <a:xfrm rot="10800000" flipH="1">
            <a:off x="12797371" y="3901284"/>
            <a:ext cx="50700" cy="2044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17" name="Shape 317"/>
          <p:cNvCxnSpPr>
            <a:cxnSpLocks/>
          </p:cNvCxnSpPr>
          <p:nvPr/>
        </p:nvCxnSpPr>
        <p:spPr>
          <a:xfrm>
            <a:off x="10600422" y="7131884"/>
            <a:ext cx="2223899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18" name="Shape 318"/>
          <p:cNvCxnSpPr>
            <a:cxnSpLocks/>
          </p:cNvCxnSpPr>
          <p:nvPr/>
        </p:nvCxnSpPr>
        <p:spPr>
          <a:xfrm flipH="1">
            <a:off x="8872996" y="2513609"/>
            <a:ext cx="396900" cy="32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stealth" w="med" len="med"/>
          </a:ln>
        </p:spPr>
      </p:cxnSp>
      <p:cxnSp>
        <p:nvCxnSpPr>
          <p:cNvPr id="319" name="Shape 319"/>
          <p:cNvCxnSpPr>
            <a:cxnSpLocks/>
          </p:cNvCxnSpPr>
          <p:nvPr/>
        </p:nvCxnSpPr>
        <p:spPr>
          <a:xfrm rot="10800000" flipH="1">
            <a:off x="10570058" y="7641358"/>
            <a:ext cx="15899" cy="6444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20" name="Shape 320"/>
          <p:cNvCxnSpPr>
            <a:cxnSpLocks/>
          </p:cNvCxnSpPr>
          <p:nvPr/>
        </p:nvCxnSpPr>
        <p:spPr>
          <a:xfrm rot="10800000" flipH="1">
            <a:off x="8830158" y="2504095"/>
            <a:ext cx="58800" cy="51545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21" name="Shape 321"/>
          <p:cNvCxnSpPr>
            <a:cxnSpLocks/>
          </p:cNvCxnSpPr>
          <p:nvPr/>
        </p:nvCxnSpPr>
        <p:spPr>
          <a:xfrm>
            <a:off x="8843572" y="7621684"/>
            <a:ext cx="1723200" cy="368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322" name="Shape 322"/>
          <p:cNvSpPr txBox="1"/>
          <p:nvPr/>
        </p:nvSpPr>
        <p:spPr>
          <a:xfrm>
            <a:off x="8349147" y="1754784"/>
            <a:ext cx="7239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323" name="Shape 323"/>
          <p:cNvSpPr txBox="1"/>
          <p:nvPr/>
        </p:nvSpPr>
        <p:spPr>
          <a:xfrm>
            <a:off x="9127022" y="8257184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print('Done')</a:t>
            </a:r>
          </a:p>
        </p:txBody>
      </p:sp>
      <p:sp>
        <p:nvSpPr>
          <p:cNvPr id="324" name="Shape 324"/>
          <p:cNvSpPr txBox="1"/>
          <p:nvPr/>
        </p:nvSpPr>
        <p:spPr>
          <a:xfrm>
            <a:off x="12465533" y="1754784"/>
            <a:ext cx="1049125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16" name="Shape 316"/>
          <p:cNvSpPr txBox="1"/>
          <p:nvPr/>
        </p:nvSpPr>
        <p:spPr>
          <a:xfrm>
            <a:off x="11387622" y="3151784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....</a:t>
            </a:r>
          </a:p>
        </p:txBody>
      </p:sp>
      <p:sp>
        <p:nvSpPr>
          <p:cNvPr id="315" name="Shape 315"/>
          <p:cNvSpPr txBox="1"/>
          <p:nvPr/>
        </p:nvSpPr>
        <p:spPr>
          <a:xfrm>
            <a:off x="11336822" y="5945784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...</a:t>
            </a:r>
          </a:p>
        </p:txBody>
      </p:sp>
      <p:cxnSp>
        <p:nvCxnSpPr>
          <p:cNvPr id="325" name="Shape 325"/>
          <p:cNvCxnSpPr>
            <a:cxnSpLocks/>
          </p:cNvCxnSpPr>
          <p:nvPr/>
        </p:nvCxnSpPr>
        <p:spPr>
          <a:xfrm rot="10800000">
            <a:off x="14443459" y="5431395"/>
            <a:ext cx="1016099" cy="14906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26" name="Shape 326"/>
          <p:cNvCxnSpPr>
            <a:cxnSpLocks/>
          </p:cNvCxnSpPr>
          <p:nvPr/>
        </p:nvCxnSpPr>
        <p:spPr>
          <a:xfrm rot="10800000" flipH="1">
            <a:off x="11579708" y="6896795"/>
            <a:ext cx="3849600" cy="1346100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27" name="Shape 327"/>
          <p:cNvSpPr txBox="1"/>
          <p:nvPr/>
        </p:nvSpPr>
        <p:spPr>
          <a:xfrm>
            <a:off x="1958798" y="3340557"/>
            <a:ext cx="6558000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while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input(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'&gt; '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==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'done'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break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line</a:t>
            </a: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'Done!')</a:t>
            </a:r>
          </a:p>
        </p:txBody>
      </p:sp>
      <p:cxnSp>
        <p:nvCxnSpPr>
          <p:cNvPr id="328" name="Shape 328"/>
          <p:cNvCxnSpPr/>
          <p:nvPr/>
        </p:nvCxnSpPr>
        <p:spPr>
          <a:xfrm rot="10800000">
            <a:off x="1525097" y="5649331"/>
            <a:ext cx="348900" cy="544500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29" name="Shape 329"/>
          <p:cNvCxnSpPr/>
          <p:nvPr/>
        </p:nvCxnSpPr>
        <p:spPr>
          <a:xfrm rot="10800000" flipH="1">
            <a:off x="1472137" y="5261383"/>
            <a:ext cx="1787100" cy="377099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30" name="Shape 330"/>
          <p:cNvCxnSpPr>
            <a:cxnSpLocks/>
          </p:cNvCxnSpPr>
          <p:nvPr/>
        </p:nvCxnSpPr>
        <p:spPr>
          <a:xfrm rot="10800000">
            <a:off x="12836822" y="3937709"/>
            <a:ext cx="1026899" cy="6197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333" name="Shape 333"/>
          <p:cNvSpPr txBox="1"/>
          <p:nvPr/>
        </p:nvSpPr>
        <p:spPr>
          <a:xfrm>
            <a:off x="13292622" y="4624984"/>
            <a:ext cx="2184300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500" u="none" strike="noStrike" cap="none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break</a:t>
            </a:r>
          </a:p>
        </p:txBody>
      </p:sp>
      <p:cxnSp>
        <p:nvCxnSpPr>
          <p:cNvPr id="334" name="Shape 334"/>
          <p:cNvCxnSpPr>
            <a:cxnSpLocks/>
          </p:cNvCxnSpPr>
          <p:nvPr/>
        </p:nvCxnSpPr>
        <p:spPr>
          <a:xfrm rot="10800000">
            <a:off x="12840984" y="6672882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35" name="Shape 335"/>
          <p:cNvCxnSpPr>
            <a:cxnSpLocks/>
          </p:cNvCxnSpPr>
          <p:nvPr/>
        </p:nvCxnSpPr>
        <p:spPr>
          <a:xfrm rot="10800000">
            <a:off x="12755959" y="2557233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8" name="Shape 405">
            <a:extLst>
              <a:ext uri="{FF2B5EF4-FFF2-40B4-BE49-F238E27FC236}">
                <a16:creationId xmlns:a16="http://schemas.microsoft.com/office/drawing/2014/main" id="{6E1BE314-EEEC-EE47-B6FB-B95C33312E01}"/>
              </a:ext>
            </a:extLst>
          </p:cNvPr>
          <p:cNvSpPr txBox="1">
            <a:spLocks/>
          </p:cNvSpPr>
          <p:nvPr/>
        </p:nvSpPr>
        <p:spPr>
          <a:xfrm>
            <a:off x="133859" y="202473"/>
            <a:ext cx="13932000" cy="11245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ctr"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Indefinite Loops</a:t>
            </a:r>
          </a:p>
        </p:txBody>
      </p:sp>
    </p:spTree>
    <p:extLst>
      <p:ext uri="{BB962C8B-B14F-4D97-AF65-F5344CB8AC3E}">
        <p14:creationId xmlns:p14="http://schemas.microsoft.com/office/powerpoint/2010/main" val="763140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827972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174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1688763" cy="17502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4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List is a Kind of Collection</a:t>
            </a:r>
          </a:p>
        </p:txBody>
      </p:sp>
      <p:sp>
        <p:nvSpPr>
          <p:cNvPr id="175" name="Shape 175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1900" cy="352583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collection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allows us to put many values in a single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collection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nice because we can carry all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many values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around in one convenient package.</a:t>
            </a:r>
          </a:p>
        </p:txBody>
      </p:sp>
      <p:pic>
        <p:nvPicPr>
          <p:cNvPr id="176" name="Shape 176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77850" y="789709"/>
            <a:ext cx="2557874" cy="209629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Shape 177"/>
          <p:cNvSpPr txBox="1"/>
          <p:nvPr/>
        </p:nvSpPr>
        <p:spPr>
          <a:xfrm>
            <a:off x="2002250" y="6000750"/>
            <a:ext cx="12192000" cy="22145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[ 'Joseph', 'Glenn', 'Sally' ]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carryon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[ 'socks', 'shirt', 'perfume'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Shape 18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 Constants</a:t>
            </a:r>
          </a:p>
        </p:txBody>
      </p:sp>
      <p:sp>
        <p:nvSpPr>
          <p:cNvPr id="190" name="Shape 190"/>
          <p:cNvSpPr txBox="1">
            <a:spLocks noGrp="1"/>
          </p:cNvSpPr>
          <p:nvPr>
            <p:ph type="body" idx="1"/>
          </p:nvPr>
        </p:nvSpPr>
        <p:spPr>
          <a:xfrm>
            <a:off x="698500" y="2857500"/>
            <a:ext cx="7331075" cy="484346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constants are surrounded by square brackets and the elements in the list are separated by commas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element can be any Python object - even </a:t>
            </a:r>
            <a:r>
              <a:rPr lang="en-US" sz="34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another list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can be empty</a:t>
            </a:r>
          </a:p>
        </p:txBody>
      </p:sp>
      <p:sp>
        <p:nvSpPr>
          <p:cNvPr id="191" name="Shape 191"/>
          <p:cNvSpPr txBox="1"/>
          <p:nvPr/>
        </p:nvSpPr>
        <p:spPr>
          <a:xfrm>
            <a:off x="8774113" y="2532050"/>
            <a:ext cx="7162387" cy="55403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[1, 24, 76]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[1, 24, 76]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['red', 'yellow', 'blue']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['red', 'yellow', 'blue']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['red', 24, 98.6]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['red', 24, 98.6]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[ 1, 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[5, 6]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, 7]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[1, [5, 6], 7]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[]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19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Already Use Lists!</a:t>
            </a:r>
          </a:p>
        </p:txBody>
      </p:sp>
      <p:sp>
        <p:nvSpPr>
          <p:cNvPr id="197" name="Shape 197"/>
          <p:cNvSpPr txBox="1"/>
          <p:nvPr/>
        </p:nvSpPr>
        <p:spPr>
          <a:xfrm>
            <a:off x="1895475" y="2840601"/>
            <a:ext cx="8488800" cy="363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[5, 4, 3, 2, 1]</a:t>
            </a:r>
            <a:r>
              <a:rPr lang="en-US" sz="3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'Blastoff!'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198" name="Shape 198"/>
          <p:cNvSpPr txBox="1"/>
          <p:nvPr/>
        </p:nvSpPr>
        <p:spPr>
          <a:xfrm>
            <a:off x="11091861" y="3003550"/>
            <a:ext cx="2384424" cy="4902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48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Blastoff!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20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 and Definite Loops - Best Pals</a:t>
            </a:r>
          </a:p>
        </p:txBody>
      </p:sp>
      <p:sp>
        <p:nvSpPr>
          <p:cNvPr id="204" name="Shape 204"/>
          <p:cNvSpPr txBox="1"/>
          <p:nvPr/>
        </p:nvSpPr>
        <p:spPr>
          <a:xfrm>
            <a:off x="1279124" y="3423163"/>
            <a:ext cx="7280400" cy="22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['Joseph', 'Glenn', 'Sally']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 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'Happy New Year:'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>
              <a:buClr>
                <a:srgbClr val="FFFF00"/>
              </a:buClr>
              <a:buSzPct val="25000"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'Done!'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205" name="Shape 205"/>
          <p:cNvSpPr txBox="1"/>
          <p:nvPr/>
        </p:nvSpPr>
        <p:spPr>
          <a:xfrm>
            <a:off x="10658475" y="4051100"/>
            <a:ext cx="4943475" cy="218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Joseph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Glenn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Sally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Done!</a:t>
            </a:r>
          </a:p>
        </p:txBody>
      </p:sp>
      <p:cxnSp>
        <p:nvCxnSpPr>
          <p:cNvPr id="206" name="Shape 206"/>
          <p:cNvCxnSpPr/>
          <p:nvPr/>
        </p:nvCxnSpPr>
        <p:spPr>
          <a:xfrm flipH="1">
            <a:off x="8443912" y="4353475"/>
            <a:ext cx="1986512" cy="318538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07" name="Shape 207"/>
          <p:cNvCxnSpPr/>
          <p:nvPr/>
        </p:nvCxnSpPr>
        <p:spPr>
          <a:xfrm flipH="1" flipV="1">
            <a:off x="8464060" y="4672014"/>
            <a:ext cx="1961138" cy="839786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08" name="Shape 208"/>
          <p:cNvCxnSpPr/>
          <p:nvPr/>
        </p:nvCxnSpPr>
        <p:spPr>
          <a:xfrm rot="10800000">
            <a:off x="3904399" y="5160163"/>
            <a:ext cx="6596999" cy="798899"/>
          </a:xfrm>
          <a:prstGeom prst="straightConnector1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8" name="Shape 204"/>
          <p:cNvSpPr txBox="1"/>
          <p:nvPr/>
        </p:nvSpPr>
        <p:spPr>
          <a:xfrm>
            <a:off x="1279124" y="5997591"/>
            <a:ext cx="7280400" cy="22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 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=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['Joseph', 'Glenn', 'Sally']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'Happy New Year:'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>
              <a:buClr>
                <a:srgbClr val="FFFF00"/>
              </a:buClr>
              <a:buSzPct val="25000"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'Done!'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2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Looking Inside Lists</a:t>
            </a:r>
          </a:p>
        </p:txBody>
      </p:sp>
      <p:sp>
        <p:nvSpPr>
          <p:cNvPr id="214" name="Shape 214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1900" cy="30861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Just like strings, we can get at any single element in a list using an index specified in</a:t>
            </a:r>
            <a:r>
              <a:rPr lang="en-US" sz="3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square brackets</a:t>
            </a:r>
          </a:p>
        </p:txBody>
      </p:sp>
      <p:pic>
        <p:nvPicPr>
          <p:cNvPr id="215" name="Shape 2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8775" y="992909"/>
            <a:ext cx="2736850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Shape 216"/>
          <p:cNvSpPr txBox="1"/>
          <p:nvPr/>
        </p:nvSpPr>
        <p:spPr>
          <a:xfrm>
            <a:off x="1727200" y="6375401"/>
            <a:ext cx="736599" cy="73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1155700" y="5651501"/>
            <a:ext cx="1879599" cy="736599"/>
          </a:xfrm>
          <a:prstGeom prst="rect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Joseph</a:t>
            </a:r>
          </a:p>
        </p:txBody>
      </p:sp>
      <p:sp>
        <p:nvSpPr>
          <p:cNvPr id="218" name="Shape 218"/>
          <p:cNvSpPr txBox="1"/>
          <p:nvPr/>
        </p:nvSpPr>
        <p:spPr>
          <a:xfrm>
            <a:off x="7429500" y="5065701"/>
            <a:ext cx="8156400" cy="23399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 'Joseph', 'Glenn', 'Sally' 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Glenn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  <p:sp>
        <p:nvSpPr>
          <p:cNvPr id="219" name="Shape 219"/>
          <p:cNvSpPr txBox="1"/>
          <p:nvPr/>
        </p:nvSpPr>
        <p:spPr>
          <a:xfrm>
            <a:off x="3606800" y="6375401"/>
            <a:ext cx="736599" cy="73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3035300" y="5651501"/>
            <a:ext cx="1879599" cy="736599"/>
          </a:xfrm>
          <a:prstGeom prst="rect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Glenn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5486400" y="6375401"/>
            <a:ext cx="736599" cy="73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</a:p>
        </p:txBody>
      </p:sp>
      <p:sp>
        <p:nvSpPr>
          <p:cNvPr id="222" name="Shape 222"/>
          <p:cNvSpPr txBox="1"/>
          <p:nvPr/>
        </p:nvSpPr>
        <p:spPr>
          <a:xfrm>
            <a:off x="4914900" y="5651501"/>
            <a:ext cx="1879599" cy="736599"/>
          </a:xfrm>
          <a:prstGeom prst="rect">
            <a:avLst/>
          </a:prstGeom>
          <a:noFill/>
          <a:ln w="50800" cap="rnd" cmpd="sng">
            <a:solidFill>
              <a:srgbClr val="FF7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Sally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Shape 234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3144500" cy="17502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How Long is a List?</a:t>
            </a:r>
          </a:p>
        </p:txBody>
      </p:sp>
      <p:sp>
        <p:nvSpPr>
          <p:cNvPr id="235" name="Shape 235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7488238" cy="57022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400" u="none" strike="noStrike" cap="none" dirty="0" err="1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len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 takes a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as a parameter and returns the number of </a:t>
            </a:r>
            <a:r>
              <a:rPr lang="en-US" sz="34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elements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 the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Actually </a:t>
            </a:r>
            <a:r>
              <a:rPr lang="en-US" sz="3400" u="none" strike="noStrike" cap="none" dirty="0" err="1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len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tells us the number of elements of any set or sequence (such as a string...)</a:t>
            </a:r>
          </a:p>
        </p:txBody>
      </p:sp>
      <p:sp>
        <p:nvSpPr>
          <p:cNvPr id="236" name="Shape 236"/>
          <p:cNvSpPr txBox="1"/>
          <p:nvPr/>
        </p:nvSpPr>
        <p:spPr>
          <a:xfrm>
            <a:off x="9239250" y="3543301"/>
            <a:ext cx="6119700" cy="397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greet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'Hello Bob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greet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9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[ 1, 2, 'joe', 99]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b="1" dirty="0">
              <a:latin typeface="Courier"/>
              <a:ea typeface="Courier"/>
              <a:cs typeface="Courier"/>
              <a:sym typeface="Courier New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Using the </a:t>
            </a:r>
            <a:r>
              <a:rPr lang="en-US" sz="7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range</a:t>
            </a:r>
            <a:r>
              <a:rPr lang="en-US" sz="7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</a:t>
            </a:r>
          </a:p>
        </p:txBody>
      </p:sp>
      <p:sp>
        <p:nvSpPr>
          <p:cNvPr id="242" name="Shape 242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5916613" cy="57022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range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returns a list of numbers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range from zero to one less than the </a:t>
            </a:r>
            <a:r>
              <a:rPr lang="en-US" sz="34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parameter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construct an index loop using </a:t>
            </a:r>
            <a:r>
              <a:rPr lang="en-US" sz="34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an integer</a:t>
            </a:r>
            <a:r>
              <a:rPr lang="en-US" sz="34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iterator</a:t>
            </a:r>
          </a:p>
        </p:txBody>
      </p:sp>
      <p:sp>
        <p:nvSpPr>
          <p:cNvPr id="243" name="Shape 243"/>
          <p:cNvSpPr txBox="1"/>
          <p:nvPr/>
        </p:nvSpPr>
        <p:spPr>
          <a:xfrm>
            <a:off x="7726200" y="3022600"/>
            <a:ext cx="7843799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lvl="0"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range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4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[0, 1, 2, 3]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['Joseph', 'Glenn', 'Sally']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3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range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))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[0, 1, 2]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2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Tale of Two Loops...</a:t>
            </a:r>
          </a:p>
        </p:txBody>
      </p:sp>
      <p:sp>
        <p:nvSpPr>
          <p:cNvPr id="249" name="Shape 249"/>
          <p:cNvSpPr txBox="1"/>
          <p:nvPr/>
        </p:nvSpPr>
        <p:spPr>
          <a:xfrm>
            <a:off x="584950" y="3118400"/>
            <a:ext cx="7175700" cy="3594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['Joseph', 'Glenn', 'Sally']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 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'Happy New Year:', 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range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friends)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4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4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'Happy New Year:',  </a:t>
            </a:r>
            <a:r>
              <a:rPr lang="en-US" sz="24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friend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250" name="Shape 250"/>
          <p:cNvSpPr txBox="1"/>
          <p:nvPr/>
        </p:nvSpPr>
        <p:spPr>
          <a:xfrm>
            <a:off x="8105725" y="5652525"/>
            <a:ext cx="5591699" cy="2139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Joseph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Glenn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Happy New Year: Sally</a:t>
            </a:r>
          </a:p>
        </p:txBody>
      </p:sp>
      <p:sp>
        <p:nvSpPr>
          <p:cNvPr id="251" name="Shape 251"/>
          <p:cNvSpPr txBox="1"/>
          <p:nvPr/>
        </p:nvSpPr>
        <p:spPr>
          <a:xfrm>
            <a:off x="8105725" y="2509825"/>
            <a:ext cx="7888800" cy="3324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['Joseph', 'Glenn', 'Sally']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3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range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4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(friends))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[0, 1, 2]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2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Concatenating</a:t>
            </a:r>
            <a:r>
              <a:rPr lang="en-US" sz="7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 Using </a:t>
            </a:r>
            <a:r>
              <a:rPr lang="en-US" sz="7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+</a:t>
            </a:r>
          </a:p>
        </p:txBody>
      </p:sp>
      <p:sp>
        <p:nvSpPr>
          <p:cNvPr id="257" name="Shape 257"/>
          <p:cNvSpPr txBox="1">
            <a:spLocks noGrp="1"/>
          </p:cNvSpPr>
          <p:nvPr>
            <p:ph type="body" idx="1"/>
          </p:nvPr>
        </p:nvSpPr>
        <p:spPr>
          <a:xfrm>
            <a:off x="1778000" y="2933702"/>
            <a:ext cx="5410200" cy="26034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create a new list by adding two ex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ting lists together</a:t>
            </a:r>
          </a:p>
        </p:txBody>
      </p:sp>
      <p:sp>
        <p:nvSpPr>
          <p:cNvPr id="258" name="Shape 258"/>
          <p:cNvSpPr txBox="1"/>
          <p:nvPr/>
        </p:nvSpPr>
        <p:spPr>
          <a:xfrm>
            <a:off x="9714275" y="2714100"/>
            <a:ext cx="4965900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[1, 2, 3]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b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[4, 5, 6]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+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b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[1, 2, 3, 4, 5, 6]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[1, 2, 3]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26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 Can Be </a:t>
            </a:r>
            <a:r>
              <a:rPr lang="en-US" sz="7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Sliced</a:t>
            </a:r>
            <a:r>
              <a:rPr lang="en-US" sz="7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Using</a:t>
            </a:r>
            <a:r>
              <a:rPr lang="en-US" sz="7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7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</a:t>
            </a:r>
          </a:p>
        </p:txBody>
      </p:sp>
      <p:sp>
        <p:nvSpPr>
          <p:cNvPr id="264" name="Shape 264"/>
          <p:cNvSpPr txBox="1"/>
          <p:nvPr/>
        </p:nvSpPr>
        <p:spPr>
          <a:xfrm>
            <a:off x="962200" y="2875600"/>
            <a:ext cx="69416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[9, 41, 12, 3, 74, 15]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[1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3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[41,12]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4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[9, 41, 12, 3]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[3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[3, 74, 15]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[9, 41, 12, 3, 74, 15]</a:t>
            </a:r>
          </a:p>
        </p:txBody>
      </p:sp>
      <p:sp>
        <p:nvSpPr>
          <p:cNvPr id="265" name="Shape 265"/>
          <p:cNvSpPr txBox="1"/>
          <p:nvPr/>
        </p:nvSpPr>
        <p:spPr>
          <a:xfrm>
            <a:off x="8506725" y="4033425"/>
            <a:ext cx="5465399" cy="2197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Remember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 Just like in strings, the second number is </a:t>
            </a:r>
            <a:r>
              <a:rPr lang="en-US" sz="36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“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up to but not including</a:t>
            </a:r>
            <a:r>
              <a:rPr lang="en-US" sz="36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Shape 27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 Methods</a:t>
            </a:r>
          </a:p>
        </p:txBody>
      </p:sp>
      <p:sp>
        <p:nvSpPr>
          <p:cNvPr id="271" name="Shape 271"/>
          <p:cNvSpPr txBox="1"/>
          <p:nvPr/>
        </p:nvSpPr>
        <p:spPr>
          <a:xfrm>
            <a:off x="1918550" y="3110400"/>
            <a:ext cx="12042899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list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&lt;type 'list'&gt;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dir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['append', 'count', 'extend', 'index', 'insert', 'pop', 'remove', 'reverse', 'sort']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</p:txBody>
      </p:sp>
      <p:sp>
        <p:nvSpPr>
          <p:cNvPr id="272" name="Shape 272"/>
          <p:cNvSpPr txBox="1"/>
          <p:nvPr/>
        </p:nvSpPr>
        <p:spPr>
          <a:xfrm>
            <a:off x="2913200" y="7123112"/>
            <a:ext cx="104169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http://docs.python.org/tutorial/datastructures.html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27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Building a </a:t>
            </a: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 from </a:t>
            </a: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cratch</a:t>
            </a:r>
          </a:p>
        </p:txBody>
      </p:sp>
      <p:sp>
        <p:nvSpPr>
          <p:cNvPr id="278" name="Shape 278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6302375" cy="57022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create an empty </a:t>
            </a:r>
            <a:r>
              <a:rPr lang="en-US" sz="34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then add elements using the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append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method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4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stays in order and new elements are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added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at the end of the </a:t>
            </a:r>
            <a:r>
              <a:rPr lang="en-US" sz="34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</a:p>
        </p:txBody>
      </p:sp>
      <p:sp>
        <p:nvSpPr>
          <p:cNvPr id="279" name="Shape 279"/>
          <p:cNvSpPr txBox="1"/>
          <p:nvPr/>
        </p:nvSpPr>
        <p:spPr>
          <a:xfrm>
            <a:off x="8367175" y="2990850"/>
            <a:ext cx="7455599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stuff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list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stuff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.append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('book')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stuff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.append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(99)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stuff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['book', 99]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stuff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.append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('cookie')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stuff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['book', 99, 'cookie']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Shape 28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Something in a List?</a:t>
            </a:r>
          </a:p>
        </p:txBody>
      </p:sp>
      <p:sp>
        <p:nvSpPr>
          <p:cNvPr id="285" name="Shape 285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6573838" cy="57022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provides two </a:t>
            </a:r>
            <a:r>
              <a:rPr lang="en-US" sz="34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operators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let you check if an item is in a list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These are logical operators that return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True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or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False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They do not modify the list</a:t>
            </a:r>
          </a:p>
        </p:txBody>
      </p:sp>
      <p:sp>
        <p:nvSpPr>
          <p:cNvPr id="286" name="Shape 286"/>
          <p:cNvSpPr txBox="1"/>
          <p:nvPr/>
        </p:nvSpPr>
        <p:spPr>
          <a:xfrm>
            <a:off x="8585238" y="2940050"/>
            <a:ext cx="7131013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some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[1, 9, 21, 10, 16]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9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some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15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some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False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20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 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some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True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29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8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 are in Order</a:t>
            </a:r>
          </a:p>
        </p:txBody>
      </p:sp>
      <p:sp>
        <p:nvSpPr>
          <p:cNvPr id="292" name="Shape 292"/>
          <p:cNvSpPr txBox="1">
            <a:spLocks noGrp="1"/>
          </p:cNvSpPr>
          <p:nvPr>
            <p:ph type="body" idx="1"/>
          </p:nvPr>
        </p:nvSpPr>
        <p:spPr>
          <a:xfrm>
            <a:off x="622301" y="2603500"/>
            <a:ext cx="5524500" cy="57022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59067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can hold many items and keeps those items in order (</a:t>
            </a:r>
            <a:r>
              <a:rPr lang="zh-CN" alt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顺序</a:t>
            </a:r>
            <a:r>
              <a:rPr lang="en-US" altLang="zh-CN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until we do something to change the order</a:t>
            </a:r>
          </a:p>
          <a:p>
            <a:pPr marL="1104900" marR="0" lvl="0" indent="-590677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4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can be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sorted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b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(i.e., change its order)</a:t>
            </a:r>
          </a:p>
          <a:p>
            <a:pPr marL="1104900" marR="0" lvl="0" indent="-590677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sort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method means </a:t>
            </a:r>
            <a:r>
              <a:rPr lang="en-US" sz="34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“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sort yourself</a:t>
            </a:r>
            <a:r>
              <a:rPr lang="en-US" sz="34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”</a:t>
            </a:r>
          </a:p>
        </p:txBody>
      </p:sp>
      <p:sp>
        <p:nvSpPr>
          <p:cNvPr id="293" name="Shape 293"/>
          <p:cNvSpPr txBox="1"/>
          <p:nvPr/>
        </p:nvSpPr>
        <p:spPr>
          <a:xfrm>
            <a:off x="6771475" y="3041075"/>
            <a:ext cx="8976525" cy="4365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 'Joseph', 'Glenn', 'Sally' 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6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.sort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6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6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['Glenn', 'Joseph', 'Sally']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26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friends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  <a:r>
              <a:rPr lang="en-US" sz="26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6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Joseph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9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Built</a:t>
            </a:r>
            <a:r>
              <a:rPr lang="en-US" sz="760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Functions and Lists</a:t>
            </a:r>
          </a:p>
        </p:txBody>
      </p:sp>
      <p:sp>
        <p:nvSpPr>
          <p:cNvPr id="299" name="Shape 299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5802313" cy="49403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4450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There are a number of </a:t>
            </a:r>
            <a:r>
              <a:rPr lang="en-US" sz="34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functions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built into </a:t>
            </a:r>
            <a:r>
              <a:rPr lang="en-US" sz="34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that take </a:t>
            </a:r>
            <a:r>
              <a:rPr lang="en-US" sz="34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</a:t>
            </a: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as parameters</a:t>
            </a:r>
          </a:p>
          <a:p>
            <a:pPr marL="457200" marR="0" lvl="0" indent="-444500" algn="l" rtl="0">
              <a:lnSpc>
                <a:spcPct val="100000"/>
              </a:lnSpc>
              <a:spcBef>
                <a:spcPts val="3500"/>
              </a:spcBef>
              <a:spcAft>
                <a:spcPts val="1000"/>
              </a:spcAft>
              <a:buSzPct val="100000"/>
              <a:buFont typeface="Cabin"/>
            </a:pPr>
            <a:r>
              <a:rPr lang="en-US" sz="34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Remember the loops we built?  These are much simpler.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7929600" y="2455850"/>
            <a:ext cx="7885799" cy="55403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[3, 41, 12, 9, 74, 15]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6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max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74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min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3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sum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154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sum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)/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25.6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hape 305"/>
          <p:cNvSpPr txBox="1"/>
          <p:nvPr/>
        </p:nvSpPr>
        <p:spPr>
          <a:xfrm>
            <a:off x="7314550" y="4800524"/>
            <a:ext cx="8127900" cy="398787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numlist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list()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while True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 err="1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= input('Enter a number: 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 if </a:t>
            </a:r>
            <a:r>
              <a:rPr lang="en-US" sz="2600" i="0" u="none" strike="noStrike" cap="none" dirty="0" err="1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== 'done' : break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 value = float(</a:t>
            </a:r>
            <a:r>
              <a:rPr lang="en-US" sz="2600" i="0" u="none" strike="noStrike" cap="none" dirty="0" err="1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numlist.append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(value)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600" i="0" u="none" strike="noStrike" cap="none" dirty="0">
              <a:solidFill>
                <a:srgbClr val="FF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average = sum(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numlist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 / 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6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numlist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print('Average:', average)</a:t>
            </a:r>
          </a:p>
        </p:txBody>
      </p:sp>
      <p:sp>
        <p:nvSpPr>
          <p:cNvPr id="306" name="Shape 306"/>
          <p:cNvSpPr txBox="1"/>
          <p:nvPr/>
        </p:nvSpPr>
        <p:spPr>
          <a:xfrm>
            <a:off x="464042" y="1049817"/>
            <a:ext cx="8127900" cy="483551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total = 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count = 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while True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 err="1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= input('Enter a number: 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 if </a:t>
            </a:r>
            <a:r>
              <a:rPr lang="en-US" sz="2600" i="0" u="none" strike="noStrike" cap="none" dirty="0" err="1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== 'done’: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   break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 value = float(</a:t>
            </a:r>
            <a:r>
              <a:rPr lang="en-US" sz="2600" i="0" u="none" strike="noStrike" cap="none" dirty="0" err="1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total = total + value    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 count = count + 1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600" i="0" u="none" strike="noStrike" cap="none" dirty="0">
              <a:solidFill>
                <a:srgbClr val="FF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average = total / count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print('Average:', average)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9308725" y="828688"/>
            <a:ext cx="5435700" cy="28623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Enter a number: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Enter a number: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9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Enter a number: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Enter a number: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Average: 5.66666666667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Shape 37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 Summary</a:t>
            </a:r>
          </a:p>
        </p:txBody>
      </p:sp>
      <p:sp>
        <p:nvSpPr>
          <p:cNvPr id="375" name="Shape 375"/>
          <p:cNvSpPr txBox="1"/>
          <p:nvPr/>
        </p:nvSpPr>
        <p:spPr>
          <a:xfrm>
            <a:off x="774275" y="2733900"/>
            <a:ext cx="7450500" cy="51102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lvl="0" indent="-394462" rtl="0">
              <a:spcBef>
                <a:spcPts val="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Concept of a collection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 and definite loops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Indexing and lookup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 mutability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Functions: </a:t>
            </a:r>
            <a:r>
              <a:rPr lang="en-US" sz="3600" dirty="0" err="1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len</a:t>
            </a: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, min, max, sum</a:t>
            </a:r>
          </a:p>
        </p:txBody>
      </p:sp>
      <p:sp>
        <p:nvSpPr>
          <p:cNvPr id="376" name="Shape 376"/>
          <p:cNvSpPr txBox="1"/>
          <p:nvPr/>
        </p:nvSpPr>
        <p:spPr>
          <a:xfrm>
            <a:off x="7932975" y="2733900"/>
            <a:ext cx="7565400" cy="51102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Slicing lists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 methods: append,  remove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Sorting lists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Splitting strings into lists of words</a:t>
            </a:r>
          </a:p>
          <a:p>
            <a:pPr marL="685800" lvl="0" indent="-394462" rtl="0">
              <a:spcBef>
                <a:spcPts val="3500"/>
              </a:spcBef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Using split to parse strings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Shape 37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75" name="Shape 375"/>
          <p:cNvSpPr txBox="1"/>
          <p:nvPr/>
        </p:nvSpPr>
        <p:spPr>
          <a:xfrm>
            <a:off x="774274" y="2733900"/>
            <a:ext cx="14717771" cy="612874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291338" lvl="0" rtl="0">
              <a:spcBef>
                <a:spcPts val="0"/>
              </a:spcBef>
              <a:buClr>
                <a:srgbClr val="FFFFFF"/>
              </a:buClr>
              <a:buSzPct val="100000"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Write a short program that lets the user enter as many numbers as they want. When the user types “</a:t>
            </a:r>
            <a:r>
              <a:rPr lang="en-US" sz="36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”, the program should print out all the numbers the user entered in order from smallest to biggest, and it should print out the </a:t>
            </a:r>
            <a:r>
              <a:rPr lang="en-US" sz="36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average</a:t>
            </a: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all the numbers. You should use these concepts in your program: </a:t>
            </a:r>
          </a:p>
          <a:p>
            <a:pPr marL="685800" lvl="0" indent="-394462" rtl="0">
              <a:spcBef>
                <a:spcPts val="0"/>
              </a:spcBef>
              <a:buClr>
                <a:srgbClr val="FFFFFF"/>
              </a:buClr>
              <a:buSzPct val="100000"/>
              <a:buFont typeface="Cabin"/>
              <a:buChar char="•"/>
            </a:pPr>
            <a:endParaRPr lang="en-US" sz="3600" dirty="0">
              <a:solidFill>
                <a:srgbClr val="FF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lvl="0" indent="-394462"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while</a:t>
            </a: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loop </a:t>
            </a:r>
          </a:p>
          <a:p>
            <a:pPr marL="685800" lvl="0" indent="-394462"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break</a:t>
            </a:r>
            <a:endParaRPr lang="en-US" sz="3600" dirty="0">
              <a:solidFill>
                <a:srgbClr val="FF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lvl="0" indent="-394462"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sum()</a:t>
            </a: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</a:t>
            </a:r>
          </a:p>
          <a:p>
            <a:pPr marL="685800" indent="-394462"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3600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len</a:t>
            </a:r>
            <a:r>
              <a:rPr lang="en-US" sz="36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</a:t>
            </a:r>
          </a:p>
          <a:p>
            <a:pPr marL="685800" indent="-394462">
              <a:buClr>
                <a:srgbClr val="FFFFFF"/>
              </a:buClr>
              <a:buSzPct val="100000"/>
              <a:buFont typeface="Cabin"/>
              <a:buChar char="•"/>
            </a:pPr>
            <a:endParaRPr lang="en-US" sz="3600" dirty="0">
              <a:solidFill>
                <a:srgbClr val="FF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lvl="0" indent="-394462">
              <a:buClr>
                <a:srgbClr val="FFFFFF"/>
              </a:buClr>
              <a:buSzPct val="100000"/>
              <a:buFont typeface="Cabin"/>
              <a:buChar char="•"/>
            </a:pPr>
            <a:endParaRPr lang="en-US" sz="3600" dirty="0">
              <a:solidFill>
                <a:srgbClr val="FF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lvl="0" indent="-394462" rtl="0">
              <a:spcBef>
                <a:spcPts val="0"/>
              </a:spcBef>
              <a:buClr>
                <a:srgbClr val="FFFFFF"/>
              </a:buClr>
              <a:buSzPct val="100000"/>
              <a:buFont typeface="Cabin"/>
              <a:buChar char="•"/>
            </a:pPr>
            <a:endParaRPr lang="en-US" sz="3600" dirty="0">
              <a:solidFill>
                <a:srgbClr val="FFFFFF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1585389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Shape 1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Dictionaries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3435946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212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9788525" cy="17502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a Collection?</a:t>
            </a:r>
          </a:p>
        </p:txBody>
      </p:sp>
      <p:sp>
        <p:nvSpPr>
          <p:cNvPr id="213" name="Shape 21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collection is nice because we can put more than one value in </a:t>
            </a:r>
            <a:r>
              <a:rPr lang="en-US" sz="36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carry them all around in one convenient package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have a bunch of values in a single 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do this by having more than one place 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variable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have ways of finding the different places in the variable</a:t>
            </a:r>
          </a:p>
        </p:txBody>
      </p:sp>
      <p:pic>
        <p:nvPicPr>
          <p:cNvPr id="214" name="Shape 214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2515849" y="860850"/>
            <a:ext cx="2357975" cy="17426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19772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2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is Not a 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Collection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”?</a:t>
            </a:r>
          </a:p>
        </p:txBody>
      </p:sp>
      <p:sp>
        <p:nvSpPr>
          <p:cNvPr id="220" name="Shape 220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1900" cy="18399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Most of our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have one value in them - when we put a new value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the old value is overwritten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2859087" y="4289542"/>
            <a:ext cx="12547499" cy="319404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677084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226"/>
          <p:cNvSpPr txBox="1">
            <a:spLocks noGrp="1"/>
          </p:cNvSpPr>
          <p:nvPr>
            <p:ph type="title"/>
          </p:nvPr>
        </p:nvSpPr>
        <p:spPr>
          <a:xfrm>
            <a:off x="2006510" y="789709"/>
            <a:ext cx="13081089" cy="17502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Story of Two Collections..</a:t>
            </a:r>
          </a:p>
        </p:txBody>
      </p:sp>
      <p:sp>
        <p:nvSpPr>
          <p:cNvPr id="227" name="Shape 227"/>
          <p:cNvSpPr txBox="1">
            <a:spLocks noGrp="1"/>
          </p:cNvSpPr>
          <p:nvPr>
            <p:ph type="body" idx="1"/>
          </p:nvPr>
        </p:nvSpPr>
        <p:spPr>
          <a:xfrm>
            <a:off x="608202" y="2603500"/>
            <a:ext cx="14479398" cy="57022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A linear collection of values that stay in order</a:t>
            </a:r>
          </a:p>
          <a:p>
            <a:pPr marL="568706" marR="0" lvl="0" indent="-390906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None/>
            </a:pPr>
            <a:endParaRPr sz="3600" u="none" strike="noStrike" cap="none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00FF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A 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bag</a:t>
            </a: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values, each with its own label</a:t>
            </a:r>
          </a:p>
        </p:txBody>
      </p:sp>
      <p:pic>
        <p:nvPicPr>
          <p:cNvPr id="228" name="Shape 2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81000" y="2400300"/>
            <a:ext cx="2400300" cy="245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Shape 229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603036" y="2438400"/>
            <a:ext cx="815975" cy="2374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Shape 2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901613" y="5321301"/>
            <a:ext cx="2668586" cy="28169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Shape 231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529886" y="5562600"/>
            <a:ext cx="1889125" cy="1384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Shape 232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1012" y="673100"/>
            <a:ext cx="1525499" cy="1524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891489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237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5916613" cy="17502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Dictionaries</a:t>
            </a:r>
          </a:p>
        </p:txBody>
      </p:sp>
      <p:pic>
        <p:nvPicPr>
          <p:cNvPr id="239" name="Shape 239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48212" y="2803241"/>
            <a:ext cx="4533899" cy="3320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Shape 2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90015" y="900108"/>
            <a:ext cx="6069011" cy="6376987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Shape 240"/>
          <p:cNvSpPr txBox="1"/>
          <p:nvPr/>
        </p:nvSpPr>
        <p:spPr>
          <a:xfrm>
            <a:off x="12151603" y="5868681"/>
            <a:ext cx="1483640" cy="511119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money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13710807" y="3406564"/>
            <a:ext cx="1149375" cy="511119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tissue</a:t>
            </a:r>
          </a:p>
        </p:txBody>
      </p:sp>
      <p:sp>
        <p:nvSpPr>
          <p:cNvPr id="242" name="Shape 242"/>
          <p:cNvSpPr txBox="1"/>
          <p:nvPr/>
        </p:nvSpPr>
        <p:spPr>
          <a:xfrm>
            <a:off x="9036008" y="3834304"/>
            <a:ext cx="1691379" cy="511119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calculator</a:t>
            </a:r>
          </a:p>
        </p:txBody>
      </p:sp>
      <p:sp>
        <p:nvSpPr>
          <p:cNvPr id="243" name="Shape 243"/>
          <p:cNvSpPr txBox="1"/>
          <p:nvPr/>
        </p:nvSpPr>
        <p:spPr>
          <a:xfrm>
            <a:off x="8224838" y="5180123"/>
            <a:ext cx="1691379" cy="511119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perfume</a:t>
            </a:r>
          </a:p>
        </p:txBody>
      </p:sp>
      <p:sp>
        <p:nvSpPr>
          <p:cNvPr id="244" name="Shape 244"/>
          <p:cNvSpPr txBox="1"/>
          <p:nvPr/>
        </p:nvSpPr>
        <p:spPr>
          <a:xfrm>
            <a:off x="9033241" y="6525941"/>
            <a:ext cx="1096636" cy="511119"/>
          </a:xfrm>
          <a:prstGeom prst="rect">
            <a:avLst/>
          </a:prstGeom>
          <a:solidFill>
            <a:srgbClr val="FF40FF"/>
          </a:solidFill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candy</a:t>
            </a:r>
          </a:p>
        </p:txBody>
      </p:sp>
      <p:sp>
        <p:nvSpPr>
          <p:cNvPr id="245" name="Shape 245"/>
          <p:cNvSpPr txBox="1"/>
          <p:nvPr/>
        </p:nvSpPr>
        <p:spPr>
          <a:xfrm>
            <a:off x="2754395" y="7508572"/>
            <a:ext cx="11531099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sng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5"/>
              </a:rPr>
              <a:t>http://en.wikipedia.org/wiki/Associative_array</a:t>
            </a:r>
          </a:p>
        </p:txBody>
      </p:sp>
    </p:spTree>
    <p:extLst>
      <p:ext uri="{BB962C8B-B14F-4D97-AF65-F5344CB8AC3E}">
        <p14:creationId xmlns:p14="http://schemas.microsoft.com/office/powerpoint/2010/main" val="9357862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Shape 259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6488113" cy="57022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Lists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index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their entries based on the position in the list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00FF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Dictionaries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are like bags - no order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 we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index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things we put in the </a:t>
            </a: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with a </a:t>
            </a:r>
            <a:r>
              <a:rPr lang="en-US" sz="3600" b="0" i="0" u="none" strike="noStrike" cap="none" dirty="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lookup tag</a:t>
            </a:r>
            <a:r>
              <a:rPr lang="en-US" sz="3600" b="0" i="0" u="none" strike="noStrike" cap="none" dirty="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</p:txBody>
      </p:sp>
      <p:sp>
        <p:nvSpPr>
          <p:cNvPr id="260" name="Shape 260"/>
          <p:cNvSpPr txBox="1"/>
          <p:nvPr/>
        </p:nvSpPr>
        <p:spPr>
          <a:xfrm>
            <a:off x="8242775" y="2314575"/>
            <a:ext cx="7428900" cy="551497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4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['money']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12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['candy']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['tissues']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75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{'money': 12, 'tissues': 75, 'candy': 3}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['candy']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['candy']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['candy']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+ 2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purse</a:t>
            </a:r>
            <a:r>
              <a:rPr lang="en-US" sz="24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4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{'money': 12, 'tissues': 75, 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'candy': 5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</p:txBody>
      </p:sp>
      <p:sp>
        <p:nvSpPr>
          <p:cNvPr id="6" name="Shape 250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2582521" cy="17502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Dictionaries</a:t>
            </a:r>
          </a:p>
        </p:txBody>
      </p:sp>
    </p:spTree>
    <p:extLst>
      <p:ext uri="{BB962C8B-B14F-4D97-AF65-F5344CB8AC3E}">
        <p14:creationId xmlns:p14="http://schemas.microsoft.com/office/powerpoint/2010/main" val="17810383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Comparing Lists and Dictionaries</a:t>
            </a:r>
          </a:p>
        </p:txBody>
      </p:sp>
      <p:sp>
        <p:nvSpPr>
          <p:cNvPr id="266" name="Shape 266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1900" cy="17653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215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171000"/>
              <a:buNone/>
            </a:pP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Dictionaries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are like </a:t>
            </a: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except that they use 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instead of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numbers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look up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values</a:t>
            </a:r>
          </a:p>
        </p:txBody>
      </p:sp>
      <p:sp>
        <p:nvSpPr>
          <p:cNvPr id="267" name="Shape 267"/>
          <p:cNvSpPr txBox="1"/>
          <p:nvPr/>
        </p:nvSpPr>
        <p:spPr>
          <a:xfrm>
            <a:off x="2381250" y="4551344"/>
            <a:ext cx="5059200" cy="357824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list()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lst.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append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lst.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append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183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21, 183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] =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23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23, 183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</p:txBody>
      </p:sp>
      <p:sp>
        <p:nvSpPr>
          <p:cNvPr id="268" name="Shape 268"/>
          <p:cNvSpPr txBox="1"/>
          <p:nvPr/>
        </p:nvSpPr>
        <p:spPr>
          <a:xfrm>
            <a:off x="9083675" y="3997320"/>
            <a:ext cx="6492600" cy="443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=</a:t>
            </a:r>
            <a:r>
              <a:rPr lang="en-US" sz="3000" i="0" u="none" strike="noStrike" cap="none" dirty="0">
                <a:solidFill>
                  <a:srgbClr val="00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] =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'course'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] =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182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{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'course'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182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] = 23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{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'course'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182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23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96413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Shape 273"/>
          <p:cNvSpPr txBox="1"/>
          <p:nvPr/>
        </p:nvSpPr>
        <p:spPr>
          <a:xfrm>
            <a:off x="1586675" y="779399"/>
            <a:ext cx="5690999" cy="359257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</a:t>
            </a:r>
            <a:r>
              <a:rPr lang="en-US" sz="2800" i="0" u="none" strike="noStrike" cap="none" dirty="0">
                <a:solidFill>
                  <a:srgbClr val="00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list()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lst.append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lst.append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183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21, 183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[0]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23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lst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23, 183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]</a:t>
            </a:r>
          </a:p>
        </p:txBody>
      </p:sp>
      <p:sp>
        <p:nvSpPr>
          <p:cNvPr id="274" name="Shape 274"/>
          <p:cNvSpPr txBox="1"/>
          <p:nvPr/>
        </p:nvSpPr>
        <p:spPr>
          <a:xfrm>
            <a:off x="1586675" y="4519499"/>
            <a:ext cx="6215699" cy="39402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] =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'course'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] =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182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{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'course'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182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21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[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] = 23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800" i="0" u="none" strike="noStrike" cap="none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{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'course'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182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'age'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23</a:t>
            </a:r>
            <a:r>
              <a:rPr lang="en-US" sz="28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</p:txBody>
      </p:sp>
      <p:sp>
        <p:nvSpPr>
          <p:cNvPr id="275" name="Shape 275"/>
          <p:cNvSpPr txBox="1"/>
          <p:nvPr/>
        </p:nvSpPr>
        <p:spPr>
          <a:xfrm>
            <a:off x="10278270" y="2265299"/>
            <a:ext cx="6477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[0]</a:t>
            </a:r>
          </a:p>
        </p:txBody>
      </p:sp>
      <p:sp>
        <p:nvSpPr>
          <p:cNvPr id="276" name="Shape 276"/>
          <p:cNvSpPr txBox="1"/>
          <p:nvPr/>
        </p:nvSpPr>
        <p:spPr>
          <a:xfrm>
            <a:off x="11602245" y="2252599"/>
            <a:ext cx="597000" cy="647700"/>
          </a:xfrm>
          <a:prstGeom prst="rect">
            <a:avLst/>
          </a:prstGeom>
          <a:noFill/>
          <a:ln w="254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21</a:t>
            </a:r>
          </a:p>
        </p:txBody>
      </p:sp>
      <p:sp>
        <p:nvSpPr>
          <p:cNvPr id="277" name="Shape 277"/>
          <p:cNvSpPr txBox="1"/>
          <p:nvPr/>
        </p:nvSpPr>
        <p:spPr>
          <a:xfrm>
            <a:off x="10278270" y="3027299"/>
            <a:ext cx="6477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[1]</a:t>
            </a:r>
          </a:p>
        </p:txBody>
      </p:sp>
      <p:sp>
        <p:nvSpPr>
          <p:cNvPr id="278" name="Shape 278"/>
          <p:cNvSpPr txBox="1"/>
          <p:nvPr/>
        </p:nvSpPr>
        <p:spPr>
          <a:xfrm>
            <a:off x="11602245" y="3014599"/>
            <a:ext cx="947699" cy="647700"/>
          </a:xfrm>
          <a:prstGeom prst="rect">
            <a:avLst/>
          </a:prstGeom>
          <a:noFill/>
          <a:ln w="254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183</a:t>
            </a:r>
          </a:p>
        </p:txBody>
      </p:sp>
      <p:sp>
        <p:nvSpPr>
          <p:cNvPr id="279" name="Shape 279"/>
          <p:cNvSpPr txBox="1"/>
          <p:nvPr/>
        </p:nvSpPr>
        <p:spPr>
          <a:xfrm>
            <a:off x="13773945" y="2417699"/>
            <a:ext cx="647700" cy="774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</a:t>
            </a:r>
            <a:r>
              <a:rPr lang="en-US" sz="320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st</a:t>
            </a:r>
          </a:p>
        </p:txBody>
      </p:sp>
      <p:sp>
        <p:nvSpPr>
          <p:cNvPr id="280" name="Shape 280"/>
          <p:cNvSpPr txBox="1"/>
          <p:nvPr/>
        </p:nvSpPr>
        <p:spPr>
          <a:xfrm>
            <a:off x="10202070" y="1465199"/>
            <a:ext cx="7986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</a:t>
            </a:r>
          </a:p>
        </p:txBody>
      </p:sp>
      <p:sp>
        <p:nvSpPr>
          <p:cNvPr id="281" name="Shape 281"/>
          <p:cNvSpPr txBox="1"/>
          <p:nvPr/>
        </p:nvSpPr>
        <p:spPr>
          <a:xfrm>
            <a:off x="11622881" y="1465199"/>
            <a:ext cx="1106487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</a:t>
            </a:r>
          </a:p>
        </p:txBody>
      </p:sp>
      <p:sp>
        <p:nvSpPr>
          <p:cNvPr id="282" name="Shape 282"/>
          <p:cNvSpPr txBox="1"/>
          <p:nvPr/>
        </p:nvSpPr>
        <p:spPr>
          <a:xfrm>
            <a:off x="9433720" y="6365807"/>
            <a:ext cx="1847699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['course']</a:t>
            </a:r>
          </a:p>
        </p:txBody>
      </p:sp>
      <p:sp>
        <p:nvSpPr>
          <p:cNvPr id="283" name="Shape 283"/>
          <p:cNvSpPr txBox="1"/>
          <p:nvPr/>
        </p:nvSpPr>
        <p:spPr>
          <a:xfrm>
            <a:off x="11805445" y="6353107"/>
            <a:ext cx="947699" cy="647700"/>
          </a:xfrm>
          <a:prstGeom prst="rect">
            <a:avLst/>
          </a:prstGeom>
          <a:noFill/>
          <a:ln w="254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18</a:t>
            </a: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</a:t>
            </a:r>
          </a:p>
        </p:txBody>
      </p:sp>
      <p:sp>
        <p:nvSpPr>
          <p:cNvPr id="284" name="Shape 284"/>
          <p:cNvSpPr txBox="1"/>
          <p:nvPr/>
        </p:nvSpPr>
        <p:spPr>
          <a:xfrm>
            <a:off x="10081420" y="7127807"/>
            <a:ext cx="1200299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['age']</a:t>
            </a:r>
          </a:p>
        </p:txBody>
      </p:sp>
      <p:sp>
        <p:nvSpPr>
          <p:cNvPr id="285" name="Shape 285"/>
          <p:cNvSpPr txBox="1"/>
          <p:nvPr/>
        </p:nvSpPr>
        <p:spPr>
          <a:xfrm>
            <a:off x="11805445" y="7115107"/>
            <a:ext cx="597000" cy="647700"/>
          </a:xfrm>
          <a:prstGeom prst="rect">
            <a:avLst/>
          </a:prstGeom>
          <a:noFill/>
          <a:ln w="254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21</a:t>
            </a:r>
          </a:p>
        </p:txBody>
      </p:sp>
      <p:sp>
        <p:nvSpPr>
          <p:cNvPr id="286" name="Shape 286"/>
          <p:cNvSpPr txBox="1"/>
          <p:nvPr/>
        </p:nvSpPr>
        <p:spPr>
          <a:xfrm>
            <a:off x="13608845" y="6569007"/>
            <a:ext cx="996950" cy="774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ddd</a:t>
            </a:r>
          </a:p>
        </p:txBody>
      </p:sp>
      <p:sp>
        <p:nvSpPr>
          <p:cNvPr id="287" name="Shape 287"/>
          <p:cNvSpPr txBox="1"/>
          <p:nvPr/>
        </p:nvSpPr>
        <p:spPr>
          <a:xfrm>
            <a:off x="10329070" y="5565707"/>
            <a:ext cx="798512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</a:t>
            </a:r>
          </a:p>
        </p:txBody>
      </p:sp>
      <p:sp>
        <p:nvSpPr>
          <p:cNvPr id="288" name="Shape 288"/>
          <p:cNvSpPr txBox="1"/>
          <p:nvPr/>
        </p:nvSpPr>
        <p:spPr>
          <a:xfrm>
            <a:off x="11749882" y="5565707"/>
            <a:ext cx="11064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</a:t>
            </a:r>
          </a:p>
        </p:txBody>
      </p:sp>
      <p:sp>
        <p:nvSpPr>
          <p:cNvPr id="289" name="Shape 289"/>
          <p:cNvSpPr txBox="1"/>
          <p:nvPr/>
        </p:nvSpPr>
        <p:spPr>
          <a:xfrm>
            <a:off x="10838656" y="779399"/>
            <a:ext cx="947737" cy="774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List</a:t>
            </a:r>
          </a:p>
        </p:txBody>
      </p:sp>
      <p:sp>
        <p:nvSpPr>
          <p:cNvPr id="290" name="Shape 290"/>
          <p:cNvSpPr txBox="1"/>
          <p:nvPr/>
        </p:nvSpPr>
        <p:spPr>
          <a:xfrm>
            <a:off x="10100470" y="4765607"/>
            <a:ext cx="2627400" cy="774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</a:t>
            </a:r>
          </a:p>
        </p:txBody>
      </p:sp>
    </p:spTree>
    <p:extLst>
      <p:ext uri="{BB962C8B-B14F-4D97-AF65-F5344CB8AC3E}">
        <p14:creationId xmlns:p14="http://schemas.microsoft.com/office/powerpoint/2010/main" val="2456673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29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 Literals (Constants)</a:t>
            </a:r>
          </a:p>
        </p:txBody>
      </p:sp>
      <p:sp>
        <p:nvSpPr>
          <p:cNvPr id="296" name="Shape 296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1900" cy="153987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bin"/>
            </a:pPr>
            <a:r>
              <a:rPr lang="en-US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 literals use curly braces and have a list of </a:t>
            </a:r>
            <a:r>
              <a:rPr lang="en-US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</a:t>
            </a:r>
            <a:r>
              <a:rPr lang="en-US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: </a:t>
            </a:r>
            <a:r>
              <a:rPr lang="en-US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</a:t>
            </a:r>
            <a:r>
              <a:rPr lang="en-US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pairs</a:t>
            </a:r>
          </a:p>
          <a:p>
            <a:pPr marL="457200" marR="0" lvl="0" indent="-457200" algn="l" rtl="0">
              <a:lnSpc>
                <a:spcPct val="150000"/>
              </a:lnSpc>
              <a:spcBef>
                <a:spcPts val="3500"/>
              </a:spcBef>
              <a:spcAft>
                <a:spcPts val="0"/>
              </a:spcAft>
              <a:buSzPct val="100000"/>
              <a:buFont typeface="Cabin"/>
            </a:pPr>
            <a:r>
              <a:rPr lang="en-US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make an </a:t>
            </a:r>
            <a:r>
              <a:rPr lang="en-US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empty dictionary</a:t>
            </a:r>
            <a:r>
              <a:rPr lang="en-US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using empty curly braces</a:t>
            </a:r>
          </a:p>
        </p:txBody>
      </p:sp>
      <p:sp>
        <p:nvSpPr>
          <p:cNvPr id="297" name="Shape 297"/>
          <p:cNvSpPr txBox="1"/>
          <p:nvPr/>
        </p:nvSpPr>
        <p:spPr>
          <a:xfrm>
            <a:off x="1994000" y="4804675"/>
            <a:ext cx="12465600" cy="338206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jjj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{ '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chuck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 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, '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 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'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100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jjj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{'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100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'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chuck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'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ooo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{</a:t>
            </a:r>
            <a:r>
              <a:rPr lang="en-US" sz="3000" i="0" u="none" strike="noStrike" cap="none" dirty="0">
                <a:solidFill>
                  <a:srgbClr val="00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ooo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{}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2351968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3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Most Common Name?</a:t>
            </a:r>
          </a:p>
        </p:txBody>
      </p:sp>
      <p:sp>
        <p:nvSpPr>
          <p:cNvPr id="332" name="Shape 332"/>
          <p:cNvSpPr txBox="1"/>
          <p:nvPr/>
        </p:nvSpPr>
        <p:spPr>
          <a:xfrm>
            <a:off x="1344600" y="5705416"/>
            <a:ext cx="19095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</a:p>
        </p:txBody>
      </p:sp>
      <p:sp>
        <p:nvSpPr>
          <p:cNvPr id="333" name="Shape 333"/>
          <p:cNvSpPr txBox="1"/>
          <p:nvPr/>
        </p:nvSpPr>
        <p:spPr>
          <a:xfrm>
            <a:off x="1344600" y="4274708"/>
            <a:ext cx="20675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34" name="Shape 334"/>
          <p:cNvSpPr txBox="1"/>
          <p:nvPr/>
        </p:nvSpPr>
        <p:spPr>
          <a:xfrm>
            <a:off x="1344600" y="7136125"/>
            <a:ext cx="21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35" name="Shape 335"/>
          <p:cNvSpPr txBox="1"/>
          <p:nvPr/>
        </p:nvSpPr>
        <p:spPr>
          <a:xfrm>
            <a:off x="1236075" y="2844000"/>
            <a:ext cx="38876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marquard</a:t>
            </a:r>
          </a:p>
        </p:txBody>
      </p:sp>
      <p:sp>
        <p:nvSpPr>
          <p:cNvPr id="336" name="Shape 336"/>
          <p:cNvSpPr txBox="1"/>
          <p:nvPr/>
        </p:nvSpPr>
        <p:spPr>
          <a:xfrm>
            <a:off x="11505925" y="7173950"/>
            <a:ext cx="21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37" name="Shape 337"/>
          <p:cNvSpPr txBox="1"/>
          <p:nvPr/>
        </p:nvSpPr>
        <p:spPr>
          <a:xfrm>
            <a:off x="11505925" y="2842050"/>
            <a:ext cx="18875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cwen</a:t>
            </a:r>
          </a:p>
        </p:txBody>
      </p:sp>
      <p:sp>
        <p:nvSpPr>
          <p:cNvPr id="338" name="Shape 338"/>
          <p:cNvSpPr txBox="1"/>
          <p:nvPr/>
        </p:nvSpPr>
        <p:spPr>
          <a:xfrm>
            <a:off x="11505925" y="5008000"/>
            <a:ext cx="18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</a:p>
        </p:txBody>
      </p:sp>
      <p:sp>
        <p:nvSpPr>
          <p:cNvPr id="339" name="Shape 339"/>
          <p:cNvSpPr txBox="1"/>
          <p:nvPr/>
        </p:nvSpPr>
        <p:spPr>
          <a:xfrm>
            <a:off x="11505925" y="6090975"/>
            <a:ext cx="40350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marquard</a:t>
            </a:r>
          </a:p>
        </p:txBody>
      </p:sp>
      <p:sp>
        <p:nvSpPr>
          <p:cNvPr id="340" name="Shape 340"/>
          <p:cNvSpPr txBox="1"/>
          <p:nvPr/>
        </p:nvSpPr>
        <p:spPr>
          <a:xfrm>
            <a:off x="6049446" y="5653100"/>
            <a:ext cx="21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41" name="Shape 341"/>
          <p:cNvSpPr txBox="1"/>
          <p:nvPr/>
        </p:nvSpPr>
        <p:spPr>
          <a:xfrm>
            <a:off x="5856545" y="4197225"/>
            <a:ext cx="36764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marquard</a:t>
            </a:r>
          </a:p>
        </p:txBody>
      </p:sp>
      <p:sp>
        <p:nvSpPr>
          <p:cNvPr id="342" name="Shape 342"/>
          <p:cNvSpPr txBox="1"/>
          <p:nvPr/>
        </p:nvSpPr>
        <p:spPr>
          <a:xfrm>
            <a:off x="6049446" y="7108975"/>
            <a:ext cx="19095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</a:p>
        </p:txBody>
      </p:sp>
      <p:sp>
        <p:nvSpPr>
          <p:cNvPr id="343" name="Shape 343"/>
          <p:cNvSpPr txBox="1"/>
          <p:nvPr/>
        </p:nvSpPr>
        <p:spPr>
          <a:xfrm>
            <a:off x="6049446" y="2741350"/>
            <a:ext cx="18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cwen</a:t>
            </a:r>
          </a:p>
        </p:txBody>
      </p:sp>
      <p:sp>
        <p:nvSpPr>
          <p:cNvPr id="344" name="Shape 344"/>
          <p:cNvSpPr txBox="1"/>
          <p:nvPr/>
        </p:nvSpPr>
        <p:spPr>
          <a:xfrm>
            <a:off x="11505925" y="3925025"/>
            <a:ext cx="23136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</p:spTree>
    <p:extLst>
      <p:ext uri="{BB962C8B-B14F-4D97-AF65-F5344CB8AC3E}">
        <p14:creationId xmlns:p14="http://schemas.microsoft.com/office/powerpoint/2010/main" val="1326484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Shape 34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Most Common Name?</a:t>
            </a:r>
          </a:p>
        </p:txBody>
      </p:sp>
      <p:sp>
        <p:nvSpPr>
          <p:cNvPr id="350" name="Shape 350"/>
          <p:cNvSpPr txBox="1"/>
          <p:nvPr/>
        </p:nvSpPr>
        <p:spPr>
          <a:xfrm>
            <a:off x="1344600" y="5705416"/>
            <a:ext cx="19095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</a:p>
        </p:txBody>
      </p:sp>
      <p:sp>
        <p:nvSpPr>
          <p:cNvPr id="351" name="Shape 351"/>
          <p:cNvSpPr txBox="1"/>
          <p:nvPr/>
        </p:nvSpPr>
        <p:spPr>
          <a:xfrm>
            <a:off x="1344600" y="4274708"/>
            <a:ext cx="20675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52" name="Shape 352"/>
          <p:cNvSpPr txBox="1"/>
          <p:nvPr/>
        </p:nvSpPr>
        <p:spPr>
          <a:xfrm>
            <a:off x="1273048" y="7136125"/>
            <a:ext cx="21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53" name="Shape 353"/>
          <p:cNvSpPr txBox="1"/>
          <p:nvPr/>
        </p:nvSpPr>
        <p:spPr>
          <a:xfrm>
            <a:off x="1237272" y="2844000"/>
            <a:ext cx="38876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marquard</a:t>
            </a:r>
          </a:p>
        </p:txBody>
      </p:sp>
      <p:sp>
        <p:nvSpPr>
          <p:cNvPr id="354" name="Shape 354"/>
          <p:cNvSpPr txBox="1"/>
          <p:nvPr/>
        </p:nvSpPr>
        <p:spPr>
          <a:xfrm>
            <a:off x="11505925" y="7173950"/>
            <a:ext cx="21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55" name="Shape 355"/>
          <p:cNvSpPr txBox="1"/>
          <p:nvPr/>
        </p:nvSpPr>
        <p:spPr>
          <a:xfrm>
            <a:off x="11505925" y="2842050"/>
            <a:ext cx="18875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cwen</a:t>
            </a:r>
          </a:p>
        </p:txBody>
      </p:sp>
      <p:sp>
        <p:nvSpPr>
          <p:cNvPr id="356" name="Shape 356"/>
          <p:cNvSpPr txBox="1"/>
          <p:nvPr/>
        </p:nvSpPr>
        <p:spPr>
          <a:xfrm>
            <a:off x="11505925" y="5008000"/>
            <a:ext cx="18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</a:p>
        </p:txBody>
      </p:sp>
      <p:sp>
        <p:nvSpPr>
          <p:cNvPr id="357" name="Shape 357"/>
          <p:cNvSpPr txBox="1"/>
          <p:nvPr/>
        </p:nvSpPr>
        <p:spPr>
          <a:xfrm>
            <a:off x="11505925" y="6090975"/>
            <a:ext cx="40350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marquard</a:t>
            </a:r>
          </a:p>
        </p:txBody>
      </p:sp>
      <p:sp>
        <p:nvSpPr>
          <p:cNvPr id="358" name="Shape 358"/>
          <p:cNvSpPr txBox="1"/>
          <p:nvPr/>
        </p:nvSpPr>
        <p:spPr>
          <a:xfrm>
            <a:off x="6049446" y="5653100"/>
            <a:ext cx="21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sp>
        <p:nvSpPr>
          <p:cNvPr id="359" name="Shape 359"/>
          <p:cNvSpPr txBox="1"/>
          <p:nvPr/>
        </p:nvSpPr>
        <p:spPr>
          <a:xfrm>
            <a:off x="6049446" y="4197225"/>
            <a:ext cx="3676499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marquard</a:t>
            </a:r>
          </a:p>
        </p:txBody>
      </p:sp>
      <p:sp>
        <p:nvSpPr>
          <p:cNvPr id="360" name="Shape 360"/>
          <p:cNvSpPr txBox="1"/>
          <p:nvPr/>
        </p:nvSpPr>
        <p:spPr>
          <a:xfrm>
            <a:off x="6049446" y="7108975"/>
            <a:ext cx="19095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</a:p>
        </p:txBody>
      </p:sp>
      <p:sp>
        <p:nvSpPr>
          <p:cNvPr id="361" name="Shape 361"/>
          <p:cNvSpPr txBox="1"/>
          <p:nvPr/>
        </p:nvSpPr>
        <p:spPr>
          <a:xfrm>
            <a:off x="6049446" y="2741350"/>
            <a:ext cx="18891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cwen</a:t>
            </a:r>
          </a:p>
        </p:txBody>
      </p:sp>
      <p:sp>
        <p:nvSpPr>
          <p:cNvPr id="362" name="Shape 362"/>
          <p:cNvSpPr txBox="1"/>
          <p:nvPr/>
        </p:nvSpPr>
        <p:spPr>
          <a:xfrm>
            <a:off x="11505925" y="3925025"/>
            <a:ext cx="2313600" cy="1066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0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zhen</a:t>
            </a:r>
          </a:p>
        </p:txBody>
      </p:sp>
      <p:pic>
        <p:nvPicPr>
          <p:cNvPr id="363" name="Shape 36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26050" y="3865012"/>
            <a:ext cx="4761000" cy="33527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455357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Shape 3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2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</a:t>
            </a:r>
            <a:r>
              <a:rPr lang="en-US" sz="72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ounting with a Dictionary</a:t>
            </a:r>
          </a:p>
        </p:txBody>
      </p:sp>
      <p:sp>
        <p:nvSpPr>
          <p:cNvPr id="369" name="Shape 369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8916988" cy="199707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215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 common use of dictionaries is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counting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how often we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see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something</a:t>
            </a:r>
          </a:p>
        </p:txBody>
      </p:sp>
      <p:pic>
        <p:nvPicPr>
          <p:cNvPr id="370" name="Shape 370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287000" y="3611562"/>
            <a:ext cx="4760912" cy="3352799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Shape 371"/>
          <p:cNvSpPr txBox="1"/>
          <p:nvPr/>
        </p:nvSpPr>
        <p:spPr>
          <a:xfrm>
            <a:off x="10880725" y="2781300"/>
            <a:ext cx="798512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</a:t>
            </a:r>
          </a:p>
        </p:txBody>
      </p:sp>
      <p:sp>
        <p:nvSpPr>
          <p:cNvPr id="372" name="Shape 372"/>
          <p:cNvSpPr txBox="1"/>
          <p:nvPr/>
        </p:nvSpPr>
        <p:spPr>
          <a:xfrm>
            <a:off x="12971233" y="2781300"/>
            <a:ext cx="1573213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</a:t>
            </a:r>
          </a:p>
        </p:txBody>
      </p:sp>
      <p:sp>
        <p:nvSpPr>
          <p:cNvPr id="373" name="Shape 373"/>
          <p:cNvSpPr txBox="1"/>
          <p:nvPr/>
        </p:nvSpPr>
        <p:spPr>
          <a:xfrm>
            <a:off x="1803400" y="4165600"/>
            <a:ext cx="7825500" cy="4267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ccc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ccc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'] =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ccc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'] =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ccc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{'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ccc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'] =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ccc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['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'] +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ccc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{'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'</a:t>
            </a:r>
            <a:r>
              <a:rPr lang="en-US" sz="30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2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78190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e 37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 Tracebacks (Errors)</a:t>
            </a:r>
          </a:p>
        </p:txBody>
      </p:sp>
      <p:sp>
        <p:nvSpPr>
          <p:cNvPr id="379" name="Shape 379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1900" cy="218345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is an </a:t>
            </a:r>
            <a:r>
              <a:rPr lang="en-US" sz="3600" u="none" strike="noStrike" cap="none" dirty="0">
                <a:solidFill>
                  <a:srgbClr val="FF66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error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reference a key which is not in the dictionary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use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operator to see if a key is in the dictionary</a:t>
            </a:r>
          </a:p>
        </p:txBody>
      </p:sp>
      <p:sp>
        <p:nvSpPr>
          <p:cNvPr id="380" name="Shape 380"/>
          <p:cNvSpPr txBox="1"/>
          <p:nvPr/>
        </p:nvSpPr>
        <p:spPr>
          <a:xfrm>
            <a:off x="3558496" y="4758563"/>
            <a:ext cx="9056699" cy="374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ccc = </a:t>
            </a:r>
            <a:r>
              <a:rPr lang="en-US" sz="30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000" i="0" u="none" strike="noStrike" cap="none" dirty="0">
                <a:solidFill>
                  <a:srgbClr val="FF00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FF66FF"/>
                </a:solidFill>
                <a:latin typeface="Courier"/>
                <a:ea typeface="Courier"/>
                <a:cs typeface="Courier"/>
                <a:sym typeface="Courier New"/>
              </a:rPr>
              <a:t>ccc['</a:t>
            </a:r>
            <a:r>
              <a:rPr lang="en-US" sz="3000" i="0" u="none" strike="noStrike" cap="none" dirty="0" err="1">
                <a:solidFill>
                  <a:srgbClr val="FF66FF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3000" i="0" u="none" strike="noStrike" cap="none" dirty="0">
                <a:solidFill>
                  <a:srgbClr val="FF66FF"/>
                </a:solidFill>
                <a:latin typeface="Courier"/>
                <a:ea typeface="Courier"/>
                <a:cs typeface="Courier"/>
                <a:sym typeface="Courier New"/>
              </a:rPr>
              <a:t>']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66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Traceback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(most recent call last):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File "&lt;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stdin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&gt;", line 1, in &lt;module&gt;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6FF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66FF"/>
                </a:solidFill>
                <a:latin typeface="Courier"/>
                <a:ea typeface="Courier"/>
                <a:cs typeface="Courier"/>
                <a:sym typeface="Courier New"/>
              </a:rPr>
              <a:t>KeyError</a:t>
            </a:r>
            <a:r>
              <a:rPr lang="en-US" sz="3000" i="0" u="none" strike="noStrike" cap="none" dirty="0">
                <a:solidFill>
                  <a:srgbClr val="FF66FF"/>
                </a:solidFill>
                <a:latin typeface="Courier"/>
                <a:ea typeface="Courier"/>
                <a:cs typeface="Courier"/>
                <a:sym typeface="Courier New"/>
              </a:rPr>
              <a:t>: '</a:t>
            </a:r>
            <a:r>
              <a:rPr lang="en-US" sz="3000" i="0" u="none" strike="noStrike" cap="none" dirty="0" err="1">
                <a:solidFill>
                  <a:srgbClr val="FF66FF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3000" i="0" u="none" strike="noStrike" cap="none" dirty="0">
                <a:solidFill>
                  <a:srgbClr val="FF66FF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'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ccc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671736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Shape 385"/>
          <p:cNvSpPr txBox="1">
            <a:spLocks noGrp="1"/>
          </p:cNvSpPr>
          <p:nvPr>
            <p:ph type="title"/>
          </p:nvPr>
        </p:nvSpPr>
        <p:spPr>
          <a:xfrm>
            <a:off x="1155700" y="789709"/>
            <a:ext cx="13655819" cy="175029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We See a New Name</a:t>
            </a:r>
          </a:p>
        </p:txBody>
      </p:sp>
      <p:sp>
        <p:nvSpPr>
          <p:cNvPr id="386" name="Shape 386"/>
          <p:cNvSpPr txBox="1">
            <a:spLocks noGrp="1"/>
          </p:cNvSpPr>
          <p:nvPr>
            <p:ph type="body" idx="1"/>
          </p:nvPr>
        </p:nvSpPr>
        <p:spPr>
          <a:xfrm>
            <a:off x="1533281" y="2587076"/>
            <a:ext cx="13089396" cy="158265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we encounter a new name, we need to add a new entry in the </a:t>
            </a:r>
            <a:r>
              <a:rPr lang="en-US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</a:t>
            </a:r>
            <a:r>
              <a:rPr lang="en-US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if this the second or later time we have seen the </a:t>
            </a:r>
            <a:r>
              <a:rPr lang="en-US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</a:t>
            </a:r>
            <a:r>
              <a:rPr lang="en-US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, we simply add one to the count in the </a:t>
            </a:r>
            <a:r>
              <a:rPr lang="en-US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</a:t>
            </a:r>
            <a:r>
              <a:rPr lang="en-US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under that </a:t>
            </a:r>
            <a:r>
              <a:rPr lang="en-US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</a:t>
            </a:r>
          </a:p>
        </p:txBody>
      </p:sp>
      <p:sp>
        <p:nvSpPr>
          <p:cNvPr id="387" name="Shape 387"/>
          <p:cNvSpPr txBox="1"/>
          <p:nvPr/>
        </p:nvSpPr>
        <p:spPr>
          <a:xfrm>
            <a:off x="750938" y="4478400"/>
            <a:ext cx="10349474" cy="344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names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zqian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6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names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if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 in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[name]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[name]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6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[name]</a:t>
            </a:r>
            <a:r>
              <a:rPr lang="en-US" sz="2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+ 1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6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388" name="Shape 388"/>
          <p:cNvSpPr txBox="1"/>
          <p:nvPr/>
        </p:nvSpPr>
        <p:spPr>
          <a:xfrm>
            <a:off x="9817102" y="5737993"/>
            <a:ext cx="6654205" cy="698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{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 err="1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2, 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 err="1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zqian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1,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'</a:t>
            </a:r>
            <a:r>
              <a:rPr lang="en-US" sz="3200" u="none" strike="noStrike" cap="none" dirty="0" err="1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cwen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2}</a:t>
            </a:r>
          </a:p>
        </p:txBody>
      </p:sp>
      <p:pic>
        <p:nvPicPr>
          <p:cNvPr id="6" name="Shape 370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100411" y="6550800"/>
            <a:ext cx="3987189" cy="226926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5726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39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</a:t>
            </a:r>
            <a:r>
              <a:rPr lang="en-US" sz="7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7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get</a:t>
            </a:r>
            <a:r>
              <a:rPr lang="en-US" sz="7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Method for Dictionaries</a:t>
            </a:r>
          </a:p>
        </p:txBody>
      </p:sp>
      <p:sp>
        <p:nvSpPr>
          <p:cNvPr id="394" name="Shape 394"/>
          <p:cNvSpPr txBox="1">
            <a:spLocks noGrp="1"/>
          </p:cNvSpPr>
          <p:nvPr>
            <p:ph type="body" idx="1"/>
          </p:nvPr>
        </p:nvSpPr>
        <p:spPr>
          <a:xfrm>
            <a:off x="1029839" y="2603500"/>
            <a:ext cx="7505776" cy="40384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pattern of checking to see if a </a:t>
            </a:r>
            <a:r>
              <a:rPr lang="en-US" sz="3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already in a dictionary and assuming a default value if the </a:t>
            </a:r>
            <a:r>
              <a:rPr lang="en-US" sz="3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not there is so common that there is a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method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called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get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that does this for us</a:t>
            </a:r>
          </a:p>
        </p:txBody>
      </p:sp>
      <p:sp>
        <p:nvSpPr>
          <p:cNvPr id="395" name="Shape 395"/>
          <p:cNvSpPr txBox="1"/>
          <p:nvPr/>
        </p:nvSpPr>
        <p:spPr>
          <a:xfrm>
            <a:off x="9232900" y="3070225"/>
            <a:ext cx="6502500" cy="22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b="1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 =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counts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[name]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 =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</a:p>
        </p:txBody>
      </p:sp>
      <p:sp>
        <p:nvSpPr>
          <p:cNvPr id="396" name="Shape 396"/>
          <p:cNvSpPr txBox="1"/>
          <p:nvPr/>
        </p:nvSpPr>
        <p:spPr>
          <a:xfrm>
            <a:off x="10060013" y="6019800"/>
            <a:ext cx="60444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30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.get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003250" y="6980313"/>
            <a:ext cx="7118400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Default value if key does not exist (and no </a:t>
            </a:r>
            <a:r>
              <a:rPr lang="en-US" sz="3600" u="none" strike="noStrike" cap="none" dirty="0" err="1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Traceback</a:t>
            </a:r>
            <a:r>
              <a:rPr lang="en-US" sz="3600" u="none" strike="noStrike" cap="none" dirty="0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).</a:t>
            </a:r>
          </a:p>
        </p:txBody>
      </p:sp>
      <p:sp>
        <p:nvSpPr>
          <p:cNvPr id="398" name="Shape 398"/>
          <p:cNvSpPr txBox="1"/>
          <p:nvPr/>
        </p:nvSpPr>
        <p:spPr>
          <a:xfrm>
            <a:off x="9232900" y="7375475"/>
            <a:ext cx="6741359" cy="698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{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 err="1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csev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2, 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 err="1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zqian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1,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'</a:t>
            </a:r>
            <a:r>
              <a:rPr lang="en-US" sz="3200" u="none" strike="noStrike" cap="none" dirty="0" err="1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cwen</a:t>
            </a:r>
            <a:r>
              <a:rPr lang="en-US" sz="32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</a:t>
            </a:r>
            <a:r>
              <a:rPr lang="en-US" sz="32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2}</a:t>
            </a:r>
          </a:p>
        </p:txBody>
      </p:sp>
    </p:spTree>
    <p:extLst>
      <p:ext uri="{BB962C8B-B14F-4D97-AF65-F5344CB8AC3E}">
        <p14:creationId xmlns:p14="http://schemas.microsoft.com/office/powerpoint/2010/main" val="3485040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40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Simplified Counting with </a:t>
            </a:r>
            <a:r>
              <a:rPr lang="en-US" sz="7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get()</a:t>
            </a:r>
          </a:p>
        </p:txBody>
      </p:sp>
      <p:sp>
        <p:nvSpPr>
          <p:cNvPr id="404" name="Shape 404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1900" cy="145727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use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get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and provide a 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default value of zero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when the </a:t>
            </a:r>
            <a:r>
              <a:rPr lang="en-US" sz="36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not yet in the dictionary - and then just add one</a:t>
            </a:r>
          </a:p>
        </p:txBody>
      </p:sp>
      <p:sp>
        <p:nvSpPr>
          <p:cNvPr id="405" name="Shape 405"/>
          <p:cNvSpPr txBox="1"/>
          <p:nvPr/>
        </p:nvSpPr>
        <p:spPr>
          <a:xfrm>
            <a:off x="1698775" y="4562481"/>
            <a:ext cx="10558500" cy="2155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names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zqian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names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[name]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.get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name, 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+ 1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06" name="Shape 406"/>
          <p:cNvSpPr txBox="1"/>
          <p:nvPr/>
        </p:nvSpPr>
        <p:spPr>
          <a:xfrm>
            <a:off x="6851650" y="7640632"/>
            <a:ext cx="1466850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Default</a:t>
            </a:r>
          </a:p>
        </p:txBody>
      </p:sp>
      <p:cxnSp>
        <p:nvCxnSpPr>
          <p:cNvPr id="407" name="Shape 407"/>
          <p:cNvCxnSpPr/>
          <p:nvPr/>
        </p:nvCxnSpPr>
        <p:spPr>
          <a:xfrm flipH="1">
            <a:off x="7921474" y="6308857"/>
            <a:ext cx="1405200" cy="1411200"/>
          </a:xfrm>
          <a:prstGeom prst="straightConnector1">
            <a:avLst/>
          </a:prstGeom>
          <a:noFill/>
          <a:ln w="63500" cap="rnd" cmpd="sng">
            <a:solidFill>
              <a:srgbClr val="FF7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8" name="Shape 408"/>
          <p:cNvSpPr txBox="1"/>
          <p:nvPr/>
        </p:nvSpPr>
        <p:spPr>
          <a:xfrm>
            <a:off x="9004375" y="7424732"/>
            <a:ext cx="7118400" cy="698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{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'csev'</a:t>
            </a: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2, 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'zqian'</a:t>
            </a: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1,</a:t>
            </a:r>
            <a:r>
              <a:rPr lang="en-US" sz="3200" u="none" strike="noStrike" cap="none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'cwen'</a:t>
            </a:r>
            <a:r>
              <a:rPr lang="en-US" sz="32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2}</a:t>
            </a:r>
          </a:p>
        </p:txBody>
      </p:sp>
    </p:spTree>
    <p:extLst>
      <p:ext uri="{BB962C8B-B14F-4D97-AF65-F5344CB8AC3E}">
        <p14:creationId xmlns:p14="http://schemas.microsoft.com/office/powerpoint/2010/main" val="39563438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Shape 41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260136" y="3187700"/>
            <a:ext cx="4638674" cy="3467099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Shape 414"/>
          <p:cNvSpPr txBox="1"/>
          <p:nvPr/>
        </p:nvSpPr>
        <p:spPr>
          <a:xfrm>
            <a:off x="3020973" y="7302601"/>
            <a:ext cx="105585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4"/>
              </a:rPr>
              <a:t>http://www.youtube.com/watch?v=EHJ9uYx5L58</a:t>
            </a:r>
          </a:p>
        </p:txBody>
      </p:sp>
      <p:sp>
        <p:nvSpPr>
          <p:cNvPr id="415" name="Shape 415"/>
          <p:cNvSpPr txBox="1"/>
          <p:nvPr/>
        </p:nvSpPr>
        <p:spPr>
          <a:xfrm>
            <a:off x="508000" y="3810000"/>
            <a:ext cx="10558462" cy="215423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dict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names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['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csev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zqian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'</a:t>
            </a:r>
            <a:r>
              <a:rPr lang="en-US" sz="28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cwen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names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[name]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.get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name, </a:t>
            </a:r>
            <a:r>
              <a:rPr lang="en-US" sz="28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0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+ 1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ourier New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16" name="Shape 4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Simplified Counting with </a:t>
            </a:r>
            <a:r>
              <a:rPr lang="en-US" sz="7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get()</a:t>
            </a:r>
          </a:p>
        </p:txBody>
      </p:sp>
    </p:spTree>
    <p:extLst>
      <p:ext uri="{BB962C8B-B14F-4D97-AF65-F5344CB8AC3E}">
        <p14:creationId xmlns:p14="http://schemas.microsoft.com/office/powerpoint/2010/main" val="38031293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Shape 4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Definite Loops and Dictionaries</a:t>
            </a:r>
          </a:p>
        </p:txBody>
      </p:sp>
      <p:sp>
        <p:nvSpPr>
          <p:cNvPr id="457" name="Shape 457"/>
          <p:cNvSpPr txBox="1">
            <a:spLocks noGrp="1"/>
          </p:cNvSpPr>
          <p:nvPr>
            <p:ph type="body" idx="1"/>
          </p:nvPr>
        </p:nvSpPr>
        <p:spPr>
          <a:xfrm>
            <a:off x="1155700" y="2603500"/>
            <a:ext cx="13931900" cy="2125663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215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Even though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dictionaries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are not stored in order, we can write a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loop that goes through all the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entries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 a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actually it goes through all of the 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keys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dictionary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looks up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the values</a:t>
            </a:r>
          </a:p>
        </p:txBody>
      </p:sp>
      <p:sp>
        <p:nvSpPr>
          <p:cNvPr id="458" name="Shape 458"/>
          <p:cNvSpPr txBox="1"/>
          <p:nvPr/>
        </p:nvSpPr>
        <p:spPr>
          <a:xfrm>
            <a:off x="2914649" y="5043484"/>
            <a:ext cx="10929939" cy="30146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{ 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'chuck'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 1 , 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4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 42, 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4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 100}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key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    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key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,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counts</a:t>
            </a: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[key]</a:t>
            </a:r>
            <a:r>
              <a:rPr lang="en-US" sz="24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...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ourier New"/>
              <a:buNone/>
            </a:pPr>
            <a:r>
              <a:rPr lang="en-US" sz="24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100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ourier New"/>
              <a:buNone/>
            </a:pPr>
            <a:r>
              <a:rPr lang="en-US" sz="24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chuck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ourier New"/>
              <a:buNone/>
            </a:pPr>
            <a:r>
              <a:rPr lang="en-US" sz="24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4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ourier New"/>
              <a:buNone/>
            </a:pPr>
            <a:r>
              <a:rPr lang="en-US" sz="24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  <p:extLst>
      <p:ext uri="{BB962C8B-B14F-4D97-AF65-F5344CB8AC3E}">
        <p14:creationId xmlns:p14="http://schemas.microsoft.com/office/powerpoint/2010/main" val="40261384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46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Retrieving Lists of Keys and Values</a:t>
            </a:r>
          </a:p>
        </p:txBody>
      </p:sp>
      <p:sp>
        <p:nvSpPr>
          <p:cNvPr id="464" name="Shape 464"/>
          <p:cNvSpPr txBox="1">
            <a:spLocks noGrp="1"/>
          </p:cNvSpPr>
          <p:nvPr>
            <p:ph type="body" idx="1"/>
          </p:nvPr>
        </p:nvSpPr>
        <p:spPr>
          <a:xfrm>
            <a:off x="1155700" y="2825921"/>
            <a:ext cx="3878711" cy="361288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get a list of </a:t>
            </a:r>
            <a:r>
              <a:rPr lang="en-US" sz="36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keys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, </a:t>
            </a:r>
            <a:r>
              <a:rPr lang="en-US" sz="3600" u="none" strike="noStrike" cap="none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values,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or</a:t>
            </a:r>
            <a:r>
              <a:rPr lang="en-US" sz="3600" u="none" strike="noStrike" cap="none">
                <a:solidFill>
                  <a:srgbClr val="FF7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items (both)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from a dictionary</a:t>
            </a:r>
          </a:p>
        </p:txBody>
      </p:sp>
      <p:sp>
        <p:nvSpPr>
          <p:cNvPr id="465" name="Shape 465"/>
          <p:cNvSpPr txBox="1"/>
          <p:nvPr/>
        </p:nvSpPr>
        <p:spPr>
          <a:xfrm>
            <a:off x="6001650" y="2540000"/>
            <a:ext cx="9628799" cy="5308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5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jjj</a:t>
            </a: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{ 'chuck' : 1 , '</a:t>
            </a:r>
            <a:r>
              <a:rPr lang="en-US" sz="25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 : 42, '</a:t>
            </a:r>
            <a:r>
              <a:rPr lang="en-US" sz="25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': 100}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5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5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list</a:t>
            </a: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5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jjj</a:t>
            </a:r>
            <a:r>
              <a:rPr lang="en-US" sz="25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5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5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5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['</a:t>
            </a:r>
            <a:r>
              <a:rPr lang="en-US" sz="25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25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', 'chuck', '</a:t>
            </a:r>
            <a:r>
              <a:rPr lang="en-US" sz="25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25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']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5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5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jjj.</a:t>
            </a:r>
            <a:r>
              <a:rPr lang="en-US" sz="25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keys</a:t>
            </a:r>
            <a:r>
              <a:rPr lang="en-US" sz="25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  <a:r>
              <a:rPr lang="en-US" sz="25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500" i="0" u="none" strike="noStrike" cap="none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5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['</a:t>
            </a:r>
            <a:r>
              <a:rPr lang="en-US" sz="25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25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', 'chuck', '</a:t>
            </a:r>
            <a:r>
              <a:rPr lang="en-US" sz="25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25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']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5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5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jjj.</a:t>
            </a:r>
            <a:r>
              <a:rPr lang="en-US" sz="2500" i="0" u="none" strike="noStrike" cap="none" dirty="0" err="1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values</a:t>
            </a:r>
            <a:r>
              <a:rPr lang="en-US" sz="25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  <a:r>
              <a:rPr lang="en-US" sz="25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500" i="0" u="none" strike="noStrike" cap="none" dirty="0">
              <a:solidFill>
                <a:srgbClr val="FF00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5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[100, 1, 42]</a:t>
            </a:r>
          </a:p>
          <a:p>
            <a:pPr>
              <a:buClr>
                <a:schemeClr val="lt1"/>
              </a:buClr>
              <a:buSzPct val="25000"/>
            </a:pP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5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5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jjj.</a:t>
            </a:r>
            <a:r>
              <a:rPr lang="en-US" sz="25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items</a:t>
            </a:r>
            <a:r>
              <a:rPr lang="en-US" sz="25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()</a:t>
            </a:r>
            <a:r>
              <a:rPr lang="en-US" sz="25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2500" i="0" u="none" strike="noStrike" cap="none" dirty="0">
              <a:solidFill>
                <a:srgbClr val="FF7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5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[('</a:t>
            </a:r>
            <a:r>
              <a:rPr lang="en-US" sz="25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jan</a:t>
            </a:r>
            <a:r>
              <a:rPr lang="en-US" sz="25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', 100), ('chuck', 1), ('</a:t>
            </a:r>
            <a:r>
              <a:rPr lang="en-US" sz="2500" i="0" u="none" strike="noStrike" cap="none" dirty="0" err="1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fred</a:t>
            </a:r>
            <a:r>
              <a:rPr lang="en-US" sz="25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', 42)]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5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  <p:extLst>
      <p:ext uri="{BB962C8B-B14F-4D97-AF65-F5344CB8AC3E}">
        <p14:creationId xmlns:p14="http://schemas.microsoft.com/office/powerpoint/2010/main" val="13829584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Shape 46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</a:t>
            </a:r>
          </a:p>
        </p:txBody>
      </p:sp>
      <p:sp>
        <p:nvSpPr>
          <p:cNvPr id="464" name="Shape 464"/>
          <p:cNvSpPr txBox="1">
            <a:spLocks noGrp="1"/>
          </p:cNvSpPr>
          <p:nvPr>
            <p:ph type="body" idx="1"/>
          </p:nvPr>
        </p:nvSpPr>
        <p:spPr>
          <a:xfrm>
            <a:off x="941096" y="2956550"/>
            <a:ext cx="14146504" cy="480652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Write a program which can 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count all the words in this list. Your program should then print out how many times each word appeared in the list: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endParaRPr lang="en-US" sz="36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indent="0">
              <a:spcBef>
                <a:spcPts val="0"/>
              </a:spcBef>
              <a:buSzPct val="100000"/>
              <a:buNone/>
            </a:pPr>
            <a:r>
              <a:rPr lang="en-US" sz="3600" dirty="0">
                <a:solidFill>
                  <a:srgbClr val="29FD2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</a:t>
            </a:r>
            <a:r>
              <a:rPr lang="en-US" dirty="0">
                <a:solidFill>
                  <a:srgbClr val="29FD2F"/>
                </a:solidFill>
              </a:rPr>
              <a:t>['the', 'clown', 'got', 'in', 'the', 'car', 'and', 'drove', 'the', 'car', 'down', 'the', 'road', 'to', 'the', 'house', 'and', 'then', 'got', 'out', 'of', 'the', 'car’]</a:t>
            </a:r>
          </a:p>
        </p:txBody>
      </p:sp>
    </p:spTree>
    <p:extLst>
      <p:ext uri="{BB962C8B-B14F-4D97-AF65-F5344CB8AC3E}">
        <p14:creationId xmlns:p14="http://schemas.microsoft.com/office/powerpoint/2010/main" val="20377000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Slides condensed into an 8 deck series aimed at younger learners in China by Jeremy Pedersen.</a:t>
            </a: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1" name="Shape 551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48894884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557</TotalTime>
  <Words>3123</Words>
  <Application>Microsoft Macintosh PowerPoint</Application>
  <PresentationFormat>Custom</PresentationFormat>
  <Paragraphs>465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1" baseType="lpstr">
      <vt:lpstr>Cabin</vt:lpstr>
      <vt:lpstr>ヒラギノ角ゴ ProN W3</vt:lpstr>
      <vt:lpstr>Arial</vt:lpstr>
      <vt:lpstr>Courier</vt:lpstr>
      <vt:lpstr>Courier New</vt:lpstr>
      <vt:lpstr>Gill Sans</vt:lpstr>
      <vt:lpstr>Title &amp; Subtitle</vt:lpstr>
      <vt:lpstr>Lists and Dictionaries</vt:lpstr>
      <vt:lpstr>But First! A Quick Review…</vt:lpstr>
      <vt:lpstr>Definite Loops</vt:lpstr>
      <vt:lpstr>PowerPoint Presentation</vt:lpstr>
      <vt:lpstr>Lists</vt:lpstr>
      <vt:lpstr>A List is a Kind of Collection</vt:lpstr>
      <vt:lpstr>List Constants</vt:lpstr>
      <vt:lpstr>We Already Use Lists!</vt:lpstr>
      <vt:lpstr>Lists and Definite Loops - Best Pals</vt:lpstr>
      <vt:lpstr>Looking Inside Lists</vt:lpstr>
      <vt:lpstr>How Long is a List?</vt:lpstr>
      <vt:lpstr>Using the range Function</vt:lpstr>
      <vt:lpstr>A Tale of Two Loops...</vt:lpstr>
      <vt:lpstr>Concatenating Lists Using +</vt:lpstr>
      <vt:lpstr>Lists Can Be Sliced Using :</vt:lpstr>
      <vt:lpstr>List Methods</vt:lpstr>
      <vt:lpstr>Building a List from Scratch</vt:lpstr>
      <vt:lpstr>Is Something in a List?</vt:lpstr>
      <vt:lpstr>Lists are in Order</vt:lpstr>
      <vt:lpstr>Built-in Functions and Lists</vt:lpstr>
      <vt:lpstr>PowerPoint Presentation</vt:lpstr>
      <vt:lpstr>List Summary</vt:lpstr>
      <vt:lpstr>Code Break</vt:lpstr>
      <vt:lpstr>Dictionaries</vt:lpstr>
      <vt:lpstr>What is a Collection?</vt:lpstr>
      <vt:lpstr>What is Not a “Collection”?</vt:lpstr>
      <vt:lpstr>A Story of Two Collections..</vt:lpstr>
      <vt:lpstr>Dictionaries</vt:lpstr>
      <vt:lpstr>Dictionaries</vt:lpstr>
      <vt:lpstr>Comparing Lists and Dictionaries</vt:lpstr>
      <vt:lpstr>PowerPoint Presentation</vt:lpstr>
      <vt:lpstr>Dictionary Literals (Constants)</vt:lpstr>
      <vt:lpstr>Most Common Name?</vt:lpstr>
      <vt:lpstr>Most Common Name?</vt:lpstr>
      <vt:lpstr>Counting with a Dictionary</vt:lpstr>
      <vt:lpstr>Dictionary Tracebacks (Errors)</vt:lpstr>
      <vt:lpstr>When We See a New Name</vt:lpstr>
      <vt:lpstr>The get Method for Dictionaries</vt:lpstr>
      <vt:lpstr>Simplified Counting with get()</vt:lpstr>
      <vt:lpstr>Simplified Counting with get()</vt:lpstr>
      <vt:lpstr>Definite Loops and Dictionaries</vt:lpstr>
      <vt:lpstr>Retrieving Lists of Keys and Values</vt:lpstr>
      <vt:lpstr>Code Break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Lists</dc:title>
  <cp:lastModifiedBy>Microsoft Office User</cp:lastModifiedBy>
  <cp:revision>87</cp:revision>
  <cp:lastPrinted>2018-12-08T10:21:22Z</cp:lastPrinted>
  <dcterms:modified xsi:type="dcterms:W3CDTF">2018-12-08T12:38:00Z</dcterms:modified>
</cp:coreProperties>
</file>