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703" r:id="rId1"/>
  </p:sldMasterIdLst>
  <p:notesMasterIdLst>
    <p:notesMasterId r:id="rId16"/>
  </p:notesMasterIdLst>
  <p:sldIdLst>
    <p:sldId id="256" r:id="rId2"/>
    <p:sldId id="282" r:id="rId3"/>
    <p:sldId id="375" r:id="rId4"/>
    <p:sldId id="376" r:id="rId5"/>
    <p:sldId id="367" r:id="rId6"/>
    <p:sldId id="377" r:id="rId7"/>
    <p:sldId id="378" r:id="rId8"/>
    <p:sldId id="379" r:id="rId9"/>
    <p:sldId id="380" r:id="rId10"/>
    <p:sldId id="391" r:id="rId11"/>
    <p:sldId id="381" r:id="rId12"/>
    <p:sldId id="382" r:id="rId13"/>
    <p:sldId id="390" r:id="rId14"/>
    <p:sldId id="328" r:id="rId15"/>
  </p:sldIdLst>
  <p:sldSz cx="16256000" cy="9144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5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D7F23"/>
    <a:srgbClr val="FF40FF"/>
    <a:srgbClr val="00F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334"/>
    <p:restoredTop sz="94479"/>
  </p:normalViewPr>
  <p:slideViewPr>
    <p:cSldViewPr snapToGrid="0" snapToObjects="1">
      <p:cViewPr varScale="1">
        <p:scale>
          <a:sx n="77" d="100"/>
          <a:sy n="77" d="100"/>
        </p:scale>
        <p:origin x="1120" y="192"/>
      </p:cViewPr>
      <p:guideLst>
        <p:guide orient="horz" pos="2880"/>
        <p:guide pos="5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 sz="1100"/>
            </a:lvl1pPr>
            <a:lvl2pPr lvl="1">
              <a:spcBef>
                <a:spcPts val="0"/>
              </a:spcBef>
              <a:defRPr sz="1100"/>
            </a:lvl2pPr>
            <a:lvl3pPr lvl="2">
              <a:spcBef>
                <a:spcPts val="0"/>
              </a:spcBef>
              <a:defRPr sz="1100"/>
            </a:lvl3pPr>
            <a:lvl4pPr lvl="3">
              <a:spcBef>
                <a:spcPts val="0"/>
              </a:spcBef>
              <a:defRPr sz="1100"/>
            </a:lvl4pPr>
            <a:lvl5pPr lvl="4">
              <a:spcBef>
                <a:spcPts val="0"/>
              </a:spcBef>
              <a:defRPr sz="1100"/>
            </a:lvl5pPr>
            <a:lvl6pPr lvl="5">
              <a:spcBef>
                <a:spcPts val="0"/>
              </a:spcBef>
              <a:defRPr sz="1100"/>
            </a:lvl6pPr>
            <a:lvl7pPr lvl="6">
              <a:spcBef>
                <a:spcPts val="0"/>
              </a:spcBef>
              <a:defRPr sz="1100"/>
            </a:lvl7pPr>
            <a:lvl8pPr lvl="7">
              <a:spcBef>
                <a:spcPts val="0"/>
              </a:spcBef>
              <a:defRPr sz="1100"/>
            </a:lvl8pPr>
            <a:lvl9pPr lvl="8">
              <a:spcBef>
                <a:spcPts val="0"/>
              </a:spcBef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00417696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Shape 20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lang="en-US" dirty="0">
              <a:solidFill>
                <a:schemeClr val="dk2"/>
              </a:solidFill>
            </a:endParaRPr>
          </a:p>
        </p:txBody>
      </p:sp>
      <p:sp>
        <p:nvSpPr>
          <p:cNvPr id="202" name="Shape 20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707443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Shape 20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-US">
                <a:solidFill>
                  <a:schemeClr val="dk2"/>
                </a:solidFill>
              </a:rPr>
              <a:t>Note from Chuck.  If you are using these materials, you can remove the UM logo and replace it with your own, but please retain the CC-BY logo on the first page as well as retain the entire last page.</a:t>
            </a:r>
          </a:p>
        </p:txBody>
      </p:sp>
      <p:sp>
        <p:nvSpPr>
          <p:cNvPr id="202" name="Shape 20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615348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Shape 20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-US">
                <a:solidFill>
                  <a:schemeClr val="dk2"/>
                </a:solidFill>
              </a:rPr>
              <a:t>Note from Chuck.  If you are using these materials, you can remove the UM logo and replace it with your own, but please retain the CC-BY logo on the first page as well as retain the entire last page.</a:t>
            </a:r>
          </a:p>
        </p:txBody>
      </p:sp>
      <p:sp>
        <p:nvSpPr>
          <p:cNvPr id="202" name="Shape 20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660332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Shape 20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-US">
                <a:solidFill>
                  <a:schemeClr val="dk2"/>
                </a:solidFill>
              </a:rPr>
              <a:t>Note from Chuck.  If you are using these materials, you can remove the UM logo and replace it with your own, but please retain the CC-BY logo on the first page as well as retain the entire last page.</a:t>
            </a:r>
          </a:p>
        </p:txBody>
      </p:sp>
      <p:sp>
        <p:nvSpPr>
          <p:cNvPr id="202" name="Shape 20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810312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Shape 20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-US">
                <a:solidFill>
                  <a:schemeClr val="dk2"/>
                </a:solidFill>
              </a:rPr>
              <a:t>Note from Chuck.  If you are using these materials, you can remove the UM logo and replace it with your own, but please retain the CC-BY logo on the first page as well as retain the entire last page.</a:t>
            </a:r>
          </a:p>
        </p:txBody>
      </p:sp>
      <p:sp>
        <p:nvSpPr>
          <p:cNvPr id="202" name="Shape 20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937251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Shape 20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-US">
                <a:solidFill>
                  <a:schemeClr val="dk2"/>
                </a:solidFill>
              </a:rPr>
              <a:t>Note from Chuck.  If you are using these materials, you can remove the UM logo and replace it with your own, but please retain the CC-BY logo on the first page as well as retain the entire last page.</a:t>
            </a:r>
          </a:p>
        </p:txBody>
      </p:sp>
      <p:sp>
        <p:nvSpPr>
          <p:cNvPr id="202" name="Shape 20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322044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Shape 20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-US">
                <a:solidFill>
                  <a:schemeClr val="dk2"/>
                </a:solidFill>
              </a:rPr>
              <a:t>Note from Chuck.  If you are using these materials, you can remove the UM logo and replace it with your own, but please retain the CC-BY logo on the first page as well as retain the entire last page.</a:t>
            </a:r>
          </a:p>
        </p:txBody>
      </p:sp>
      <p:sp>
        <p:nvSpPr>
          <p:cNvPr id="202" name="Shape 20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376678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Shape 20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-US">
                <a:solidFill>
                  <a:schemeClr val="dk2"/>
                </a:solidFill>
              </a:rPr>
              <a:t>Note from Chuck.  If you are using these materials, you can remove the UM logo and replace it with your own, but please retain the CC-BY logo on the first page as well as retain the entire last page.</a:t>
            </a:r>
          </a:p>
        </p:txBody>
      </p:sp>
      <p:sp>
        <p:nvSpPr>
          <p:cNvPr id="202" name="Shape 20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86210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Shape 20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-US">
                <a:solidFill>
                  <a:schemeClr val="dk2"/>
                </a:solidFill>
              </a:rPr>
              <a:t>Note from Chuck.  If you are using these materials, you can remove the UM logo and replace it with your own, but please retain the CC-BY logo on the first page as well as retain the entire last page.</a:t>
            </a:r>
          </a:p>
        </p:txBody>
      </p:sp>
      <p:sp>
        <p:nvSpPr>
          <p:cNvPr id="202" name="Shape 20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988913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Shape 20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-US">
                <a:solidFill>
                  <a:schemeClr val="dk2"/>
                </a:solidFill>
              </a:rPr>
              <a:t>Note from Chuck.  If you are using these materials, you can remove the UM logo and replace it with your own, but please retain the CC-BY logo on the first page as well as retain the entire last page.</a:t>
            </a:r>
          </a:p>
        </p:txBody>
      </p:sp>
      <p:sp>
        <p:nvSpPr>
          <p:cNvPr id="202" name="Shape 20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602065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Shape 20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-US">
                <a:solidFill>
                  <a:schemeClr val="dk2"/>
                </a:solidFill>
              </a:rPr>
              <a:t>Note from Chuck.  If you are using these materials, you can remove the UM logo and replace it with your own, but please retain the CC-BY logo on the first page as well as retain the entire last page.</a:t>
            </a:r>
          </a:p>
        </p:txBody>
      </p:sp>
      <p:sp>
        <p:nvSpPr>
          <p:cNvPr id="202" name="Shape 20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580275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Shape 20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-US">
                <a:solidFill>
                  <a:schemeClr val="dk2"/>
                </a:solidFill>
              </a:rPr>
              <a:t>Note from Chuck.  If you are using these materials, you can remove the UM logo and replace it with your own, but please retain the CC-BY logo on the first page as well as retain the entire last page.</a:t>
            </a:r>
          </a:p>
        </p:txBody>
      </p:sp>
      <p:sp>
        <p:nvSpPr>
          <p:cNvPr id="202" name="Shape 20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941561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Shape 20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-US">
                <a:solidFill>
                  <a:schemeClr val="dk2"/>
                </a:solidFill>
              </a:rPr>
              <a:t>Note from Chuck.  If you are using these materials, you can remove the UM logo and replace it with your own, but please retain the CC-BY logo on the first page as well as retain the entire last page.</a:t>
            </a:r>
          </a:p>
        </p:txBody>
      </p:sp>
      <p:sp>
        <p:nvSpPr>
          <p:cNvPr id="202" name="Shape 20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269933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Shape 54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6" name="Shape 54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326736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39"/>
          <p:cNvSpPr txBox="1">
            <a:spLocks noGrp="1"/>
          </p:cNvSpPr>
          <p:nvPr>
            <p:ph type="title"/>
          </p:nvPr>
        </p:nvSpPr>
        <p:spPr>
          <a:xfrm>
            <a:off x="1155700" y="1536700"/>
            <a:ext cx="13931900" cy="3086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 dirty="0"/>
          </a:p>
        </p:txBody>
      </p:sp>
      <p:sp>
        <p:nvSpPr>
          <p:cNvPr id="40" name="Shape 40"/>
          <p:cNvSpPr txBox="1">
            <a:spLocks noGrp="1"/>
          </p:cNvSpPr>
          <p:nvPr>
            <p:ph type="body" idx="1"/>
          </p:nvPr>
        </p:nvSpPr>
        <p:spPr>
          <a:xfrm>
            <a:off x="1155700" y="4711700"/>
            <a:ext cx="13931900" cy="1054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Shape 195"/>
          <p:cNvSpPr txBox="1">
            <a:spLocks noGrp="1"/>
          </p:cNvSpPr>
          <p:nvPr>
            <p:ph type="title"/>
          </p:nvPr>
        </p:nvSpPr>
        <p:spPr>
          <a:xfrm>
            <a:off x="1155700" y="803564"/>
            <a:ext cx="13932000" cy="173633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690168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43010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Shape 156"/>
          <p:cNvSpPr txBox="1">
            <a:spLocks noGrp="1"/>
          </p:cNvSpPr>
          <p:nvPr>
            <p:ph type="title"/>
          </p:nvPr>
        </p:nvSpPr>
        <p:spPr>
          <a:xfrm>
            <a:off x="1155700" y="789709"/>
            <a:ext cx="13931900" cy="175029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57336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>
            <a:spLocks noGrp="1"/>
          </p:cNvSpPr>
          <p:nvPr>
            <p:ph type="title"/>
          </p:nvPr>
        </p:nvSpPr>
        <p:spPr>
          <a:xfrm>
            <a:off x="1155700" y="1536700"/>
            <a:ext cx="13931900" cy="3086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defRPr/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defRPr/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defRPr/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defRPr/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 dirty="0"/>
          </a:p>
        </p:txBody>
      </p:sp>
      <p:sp>
        <p:nvSpPr>
          <p:cNvPr id="7" name="Shape 7"/>
          <p:cNvSpPr txBox="1">
            <a:spLocks noGrp="1"/>
          </p:cNvSpPr>
          <p:nvPr>
            <p:ph type="body" idx="1"/>
          </p:nvPr>
        </p:nvSpPr>
        <p:spPr>
          <a:xfrm>
            <a:off x="1155700" y="4711700"/>
            <a:ext cx="13931900" cy="1054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defRPr/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defRPr/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defRPr/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defRPr/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 dirty="0"/>
          </a:p>
        </p:txBody>
      </p:sp>
      <p:sp>
        <p:nvSpPr>
          <p:cNvPr id="5" name="Rectangle 3"/>
          <p:cNvSpPr>
            <a:spLocks noChangeArrowheads="1"/>
          </p:cNvSpPr>
          <p:nvPr userDrawn="1"/>
        </p:nvSpPr>
        <p:spPr bwMode="auto">
          <a:xfrm>
            <a:off x="0" y="0"/>
            <a:ext cx="16256000" cy="768096"/>
          </a:xfrm>
          <a:prstGeom prst="rect">
            <a:avLst/>
          </a:prstGeom>
          <a:solidFill>
            <a:schemeClr val="bg2"/>
          </a:solidFill>
          <a:ln>
            <a:noFill/>
          </a:ln>
          <a:extLst/>
        </p:spPr>
        <p:txBody>
          <a:bodyPr/>
          <a:lstStyle>
            <a:lvl1pPr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1pPr>
            <a:lvl2pPr marL="742950" indent="-285750"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2pPr>
            <a:lvl3pPr marL="1143000" indent="-228600"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3pPr>
            <a:lvl4pPr marL="1600200" indent="-228600"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4pPr>
            <a:lvl5pPr marL="2057400" indent="-228600"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9pPr>
          </a:lstStyle>
          <a:p>
            <a:pPr eaLnBrk="1" hangingPunct="1">
              <a:defRPr/>
            </a:pPr>
            <a:endParaRPr lang="en-US" altLang="en-US" sz="3600"/>
          </a:p>
        </p:txBody>
      </p:sp>
      <p:sp>
        <p:nvSpPr>
          <p:cNvPr id="8" name="Rectangle 3"/>
          <p:cNvSpPr>
            <a:spLocks noChangeArrowheads="1"/>
          </p:cNvSpPr>
          <p:nvPr userDrawn="1"/>
        </p:nvSpPr>
        <p:spPr bwMode="auto">
          <a:xfrm>
            <a:off x="0" y="8357616"/>
            <a:ext cx="16256000" cy="786384"/>
          </a:xfrm>
          <a:prstGeom prst="rect">
            <a:avLst/>
          </a:prstGeom>
          <a:solidFill>
            <a:schemeClr val="bg2"/>
          </a:solidFill>
          <a:ln>
            <a:noFill/>
          </a:ln>
          <a:extLst/>
        </p:spPr>
        <p:txBody>
          <a:bodyPr/>
          <a:lstStyle>
            <a:lvl1pPr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1pPr>
            <a:lvl2pPr marL="742950" indent="-285750"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2pPr>
            <a:lvl3pPr marL="1143000" indent="-228600"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3pPr>
            <a:lvl4pPr marL="1600200" indent="-228600"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4pPr>
            <a:lvl5pPr marL="2057400" indent="-228600"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9pPr>
          </a:lstStyle>
          <a:p>
            <a:pPr eaLnBrk="1" hangingPunct="1">
              <a:defRPr/>
            </a:pPr>
            <a:endParaRPr lang="en-US" altLang="en-US" sz="360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7" r:id="rId1"/>
    <p:sldLayoutId id="2147483704" r:id="rId2"/>
    <p:sldLayoutId id="2147483705" r:id="rId3"/>
    <p:sldLayoutId id="2147483706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72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40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www.pythonlearn.com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5.png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inventwithpython.com/pygame/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r-chuck.com/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Shape 20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Hacking and Sharing</a:t>
            </a:r>
            <a:endParaRPr lang="en-US" sz="7600" u="none" strike="noStrike" cap="none" dirty="0">
              <a:solidFill>
                <a:srgbClr val="FFD966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</p:txBody>
      </p:sp>
      <p:sp>
        <p:nvSpPr>
          <p:cNvPr id="205" name="Shape 20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8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Class 8</a:t>
            </a:r>
          </a:p>
        </p:txBody>
      </p:sp>
      <p:pic>
        <p:nvPicPr>
          <p:cNvPr id="207" name="Shape 207"/>
          <p:cNvPicPr preferRelativeResize="0"/>
          <p:nvPr/>
        </p:nvPicPr>
        <p:blipFill rotWithShape="1"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957824" y="7425500"/>
            <a:ext cx="1968599" cy="6684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Shape 206">
            <a:extLst>
              <a:ext uri="{FF2B5EF4-FFF2-40B4-BE49-F238E27FC236}">
                <a16:creationId xmlns:a16="http://schemas.microsoft.com/office/drawing/2014/main" id="{26E25BAF-8B81-0A4B-BA07-6B3BCF803A23}"/>
              </a:ext>
            </a:extLst>
          </p:cNvPr>
          <p:cNvSpPr txBox="1"/>
          <p:nvPr/>
        </p:nvSpPr>
        <p:spPr>
          <a:xfrm>
            <a:off x="5257538" y="7251650"/>
            <a:ext cx="5728224" cy="10160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0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Making Games With Python and </a:t>
            </a:r>
            <a:r>
              <a:rPr lang="en-US" sz="2000" u="none" strike="noStrike" cap="none" dirty="0" err="1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PyGame</a:t>
            </a:r>
            <a:endParaRPr lang="en-US" sz="2000" u="none" strike="noStrike" cap="none" dirty="0">
              <a:solidFill>
                <a:srgbClr val="FFFF00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  <a:p>
            <a:pPr lvl="0" algn="ctr">
              <a:buClr>
                <a:srgbClr val="FFFF00"/>
              </a:buClr>
              <a:buSzPct val="25000"/>
            </a:pPr>
            <a:r>
              <a:rPr lang="en-US" sz="2000" u="sng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  <a:hlinkClick r:id="rId4"/>
              </a:rPr>
              <a:t>https://inventwithpython.com/pygame/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Shape 20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Hacking</a:t>
            </a:r>
          </a:p>
        </p:txBody>
      </p:sp>
    </p:spTree>
    <p:extLst>
      <p:ext uri="{BB962C8B-B14F-4D97-AF65-F5344CB8AC3E}">
        <p14:creationId xmlns:p14="http://schemas.microsoft.com/office/powerpoint/2010/main" val="14777724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Shape 204"/>
          <p:cNvSpPr txBox="1">
            <a:spLocks noGrp="1"/>
          </p:cNvSpPr>
          <p:nvPr>
            <p:ph type="title"/>
          </p:nvPr>
        </p:nvSpPr>
        <p:spPr>
          <a:xfrm>
            <a:off x="1139075" y="505923"/>
            <a:ext cx="13931900" cy="1322878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What </a:t>
            </a:r>
            <a:r>
              <a:rPr lang="en-US" sz="7600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Is Hacking?</a:t>
            </a:r>
            <a:endParaRPr lang="en-US" sz="7600" u="none" strike="noStrike" cap="none" dirty="0">
              <a:solidFill>
                <a:srgbClr val="FFD966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F19493-CB38-1D49-A62D-39FDEB0FBFA2}"/>
              </a:ext>
            </a:extLst>
          </p:cNvPr>
          <p:cNvSpPr txBox="1"/>
          <p:nvPr/>
        </p:nvSpPr>
        <p:spPr>
          <a:xfrm>
            <a:off x="748145" y="3042459"/>
            <a:ext cx="14863157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solidFill>
                  <a:schemeClr val="bg1"/>
                </a:solidFill>
              </a:rPr>
              <a:t>If you search Google or Baidu, they will tell you that “hacking” means breaking into other people’s computers to steal things or break things.</a:t>
            </a:r>
          </a:p>
          <a:p>
            <a:endParaRPr lang="en-US" sz="3000" dirty="0">
              <a:solidFill>
                <a:schemeClr val="bg1"/>
              </a:solidFill>
            </a:endParaRPr>
          </a:p>
          <a:p>
            <a:r>
              <a:rPr lang="en-US" sz="3000" dirty="0">
                <a:solidFill>
                  <a:schemeClr val="bg1"/>
                </a:solidFill>
              </a:rPr>
              <a:t>When people think of “hackers” now, this is what they think of. </a:t>
            </a:r>
            <a:r>
              <a:rPr lang="en-US" sz="3000" dirty="0">
                <a:solidFill>
                  <a:srgbClr val="FF0000"/>
                </a:solidFill>
              </a:rPr>
              <a:t>This is not really what a hacker is.  </a:t>
            </a:r>
          </a:p>
          <a:p>
            <a:endParaRPr lang="en-US" sz="3000" dirty="0">
              <a:solidFill>
                <a:srgbClr val="FF0000"/>
              </a:solidFill>
            </a:endParaRPr>
          </a:p>
          <a:p>
            <a:r>
              <a:rPr lang="en-US" sz="3000" dirty="0">
                <a:solidFill>
                  <a:schemeClr val="bg1"/>
                </a:solidFill>
              </a:rPr>
              <a:t>A hacker is somebody who really enjoys taking things apart to learn how they work. A hacker is someone who can make a machine (like a computer) do more than what it was designed to do. A hacker likes to </a:t>
            </a:r>
            <a:r>
              <a:rPr lang="en-US" sz="3000" dirty="0">
                <a:solidFill>
                  <a:srgbClr val="FF40FF"/>
                </a:solidFill>
              </a:rPr>
              <a:t>break things down, build things up, and make things better. </a:t>
            </a:r>
          </a:p>
        </p:txBody>
      </p:sp>
    </p:spTree>
    <p:extLst>
      <p:ext uri="{BB962C8B-B14F-4D97-AF65-F5344CB8AC3E}">
        <p14:creationId xmlns:p14="http://schemas.microsoft.com/office/powerpoint/2010/main" val="23036139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Shape 204"/>
          <p:cNvSpPr txBox="1">
            <a:spLocks noGrp="1"/>
          </p:cNvSpPr>
          <p:nvPr>
            <p:ph type="title"/>
          </p:nvPr>
        </p:nvSpPr>
        <p:spPr>
          <a:xfrm>
            <a:off x="1139075" y="505923"/>
            <a:ext cx="13931900" cy="1322878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What </a:t>
            </a:r>
            <a:r>
              <a:rPr lang="en-US" sz="7600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Is Hacking?</a:t>
            </a:r>
            <a:endParaRPr lang="en-US" sz="7600" u="none" strike="noStrike" cap="none" dirty="0">
              <a:solidFill>
                <a:srgbClr val="FFD966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66F755D-6950-F244-98E6-4AB5C72D1988}"/>
              </a:ext>
            </a:extLst>
          </p:cNvPr>
          <p:cNvSpPr txBox="1"/>
          <p:nvPr/>
        </p:nvSpPr>
        <p:spPr>
          <a:xfrm>
            <a:off x="2227812" y="3241962"/>
            <a:ext cx="317546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solidFill>
                  <a:srgbClr val="FF40FF"/>
                </a:solidFill>
              </a:rPr>
              <a:t>Regular People</a:t>
            </a:r>
          </a:p>
        </p:txBody>
      </p:sp>
      <p:sp>
        <p:nvSpPr>
          <p:cNvPr id="4" name="Shape 204">
            <a:extLst>
              <a:ext uri="{FF2B5EF4-FFF2-40B4-BE49-F238E27FC236}">
                <a16:creationId xmlns:a16="http://schemas.microsoft.com/office/drawing/2014/main" id="{99FE2264-BE01-6346-9291-0BF98E91E87E}"/>
              </a:ext>
            </a:extLst>
          </p:cNvPr>
          <p:cNvSpPr txBox="1">
            <a:spLocks/>
          </p:cNvSpPr>
          <p:nvPr/>
        </p:nvSpPr>
        <p:spPr>
          <a:xfrm>
            <a:off x="6594995" y="2968268"/>
            <a:ext cx="1784235" cy="827692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defRPr/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defRPr/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defRPr/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pPr>
              <a:buClr>
                <a:srgbClr val="FF00FF"/>
              </a:buClr>
              <a:buSzPct val="25000"/>
              <a:buFont typeface="Cabin"/>
              <a:buNone/>
            </a:pPr>
            <a:r>
              <a:rPr lang="en-US" sz="3000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VS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B684DE-1EE8-BD43-8386-A8253EDB8273}"/>
              </a:ext>
            </a:extLst>
          </p:cNvPr>
          <p:cNvSpPr txBox="1"/>
          <p:nvPr/>
        </p:nvSpPr>
        <p:spPr>
          <a:xfrm>
            <a:off x="10094423" y="3241962"/>
            <a:ext cx="317546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solidFill>
                  <a:srgbClr val="FF40FF"/>
                </a:solidFill>
              </a:rPr>
              <a:t>Hackers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238DB2-DD3D-824E-AE6D-10B1CC92A714}"/>
              </a:ext>
            </a:extLst>
          </p:cNvPr>
          <p:cNvSpPr txBox="1"/>
          <p:nvPr/>
        </p:nvSpPr>
        <p:spPr>
          <a:xfrm>
            <a:off x="2089497" y="4555375"/>
            <a:ext cx="4505498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chemeClr val="bg1"/>
                </a:solidFill>
              </a:rPr>
              <a:t>What </a:t>
            </a:r>
            <a:r>
              <a:rPr lang="en-US" sz="3000" dirty="0">
                <a:solidFill>
                  <a:srgbClr val="FD7F23"/>
                </a:solidFill>
              </a:rPr>
              <a:t>is</a:t>
            </a:r>
            <a:r>
              <a:rPr lang="en-US" sz="3000" dirty="0">
                <a:solidFill>
                  <a:schemeClr val="bg1"/>
                </a:solidFill>
              </a:rPr>
              <a:t> </a:t>
            </a:r>
            <a:r>
              <a:rPr lang="en-US" sz="3000" dirty="0">
                <a:solidFill>
                  <a:srgbClr val="FD7F23"/>
                </a:solidFill>
              </a:rPr>
              <a:t>it</a:t>
            </a:r>
            <a:r>
              <a:rPr lang="en-US" sz="3000" dirty="0">
                <a:solidFill>
                  <a:schemeClr val="bg1"/>
                </a:solidFill>
              </a:rPr>
              <a:t> </a:t>
            </a:r>
            <a:r>
              <a:rPr lang="en-US" sz="3000" dirty="0">
                <a:solidFill>
                  <a:srgbClr val="FD7F23"/>
                </a:solidFill>
              </a:rPr>
              <a:t>for</a:t>
            </a:r>
            <a:r>
              <a:rPr lang="en-US" sz="3000" dirty="0">
                <a:solidFill>
                  <a:schemeClr val="bg1"/>
                </a:solidFill>
              </a:rPr>
              <a:t>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chemeClr val="bg1"/>
                </a:solidFill>
              </a:rPr>
              <a:t>How </a:t>
            </a:r>
            <a:r>
              <a:rPr lang="en-US" sz="3000" dirty="0">
                <a:solidFill>
                  <a:srgbClr val="FD7F23"/>
                </a:solidFill>
              </a:rPr>
              <a:t>do I use it</a:t>
            </a:r>
            <a:r>
              <a:rPr lang="en-US" sz="3000" dirty="0">
                <a:solidFill>
                  <a:schemeClr val="bg1"/>
                </a:solidFill>
              </a:rPr>
              <a:t>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chemeClr val="bg1"/>
                </a:solidFill>
              </a:rPr>
              <a:t>How can I learn </a:t>
            </a:r>
            <a:r>
              <a:rPr lang="en-US" sz="3000" dirty="0">
                <a:solidFill>
                  <a:srgbClr val="FD7F23"/>
                </a:solidFill>
              </a:rPr>
              <a:t>just enough to make it work</a:t>
            </a:r>
            <a:r>
              <a:rPr lang="en-US" sz="3000" dirty="0">
                <a:solidFill>
                  <a:schemeClr val="bg1"/>
                </a:solidFill>
              </a:rPr>
              <a:t>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321F9C-D93C-B54E-AF0F-0AF367D1036A}"/>
              </a:ext>
            </a:extLst>
          </p:cNvPr>
          <p:cNvSpPr txBox="1"/>
          <p:nvPr/>
        </p:nvSpPr>
        <p:spPr>
          <a:xfrm>
            <a:off x="9296402" y="4555375"/>
            <a:ext cx="4505498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chemeClr val="bg1"/>
                </a:solidFill>
              </a:rPr>
              <a:t>What </a:t>
            </a:r>
            <a:r>
              <a:rPr lang="en-US" sz="3000" dirty="0">
                <a:solidFill>
                  <a:srgbClr val="00FF00"/>
                </a:solidFill>
              </a:rPr>
              <a:t>can</a:t>
            </a:r>
            <a:r>
              <a:rPr lang="en-US" sz="3000" dirty="0">
                <a:solidFill>
                  <a:schemeClr val="bg1"/>
                </a:solidFill>
              </a:rPr>
              <a:t> </a:t>
            </a:r>
            <a:r>
              <a:rPr lang="en-US" sz="3000" dirty="0">
                <a:solidFill>
                  <a:srgbClr val="00FF00"/>
                </a:solidFill>
              </a:rPr>
              <a:t>it do</a:t>
            </a:r>
            <a:r>
              <a:rPr lang="en-US" sz="3000" dirty="0">
                <a:solidFill>
                  <a:schemeClr val="bg1"/>
                </a:solidFill>
              </a:rPr>
              <a:t>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chemeClr val="bg1"/>
                </a:solidFill>
              </a:rPr>
              <a:t>How </a:t>
            </a:r>
            <a:r>
              <a:rPr lang="en-US" sz="3000" dirty="0">
                <a:solidFill>
                  <a:srgbClr val="00FF00"/>
                </a:solidFill>
              </a:rPr>
              <a:t>does it work</a:t>
            </a:r>
            <a:r>
              <a:rPr lang="en-US" sz="3000" dirty="0">
                <a:solidFill>
                  <a:schemeClr val="bg1"/>
                </a:solidFill>
              </a:rPr>
              <a:t>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chemeClr val="bg1"/>
                </a:solidFill>
              </a:rPr>
              <a:t>How can I learn enough to </a:t>
            </a:r>
            <a:r>
              <a:rPr lang="en-US" sz="3000" dirty="0">
                <a:solidFill>
                  <a:srgbClr val="00FF00"/>
                </a:solidFill>
              </a:rPr>
              <a:t>change the way it works</a:t>
            </a:r>
            <a:r>
              <a:rPr lang="en-US" sz="3000" dirty="0">
                <a:solidFill>
                  <a:schemeClr val="bg1"/>
                </a:solidFill>
              </a:rPr>
              <a:t>?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299FFFC-8FBD-8C4F-9B10-13BAE78D398D}"/>
              </a:ext>
            </a:extLst>
          </p:cNvPr>
          <p:cNvCxnSpPr>
            <a:stCxn id="4" idx="2"/>
          </p:cNvCxnSpPr>
          <p:nvPr/>
        </p:nvCxnSpPr>
        <p:spPr>
          <a:xfrm flipH="1">
            <a:off x="7487112" y="3795960"/>
            <a:ext cx="1" cy="375199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05471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Shape 204"/>
          <p:cNvSpPr txBox="1">
            <a:spLocks noGrp="1"/>
          </p:cNvSpPr>
          <p:nvPr>
            <p:ph type="title"/>
          </p:nvPr>
        </p:nvSpPr>
        <p:spPr>
          <a:xfrm>
            <a:off x="1105824" y="332509"/>
            <a:ext cx="13931900" cy="1130531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Hacking is Playing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CE1870-D9A7-CE49-8EC0-4A429F72ABEF}"/>
              </a:ext>
            </a:extLst>
          </p:cNvPr>
          <p:cNvSpPr txBox="1"/>
          <p:nvPr/>
        </p:nvSpPr>
        <p:spPr>
          <a:xfrm>
            <a:off x="2006777" y="1496291"/>
            <a:ext cx="1212999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solidFill>
                  <a:schemeClr val="bg1"/>
                </a:solidFill>
              </a:rPr>
              <a:t>Hacking is about having fun and stretching limits. Let’s try an example!</a:t>
            </a:r>
          </a:p>
          <a:p>
            <a:r>
              <a:rPr lang="en-US" sz="3000" dirty="0">
                <a:solidFill>
                  <a:schemeClr val="bg1"/>
                </a:solidFill>
              </a:rPr>
              <a:t>This is the game “</a:t>
            </a:r>
            <a:r>
              <a:rPr lang="en-US" sz="3000" dirty="0" err="1">
                <a:solidFill>
                  <a:schemeClr val="bg1"/>
                </a:solidFill>
              </a:rPr>
              <a:t>wormy.py</a:t>
            </a:r>
            <a:r>
              <a:rPr lang="en-US" sz="3000" dirty="0">
                <a:solidFill>
                  <a:schemeClr val="bg1"/>
                </a:solidFill>
              </a:rPr>
              <a:t>”. I have given you the code already.</a:t>
            </a:r>
          </a:p>
        </p:txBody>
      </p:sp>
      <p:pic>
        <p:nvPicPr>
          <p:cNvPr id="3" name="wormy">
            <a:hlinkClick r:id="" action="ppaction://media"/>
            <a:extLst>
              <a:ext uri="{FF2B5EF4-FFF2-40B4-BE49-F238E27FC236}">
                <a16:creationId xmlns:a16="http://schemas.microsoft.com/office/drawing/2014/main" id="{C1918EE2-FDC7-4A42-A629-F9568263BC3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016592" y="2818977"/>
            <a:ext cx="7770855" cy="6072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46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27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Shape 204"/>
          <p:cNvSpPr txBox="1">
            <a:spLocks noGrp="1"/>
          </p:cNvSpPr>
          <p:nvPr>
            <p:ph type="title"/>
          </p:nvPr>
        </p:nvSpPr>
        <p:spPr>
          <a:xfrm>
            <a:off x="1139075" y="505923"/>
            <a:ext cx="13931900" cy="1322878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 Quick Example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F19493-CB38-1D49-A62D-39FDEB0FBFA2}"/>
              </a:ext>
            </a:extLst>
          </p:cNvPr>
          <p:cNvSpPr txBox="1"/>
          <p:nvPr/>
        </p:nvSpPr>
        <p:spPr>
          <a:xfrm>
            <a:off x="673446" y="2044932"/>
            <a:ext cx="1486315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solidFill>
                  <a:schemeClr val="bg1"/>
                </a:solidFill>
              </a:rPr>
              <a:t>Let’s take a quick look over the </a:t>
            </a:r>
            <a:r>
              <a:rPr lang="en-US" sz="3000" dirty="0" err="1">
                <a:solidFill>
                  <a:schemeClr val="bg1"/>
                </a:solidFill>
              </a:rPr>
              <a:t>wormy.py</a:t>
            </a:r>
            <a:r>
              <a:rPr lang="en-US" sz="3000" dirty="0">
                <a:solidFill>
                  <a:schemeClr val="bg1"/>
                </a:solidFill>
              </a:rPr>
              <a:t> code…ah! This looks interesting: </a:t>
            </a:r>
            <a:endParaRPr lang="en-US" sz="3000" dirty="0">
              <a:solidFill>
                <a:srgbClr val="FF40FF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F49FF5-96AF-5047-816C-4D3E71E4ABFC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0813" y="3118657"/>
            <a:ext cx="15430110" cy="20186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F5C0FF0-0773-0549-83D7-3B78759390A3}"/>
              </a:ext>
            </a:extLst>
          </p:cNvPr>
          <p:cNvSpPr txBox="1"/>
          <p:nvPr/>
        </p:nvSpPr>
        <p:spPr>
          <a:xfrm>
            <a:off x="673446" y="5854932"/>
            <a:ext cx="1486315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solidFill>
                  <a:schemeClr val="bg1"/>
                </a:solidFill>
              </a:rPr>
              <a:t>It looks like this code checks to see if the worm has touched the edge of the screen,</a:t>
            </a:r>
          </a:p>
          <a:p>
            <a:r>
              <a:rPr lang="en-US" sz="3000" dirty="0">
                <a:solidFill>
                  <a:schemeClr val="bg1"/>
                </a:solidFill>
              </a:rPr>
              <a:t>then exits the program (“Game Over”) if we are touching. </a:t>
            </a:r>
          </a:p>
          <a:p>
            <a:endParaRPr lang="en-US" sz="3000" dirty="0">
              <a:solidFill>
                <a:schemeClr val="bg1"/>
              </a:solidFill>
            </a:endParaRPr>
          </a:p>
          <a:p>
            <a:r>
              <a:rPr lang="en-US" sz="3000" dirty="0">
                <a:solidFill>
                  <a:schemeClr val="bg1"/>
                </a:solidFill>
              </a:rPr>
              <a:t>What if we just let the worm keep going? How could we do that? </a:t>
            </a:r>
            <a:endParaRPr lang="en-US" sz="3000" dirty="0">
              <a:solidFill>
                <a:srgbClr val="FF4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85516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Shape 204"/>
          <p:cNvSpPr txBox="1">
            <a:spLocks noGrp="1"/>
          </p:cNvSpPr>
          <p:nvPr>
            <p:ph type="title"/>
          </p:nvPr>
        </p:nvSpPr>
        <p:spPr>
          <a:xfrm>
            <a:off x="1139075" y="505923"/>
            <a:ext cx="13931900" cy="1322878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 Quick Example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F19493-CB38-1D49-A62D-39FDEB0FBFA2}"/>
              </a:ext>
            </a:extLst>
          </p:cNvPr>
          <p:cNvSpPr txBox="1"/>
          <p:nvPr/>
        </p:nvSpPr>
        <p:spPr>
          <a:xfrm>
            <a:off x="673446" y="2044932"/>
            <a:ext cx="1486315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solidFill>
                  <a:schemeClr val="bg1"/>
                </a:solidFill>
              </a:rPr>
              <a:t>Let’s change the code to look like this…</a:t>
            </a:r>
            <a:endParaRPr lang="en-US" sz="3000" dirty="0">
              <a:solidFill>
                <a:srgbClr val="FF40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7D9AED-546D-4348-97A1-469897A509E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3445" y="2815061"/>
            <a:ext cx="14762505" cy="441701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4281401-A591-894B-AFBC-16FA609117EC}"/>
              </a:ext>
            </a:extLst>
          </p:cNvPr>
          <p:cNvSpPr txBox="1"/>
          <p:nvPr/>
        </p:nvSpPr>
        <p:spPr>
          <a:xfrm>
            <a:off x="673446" y="7553316"/>
            <a:ext cx="1486315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solidFill>
                  <a:schemeClr val="bg1"/>
                </a:solidFill>
              </a:rPr>
              <a:t>What do you think will happen?</a:t>
            </a:r>
            <a:endParaRPr lang="en-US" sz="3000" dirty="0">
              <a:solidFill>
                <a:srgbClr val="FF4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34512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Shape 204"/>
          <p:cNvSpPr txBox="1">
            <a:spLocks noGrp="1"/>
          </p:cNvSpPr>
          <p:nvPr>
            <p:ph type="title"/>
          </p:nvPr>
        </p:nvSpPr>
        <p:spPr>
          <a:xfrm>
            <a:off x="1139075" y="505923"/>
            <a:ext cx="13931900" cy="1322878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 Quick Example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281401-A591-894B-AFBC-16FA609117EC}"/>
              </a:ext>
            </a:extLst>
          </p:cNvPr>
          <p:cNvSpPr txBox="1"/>
          <p:nvPr/>
        </p:nvSpPr>
        <p:spPr>
          <a:xfrm>
            <a:off x="673446" y="8268210"/>
            <a:ext cx="1486315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solidFill>
                  <a:schemeClr val="bg1"/>
                </a:solidFill>
              </a:rPr>
              <a:t>Neat, right? </a:t>
            </a:r>
            <a:endParaRPr lang="en-US" sz="3000" dirty="0">
              <a:solidFill>
                <a:srgbClr val="FF40FF"/>
              </a:solidFill>
            </a:endParaRPr>
          </a:p>
        </p:txBody>
      </p:sp>
      <p:pic>
        <p:nvPicPr>
          <p:cNvPr id="2" name="wormy_mod">
            <a:hlinkClick r:id="" action="ppaction://media"/>
            <a:extLst>
              <a:ext uri="{FF2B5EF4-FFF2-40B4-BE49-F238E27FC236}">
                <a16:creationId xmlns:a16="http://schemas.microsoft.com/office/drawing/2014/main" id="{6F02E31E-FEEC-314C-9938-2F3F38FF6F2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3803794" y="2113547"/>
            <a:ext cx="8602460" cy="6708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675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68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Shape 204"/>
          <p:cNvSpPr txBox="1">
            <a:spLocks noGrp="1"/>
          </p:cNvSpPr>
          <p:nvPr>
            <p:ph type="title"/>
          </p:nvPr>
        </p:nvSpPr>
        <p:spPr>
          <a:xfrm>
            <a:off x="1139075" y="505923"/>
            <a:ext cx="13931900" cy="1322878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 Quick Competition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281401-A591-894B-AFBC-16FA609117EC}"/>
              </a:ext>
            </a:extLst>
          </p:cNvPr>
          <p:cNvSpPr txBox="1"/>
          <p:nvPr/>
        </p:nvSpPr>
        <p:spPr>
          <a:xfrm>
            <a:off x="673446" y="3275216"/>
            <a:ext cx="1486315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solidFill>
                  <a:schemeClr val="bg1"/>
                </a:solidFill>
              </a:rPr>
              <a:t>What else can you make </a:t>
            </a:r>
            <a:r>
              <a:rPr lang="en-US" sz="3000" dirty="0" err="1">
                <a:solidFill>
                  <a:schemeClr val="bg1"/>
                </a:solidFill>
              </a:rPr>
              <a:t>wormy.py</a:t>
            </a:r>
            <a:r>
              <a:rPr lang="en-US" sz="3000" dirty="0">
                <a:solidFill>
                  <a:schemeClr val="bg1"/>
                </a:solidFill>
              </a:rPr>
              <a:t> do? Try changing some of the variables like “FPS”. Or change the colors. Or maybe change the code so that the worm “bounces” off the walls and changes direction. Anything!</a:t>
            </a:r>
            <a:endParaRPr lang="en-US" sz="3000" dirty="0">
              <a:solidFill>
                <a:srgbClr val="FF4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16121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Shape 204"/>
          <p:cNvSpPr txBox="1">
            <a:spLocks noGrp="1"/>
          </p:cNvSpPr>
          <p:nvPr>
            <p:ph type="title"/>
          </p:nvPr>
        </p:nvSpPr>
        <p:spPr>
          <a:xfrm>
            <a:off x="1139075" y="505923"/>
            <a:ext cx="13931900" cy="1322878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 Rules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281401-A591-894B-AFBC-16FA609117EC}"/>
              </a:ext>
            </a:extLst>
          </p:cNvPr>
          <p:cNvSpPr txBox="1"/>
          <p:nvPr/>
        </p:nvSpPr>
        <p:spPr>
          <a:xfrm>
            <a:off x="819102" y="3275216"/>
            <a:ext cx="1486315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3000" dirty="0">
                <a:solidFill>
                  <a:schemeClr val="bg1"/>
                </a:solidFill>
              </a:rPr>
              <a:t>You can ask me for help </a:t>
            </a:r>
            <a:r>
              <a:rPr lang="en-US" sz="3000" dirty="0">
                <a:solidFill>
                  <a:srgbClr val="00FF00"/>
                </a:solidFill>
              </a:rPr>
              <a:t>3 times</a:t>
            </a:r>
          </a:p>
          <a:p>
            <a:pPr marL="457200" indent="-457200">
              <a:buFontTx/>
              <a:buChar char="-"/>
            </a:pPr>
            <a:r>
              <a:rPr lang="en-US" sz="3000" dirty="0">
                <a:solidFill>
                  <a:schemeClr val="bg1"/>
                </a:solidFill>
              </a:rPr>
              <a:t>You can ask each other for help as many times as you want</a:t>
            </a:r>
          </a:p>
          <a:p>
            <a:pPr marL="457200" indent="-457200">
              <a:buFontTx/>
              <a:buChar char="-"/>
            </a:pPr>
            <a:r>
              <a:rPr lang="en-US" sz="3000" dirty="0">
                <a:solidFill>
                  <a:schemeClr val="bg1"/>
                </a:solidFill>
              </a:rPr>
              <a:t>You can use the Internet to search for help</a:t>
            </a:r>
          </a:p>
          <a:p>
            <a:pPr marL="457200" indent="-457200">
              <a:buFontTx/>
              <a:buChar char="-"/>
            </a:pPr>
            <a:r>
              <a:rPr lang="en-US" sz="3000" dirty="0">
                <a:solidFill>
                  <a:schemeClr val="bg1"/>
                </a:solidFill>
              </a:rPr>
              <a:t>You can look at other people’s code from the Internet</a:t>
            </a:r>
          </a:p>
        </p:txBody>
      </p:sp>
      <p:sp>
        <p:nvSpPr>
          <p:cNvPr id="5" name="Shape 204">
            <a:extLst>
              <a:ext uri="{FF2B5EF4-FFF2-40B4-BE49-F238E27FC236}">
                <a16:creationId xmlns:a16="http://schemas.microsoft.com/office/drawing/2014/main" id="{E36DAC23-7A6D-734C-ADB9-B2033239A635}"/>
              </a:ext>
            </a:extLst>
          </p:cNvPr>
          <p:cNvSpPr txBox="1">
            <a:spLocks/>
          </p:cNvSpPr>
          <p:nvPr/>
        </p:nvSpPr>
        <p:spPr>
          <a:xfrm>
            <a:off x="1284730" y="6578957"/>
            <a:ext cx="13931900" cy="1322878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defRPr/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defRPr/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defRPr/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pPr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Have Fun!</a:t>
            </a:r>
          </a:p>
        </p:txBody>
      </p:sp>
    </p:spTree>
    <p:extLst>
      <p:ext uri="{BB962C8B-B14F-4D97-AF65-F5344CB8AC3E}">
        <p14:creationId xmlns:p14="http://schemas.microsoft.com/office/powerpoint/2010/main" val="10921136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Shape 20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Sharing</a:t>
            </a:r>
          </a:p>
        </p:txBody>
      </p:sp>
    </p:spTree>
    <p:extLst>
      <p:ext uri="{BB962C8B-B14F-4D97-AF65-F5344CB8AC3E}">
        <p14:creationId xmlns:p14="http://schemas.microsoft.com/office/powerpoint/2010/main" val="61988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Shape 204"/>
          <p:cNvSpPr txBox="1">
            <a:spLocks noGrp="1"/>
          </p:cNvSpPr>
          <p:nvPr>
            <p:ph type="title"/>
          </p:nvPr>
        </p:nvSpPr>
        <p:spPr>
          <a:xfrm>
            <a:off x="1055947" y="415636"/>
            <a:ext cx="13931900" cy="1098203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Sharing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34F827-35CD-F148-990B-E1E0894EA209}"/>
              </a:ext>
            </a:extLst>
          </p:cNvPr>
          <p:cNvSpPr txBox="1"/>
          <p:nvPr/>
        </p:nvSpPr>
        <p:spPr>
          <a:xfrm>
            <a:off x="1122218" y="2510444"/>
            <a:ext cx="13865629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solidFill>
                  <a:schemeClr val="bg1"/>
                </a:solidFill>
              </a:rPr>
              <a:t>To share your app, you need to make sure the other person has Python3 and </a:t>
            </a:r>
            <a:r>
              <a:rPr lang="en-US" sz="3000" dirty="0" err="1">
                <a:solidFill>
                  <a:schemeClr val="bg1"/>
                </a:solidFill>
              </a:rPr>
              <a:t>PyGame</a:t>
            </a:r>
            <a:r>
              <a:rPr lang="en-US" sz="3000" dirty="0">
                <a:solidFill>
                  <a:schemeClr val="bg1"/>
                </a:solidFill>
              </a:rPr>
              <a:t> installed.</a:t>
            </a:r>
          </a:p>
          <a:p>
            <a:endParaRPr lang="en-US" sz="3000" dirty="0">
              <a:solidFill>
                <a:schemeClr val="bg1"/>
              </a:solidFill>
            </a:endParaRPr>
          </a:p>
          <a:p>
            <a:r>
              <a:rPr lang="en-US" sz="3000" dirty="0">
                <a:solidFill>
                  <a:schemeClr val="bg1"/>
                </a:solidFill>
              </a:rPr>
              <a:t>This means you need to teach them how to install and use Python! Use this as a good time to teach your friends to code! The steps are:</a:t>
            </a:r>
          </a:p>
          <a:p>
            <a:endParaRPr lang="en-US" sz="3000" dirty="0">
              <a:solidFill>
                <a:schemeClr val="bg1"/>
              </a:solidFill>
            </a:endParaRPr>
          </a:p>
          <a:p>
            <a:r>
              <a:rPr lang="en-US" sz="3000" dirty="0">
                <a:solidFill>
                  <a:schemeClr val="bg1"/>
                </a:solidFill>
              </a:rPr>
              <a:t>1 – Go to </a:t>
            </a:r>
            <a:r>
              <a:rPr lang="en-US" sz="3000" dirty="0" err="1">
                <a:solidFill>
                  <a:schemeClr val="bg1"/>
                </a:solidFill>
              </a:rPr>
              <a:t>python.org</a:t>
            </a:r>
            <a:r>
              <a:rPr lang="en-US" sz="3000" dirty="0">
                <a:solidFill>
                  <a:schemeClr val="bg1"/>
                </a:solidFill>
              </a:rPr>
              <a:t> and download the latest Python 3</a:t>
            </a:r>
          </a:p>
          <a:p>
            <a:r>
              <a:rPr lang="en-US" sz="3000" dirty="0">
                <a:solidFill>
                  <a:schemeClr val="bg1"/>
                </a:solidFill>
              </a:rPr>
              <a:t>2 – From the command line, type “</a:t>
            </a:r>
            <a:r>
              <a:rPr lang="en-US" sz="3000" dirty="0">
                <a:solidFill>
                  <a:srgbClr val="00FF00"/>
                </a:solidFill>
              </a:rPr>
              <a:t>python3 –m pip install </a:t>
            </a:r>
            <a:r>
              <a:rPr lang="en-US" sz="3000" dirty="0" err="1">
                <a:solidFill>
                  <a:srgbClr val="00FF00"/>
                </a:solidFill>
              </a:rPr>
              <a:t>pygame</a:t>
            </a:r>
            <a:r>
              <a:rPr lang="en-US" sz="3000" dirty="0">
                <a:solidFill>
                  <a:schemeClr val="bg1"/>
                </a:solidFill>
              </a:rPr>
              <a:t>”</a:t>
            </a:r>
          </a:p>
          <a:p>
            <a:r>
              <a:rPr lang="en-US" sz="3000" dirty="0">
                <a:solidFill>
                  <a:schemeClr val="bg1"/>
                </a:solidFill>
              </a:rPr>
              <a:t>3 – Teach your friends who to run “</a:t>
            </a:r>
            <a:r>
              <a:rPr lang="en-US" sz="3000" dirty="0">
                <a:solidFill>
                  <a:srgbClr val="00FF00"/>
                </a:solidFill>
              </a:rPr>
              <a:t>python3 </a:t>
            </a:r>
            <a:r>
              <a:rPr lang="en-US" sz="3000" dirty="0" err="1">
                <a:solidFill>
                  <a:srgbClr val="00FF00"/>
                </a:solidFill>
              </a:rPr>
              <a:t>mygame.py</a:t>
            </a:r>
            <a:r>
              <a:rPr lang="en-US" sz="3000" dirty="0">
                <a:solidFill>
                  <a:schemeClr val="bg1"/>
                </a:solidFill>
              </a:rPr>
              <a:t>” to run games!</a:t>
            </a:r>
          </a:p>
          <a:p>
            <a:endParaRPr lang="en-US" sz="3000" dirty="0">
              <a:solidFill>
                <a:schemeClr val="bg1"/>
              </a:solidFill>
            </a:endParaRPr>
          </a:p>
          <a:p>
            <a:r>
              <a:rPr lang="en-US" sz="3000" dirty="0">
                <a:solidFill>
                  <a:schemeClr val="bg1"/>
                </a:solidFill>
              </a:rPr>
              <a:t>You can also show them how to install VS Code so they can change your game!</a:t>
            </a:r>
          </a:p>
        </p:txBody>
      </p:sp>
    </p:spTree>
    <p:extLst>
      <p:ext uri="{BB962C8B-B14F-4D97-AF65-F5344CB8AC3E}">
        <p14:creationId xmlns:p14="http://schemas.microsoft.com/office/powerpoint/2010/main" val="39082655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Shape 204"/>
          <p:cNvSpPr txBox="1">
            <a:spLocks noGrp="1"/>
          </p:cNvSpPr>
          <p:nvPr>
            <p:ph type="title"/>
          </p:nvPr>
        </p:nvSpPr>
        <p:spPr>
          <a:xfrm>
            <a:off x="715289" y="4001519"/>
            <a:ext cx="13931900" cy="1098203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 END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34F827-35CD-F148-990B-E1E0894EA209}"/>
              </a:ext>
            </a:extLst>
          </p:cNvPr>
          <p:cNvSpPr txBox="1"/>
          <p:nvPr/>
        </p:nvSpPr>
        <p:spPr>
          <a:xfrm>
            <a:off x="4940321" y="5099722"/>
            <a:ext cx="652174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solidFill>
                  <a:schemeClr val="bg1"/>
                </a:solidFill>
              </a:rPr>
              <a:t>That’s it! I hope you had fun. ^_^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86FD645-0A36-3D40-A854-78E75A576A9E}"/>
              </a:ext>
            </a:extLst>
          </p:cNvPr>
          <p:cNvCxnSpPr/>
          <p:nvPr/>
        </p:nvCxnSpPr>
        <p:spPr>
          <a:xfrm>
            <a:off x="1717903" y="7065818"/>
            <a:ext cx="2576945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CA88E0D0-9149-A048-9D00-4BDA40A4CEC5}"/>
              </a:ext>
            </a:extLst>
          </p:cNvPr>
          <p:cNvSpPr/>
          <p:nvPr/>
        </p:nvSpPr>
        <p:spPr>
          <a:xfrm>
            <a:off x="4565119" y="6751923"/>
            <a:ext cx="6614311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000" dirty="0">
                <a:solidFill>
                  <a:schemeClr val="bg1"/>
                </a:solidFill>
                <a:hlinkClick r:id="rId3"/>
              </a:rPr>
              <a:t>https://inventwithpython.com/pygame/</a:t>
            </a:r>
            <a:endParaRPr lang="en-US" sz="3000" dirty="0">
              <a:solidFill>
                <a:schemeClr val="bg1"/>
              </a:solidFill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F5F48F0-3A22-0545-BA85-73DD346D2404}"/>
              </a:ext>
            </a:extLst>
          </p:cNvPr>
          <p:cNvCxnSpPr>
            <a:cxnSpLocks/>
          </p:cNvCxnSpPr>
          <p:nvPr/>
        </p:nvCxnSpPr>
        <p:spPr>
          <a:xfrm flipH="1">
            <a:off x="11449701" y="7028922"/>
            <a:ext cx="2496983" cy="36896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BE9BE45-48F0-F648-AFF4-B637D5C5D0DE}"/>
              </a:ext>
            </a:extLst>
          </p:cNvPr>
          <p:cNvSpPr txBox="1"/>
          <p:nvPr/>
        </p:nvSpPr>
        <p:spPr>
          <a:xfrm flipH="1">
            <a:off x="5949954" y="8127125"/>
            <a:ext cx="384463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solidFill>
                  <a:schemeClr val="bg1"/>
                </a:solidFill>
              </a:rPr>
              <a:t>Keep Learning Here!</a:t>
            </a:r>
            <a:r>
              <a:rPr lang="en-US" dirty="0">
                <a:solidFill>
                  <a:schemeClr val="bg1"/>
                </a:solidFill>
              </a:rPr>
              <a:t> 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51D1232-F914-1248-BFCB-DBC4EDA591D4}"/>
              </a:ext>
            </a:extLst>
          </p:cNvPr>
          <p:cNvCxnSpPr>
            <a:cxnSpLocks/>
            <a:stCxn id="8" idx="0"/>
            <a:endCxn id="5" idx="2"/>
          </p:cNvCxnSpPr>
          <p:nvPr/>
        </p:nvCxnSpPr>
        <p:spPr>
          <a:xfrm flipV="1">
            <a:off x="7872273" y="7305921"/>
            <a:ext cx="2" cy="821204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95922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Shape 54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3600" dirty="0">
                <a:solidFill>
                  <a:srgbClr val="FFFF00"/>
                </a:solidFill>
              </a:rPr>
              <a:t>Acknowledgements / Contributions</a:t>
            </a:r>
          </a:p>
        </p:txBody>
      </p:sp>
      <p:sp>
        <p:nvSpPr>
          <p:cNvPr id="549" name="Shape 549"/>
          <p:cNvSpPr txBox="1"/>
          <p:nvPr/>
        </p:nvSpPr>
        <p:spPr>
          <a:xfrm>
            <a:off x="1155700" y="2171403"/>
            <a:ext cx="6797699" cy="594389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1800" dirty="0">
                <a:solidFill>
                  <a:srgbClr val="FFFFFF"/>
                </a:solidFill>
              </a:rPr>
              <a:t>These slides are Copyright 2010-  Charles R. Severance (</a:t>
            </a:r>
            <a:r>
              <a:rPr lang="en-US" sz="1800" u="sng" dirty="0">
                <a:solidFill>
                  <a:srgbClr val="FFFF00"/>
                </a:solidFill>
                <a:hlinkClick r:id="rId3"/>
              </a:rPr>
              <a:t>www.dr-chuck.com</a:t>
            </a:r>
            <a:r>
              <a:rPr lang="en-US" sz="1800" dirty="0">
                <a:solidFill>
                  <a:srgbClr val="FFFFFF"/>
                </a:solidFill>
              </a:rPr>
              <a:t>) of the University of Michigan School of Information and made available under a Creative Commons Attribution 4.0 License.  Please maintain this last slide in all copies of the document to comply with the attribution requirements of the license.  If you make a change, feel free to add your name and organization to the list of contributors on this page as you republish the materials.</a:t>
            </a:r>
          </a:p>
          <a:p>
            <a:pPr lvl="0" rtl="0">
              <a:spcBef>
                <a:spcPts val="0"/>
              </a:spcBef>
              <a:buNone/>
            </a:pPr>
            <a:endParaRPr sz="1800" dirty="0">
              <a:solidFill>
                <a:srgbClr val="FFFFFF"/>
              </a:solidFill>
            </a:endParaRPr>
          </a:p>
          <a:p>
            <a:pPr lvl="0" rtl="0">
              <a:spcBef>
                <a:spcPts val="0"/>
              </a:spcBef>
              <a:buNone/>
            </a:pPr>
            <a:r>
              <a:rPr lang="en-US" sz="1800" dirty="0">
                <a:solidFill>
                  <a:srgbClr val="FFFFFF"/>
                </a:solidFill>
              </a:rPr>
              <a:t>Initial Development: Charles Severance, University of Michigan School of Information</a:t>
            </a:r>
          </a:p>
          <a:p>
            <a:pPr lvl="0" rtl="0">
              <a:spcBef>
                <a:spcPts val="0"/>
              </a:spcBef>
              <a:buNone/>
            </a:pPr>
            <a:endParaRPr sz="1800" dirty="0">
              <a:solidFill>
                <a:srgbClr val="FFFFFF"/>
              </a:solidFill>
            </a:endParaRPr>
          </a:p>
          <a:p>
            <a:pPr lvl="0" rtl="0">
              <a:spcBef>
                <a:spcPts val="0"/>
              </a:spcBef>
              <a:buNone/>
            </a:pPr>
            <a:r>
              <a:rPr lang="en-US" sz="1800" dirty="0">
                <a:solidFill>
                  <a:srgbClr val="FFFFFF"/>
                </a:solidFill>
              </a:rPr>
              <a:t>This deck uses the style and formatting of Charles R. Severance’s slides, but some of the content and code is borrowed from the wonderful book </a:t>
            </a:r>
            <a:r>
              <a:rPr lang="en-US" sz="1800" i="1" dirty="0">
                <a:solidFill>
                  <a:srgbClr val="FFFFFF"/>
                </a:solidFill>
              </a:rPr>
              <a:t>Making Games with Python &amp; </a:t>
            </a:r>
            <a:r>
              <a:rPr lang="en-US" sz="1800" i="1" dirty="0" err="1">
                <a:solidFill>
                  <a:srgbClr val="FFFFFF"/>
                </a:solidFill>
              </a:rPr>
              <a:t>Pygame</a:t>
            </a:r>
            <a:r>
              <a:rPr lang="en-US" sz="1800" dirty="0">
                <a:solidFill>
                  <a:srgbClr val="FFFFFF"/>
                </a:solidFill>
              </a:rPr>
              <a:t> by Al </a:t>
            </a:r>
            <a:r>
              <a:rPr lang="en-US" sz="1800" dirty="0" err="1">
                <a:solidFill>
                  <a:srgbClr val="FFFFFF"/>
                </a:solidFill>
              </a:rPr>
              <a:t>Sweigart</a:t>
            </a:r>
            <a:r>
              <a:rPr lang="en-US" sz="1800" dirty="0">
                <a:solidFill>
                  <a:srgbClr val="FFFFFF"/>
                </a:solidFill>
              </a:rPr>
              <a:t>. Like Charles Severance and Al </a:t>
            </a:r>
            <a:r>
              <a:rPr lang="en-US" sz="1800" dirty="0" err="1">
                <a:solidFill>
                  <a:srgbClr val="FFFFFF"/>
                </a:solidFill>
              </a:rPr>
              <a:t>Sweigart</a:t>
            </a:r>
            <a:r>
              <a:rPr lang="en-US" sz="1800" dirty="0">
                <a:solidFill>
                  <a:srgbClr val="FFFFFF"/>
                </a:solidFill>
              </a:rPr>
              <a:t>, I license these slides and all associated content under a CC license. These modifications were made by Jeremy Pedersen.</a:t>
            </a:r>
            <a:endParaRPr sz="1800" dirty="0">
              <a:solidFill>
                <a:srgbClr val="FFFFFF"/>
              </a:solidFill>
            </a:endParaRPr>
          </a:p>
        </p:txBody>
      </p:sp>
      <p:pic>
        <p:nvPicPr>
          <p:cNvPr id="551" name="Shape 551"/>
          <p:cNvPicPr preferRelativeResize="0"/>
          <p:nvPr/>
        </p:nvPicPr>
        <p:blipFill rotWithShape="1"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897687" y="1170103"/>
            <a:ext cx="1968599" cy="6684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23246886"/>
      </p:ext>
    </p:extLst>
  </p:cSld>
  <p:clrMapOvr>
    <a:masterClrMapping/>
  </p:clrMapOvr>
</p:sld>
</file>

<file path=ppt/theme/theme1.xml><?xml version="1.0" encoding="utf-8"?>
<a:theme xmlns:a="http://schemas.openxmlformats.org/drawingml/2006/main" name="Title &amp; Subtitle">
  <a:themeElements>
    <a:clrScheme name="">
      <a:dk1>
        <a:srgbClr val="808080"/>
      </a:dk1>
      <a:lt1>
        <a:srgbClr val="FFFFFF"/>
      </a:lt1>
      <a:dk2>
        <a:srgbClr val="000000"/>
      </a:dk2>
      <a:lt2>
        <a:srgbClr val="000000"/>
      </a:lt2>
      <a:accent1>
        <a:srgbClr val="BBE0E3"/>
      </a:accent1>
      <a:accent2>
        <a:srgbClr val="333399"/>
      </a:accent2>
      <a:accent3>
        <a:srgbClr val="AAAAAA"/>
      </a:accent3>
      <a:accent4>
        <a:srgbClr val="DADADA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2595</TotalTime>
  <Words>1229</Words>
  <Application>Microsoft Macintosh PowerPoint</Application>
  <PresentationFormat>Custom</PresentationFormat>
  <Paragraphs>76</Paragraphs>
  <Slides>14</Slides>
  <Notes>14</Notes>
  <HiddenSlides>0</HiddenSlides>
  <MMClips>2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Cabin</vt:lpstr>
      <vt:lpstr>ヒラギノ角ゴ ProN W3</vt:lpstr>
      <vt:lpstr>Arial</vt:lpstr>
      <vt:lpstr>Gill Sans</vt:lpstr>
      <vt:lpstr>Title &amp; Subtitle</vt:lpstr>
      <vt:lpstr>Hacking and Sharing</vt:lpstr>
      <vt:lpstr>Hacking</vt:lpstr>
      <vt:lpstr>What Is Hacking?</vt:lpstr>
      <vt:lpstr>What Is Hacking?</vt:lpstr>
      <vt:lpstr>Hacking is Playing</vt:lpstr>
      <vt:lpstr>A Quick Example</vt:lpstr>
      <vt:lpstr>A Quick Example</vt:lpstr>
      <vt:lpstr>A Quick Example</vt:lpstr>
      <vt:lpstr>A Quick Competition</vt:lpstr>
      <vt:lpstr>The Rules</vt:lpstr>
      <vt:lpstr>Sharing</vt:lpstr>
      <vt:lpstr>Sharing</vt:lpstr>
      <vt:lpstr>THE END</vt:lpstr>
      <vt:lpstr>Acknowledgements / Contributions</vt:lpstr>
    </vt:vector>
  </TitlesOfParts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Functions</dc:title>
  <cp:lastModifiedBy>Microsoft Office User</cp:lastModifiedBy>
  <cp:revision>271</cp:revision>
  <dcterms:modified xsi:type="dcterms:W3CDTF">2019-01-05T12:36:14Z</dcterms:modified>
</cp:coreProperties>
</file>