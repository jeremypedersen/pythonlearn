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03" r:id="rId1"/>
  </p:sldMasterIdLst>
  <p:notesMasterIdLst>
    <p:notesMasterId r:id="rId60"/>
  </p:notesMasterIdLst>
  <p:sldIdLst>
    <p:sldId id="256" r:id="rId2"/>
    <p:sldId id="329" r:id="rId3"/>
    <p:sldId id="330" r:id="rId4"/>
    <p:sldId id="331" r:id="rId5"/>
    <p:sldId id="332" r:id="rId6"/>
    <p:sldId id="333" r:id="rId7"/>
    <p:sldId id="334" r:id="rId8"/>
    <p:sldId id="335" r:id="rId9"/>
    <p:sldId id="257" r:id="rId10"/>
    <p:sldId id="258" r:id="rId11"/>
    <p:sldId id="308" r:id="rId12"/>
    <p:sldId id="260" r:id="rId13"/>
    <p:sldId id="261" r:id="rId14"/>
    <p:sldId id="263" r:id="rId15"/>
    <p:sldId id="264" r:id="rId16"/>
    <p:sldId id="266" r:id="rId17"/>
    <p:sldId id="318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309" r:id="rId38"/>
    <p:sldId id="310" r:id="rId39"/>
    <p:sldId id="311" r:id="rId40"/>
    <p:sldId id="312" r:id="rId41"/>
    <p:sldId id="313" r:id="rId42"/>
    <p:sldId id="314" r:id="rId43"/>
    <p:sldId id="315" r:id="rId44"/>
    <p:sldId id="316" r:id="rId45"/>
    <p:sldId id="295" r:id="rId46"/>
    <p:sldId id="319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17" r:id="rId55"/>
    <p:sldId id="304" r:id="rId56"/>
    <p:sldId id="305" r:id="rId57"/>
    <p:sldId id="306" r:id="rId58"/>
    <p:sldId id="328" r:id="rId59"/>
  </p:sldIdLst>
  <p:sldSz cx="16256000" cy="9144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23" autoAdjust="0"/>
    <p:restoredTop sz="94558"/>
  </p:normalViewPr>
  <p:slideViewPr>
    <p:cSldViewPr snapToGrid="0" snapToObjects="1">
      <p:cViewPr varScale="1">
        <p:scale>
          <a:sx n="77" d="100"/>
          <a:sy n="77" d="100"/>
        </p:scale>
        <p:origin x="1224" y="192"/>
      </p:cViewPr>
      <p:guideLst>
        <p:guide orient="horz" pos="2880"/>
        <p:guide pos="5120"/>
      </p:guideLst>
    </p:cSldViewPr>
  </p:slideViewPr>
  <p:outlineViewPr>
    <p:cViewPr>
      <p:scale>
        <a:sx n="33" d="100"/>
        <a:sy n="33" d="100"/>
      </p:scale>
      <p:origin x="0" y="-27208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0" d="100"/>
          <a:sy n="70" d="100"/>
        </p:scale>
        <p:origin x="3360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09187180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dirty="0">
                <a:solidFill>
                  <a:schemeClr val="dk2"/>
                </a:solidFill>
              </a:rPr>
              <a:t>Note from Chuck.  </a:t>
            </a:r>
            <a:r>
              <a:rPr lang="en-US">
                <a:solidFill>
                  <a:schemeClr val="dk2"/>
                </a:solidFill>
              </a:rPr>
              <a:t>If you are using these materials, you can remove the UM logo and replace it with your own, but please retain the CC-BY logo on the first page as well as retain the acknowledgement page(s)</a:t>
            </a:r>
            <a:r>
              <a:rPr lang="en-US" baseline="0">
                <a:solidFill>
                  <a:schemeClr val="dk2"/>
                </a:solidFill>
              </a:rPr>
              <a:t> at the end.</a:t>
            </a:r>
            <a:endParaRPr lang="en-US" dirty="0">
              <a:solidFill>
                <a:schemeClr val="dk2"/>
              </a:solidFill>
            </a:endParaRPr>
          </a:p>
        </p:txBody>
      </p:sp>
      <p:sp>
        <p:nvSpPr>
          <p:cNvPr id="201" name="Shape 20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67372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2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10" name="Shape 21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626234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2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10" name="Shape 21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12115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2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10" name="Shape 21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80718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2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10" name="Shape 21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04107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2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10" name="Shape 21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31542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2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10" name="Shape 21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4424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23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38" name="Shape 23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66650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23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38" name="Shape 23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7998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Shape 28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90" name="Shape 29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19041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29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98" name="Shape 29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09707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Shape 33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38" name="Shape 33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027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Shape 34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46" name="Shape 34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50449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Shape 3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84" name="Shape 38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6182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Shape 38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90" name="Shape 39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22372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Shape 39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96" name="Shape 39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02655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Shape 40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03" name="Shape 40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255679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Shape 41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14" name="Shape 41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210686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Shape 43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38" name="Shape 43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04610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Shape 44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49" name="Shape 44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465045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Shape 46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70" name="Shape 47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35453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Shape 51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15" name="Shape 51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12037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Shape 51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20" name="Shape 52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311616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Shape 52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30" name="Shape 53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71059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Shape 53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37" name="Shape 53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515915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Shape 54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42" name="Shape 54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88823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Shape 54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48" name="Shape 54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47657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Shape 55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54" name="Shape 55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638655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Shape 55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60" name="Shape 56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69372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Shape 56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66" name="Shape 56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979571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Shape 57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72" name="Shape 57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446462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Shape 57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78" name="Shape 57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51254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Shape 58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83" name="Shape 58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3110920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Shape 53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37" name="Shape 53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898063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Shape 54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42" name="Shape 54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442443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Shape 54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48" name="Shape 54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567794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Shape 55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54" name="Shape 55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389630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Shape 55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60" name="Shape 56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2125358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Shape 56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66" name="Shape 56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5221361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Shape 57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72" name="Shape 57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408580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Shape 58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83" name="Shape 58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7071216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Shape 66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70" name="Shape 67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030232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83918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Shape 67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78" name="Shape 67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544006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Shape 6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86" name="Shape 68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647482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Shape 69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94" name="Shape 69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8173838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Shape 70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02" name="Shape 70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169591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Shape 7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10" name="Shape 71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8313299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Shape 71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18" name="Shape 71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544698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Shape 72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26" name="Shape 72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8487318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Shape 72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26" name="Shape 72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773170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Shape 74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41" name="Shape 74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9042600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Shape 74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49" name="Shape 74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134568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Shape 75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56" name="Shape 75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4002326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Shape 54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Shape 54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6784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Bump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>
                <a:solidFill>
                  <a:srgbClr val="FFFF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sp>
        <p:nvSpPr>
          <p:cNvPr id="40" name="Shape 40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lvl="0" indent="-342900" algn="ctr" rtl="0">
              <a:spcBef>
                <a:spcPts val="0"/>
              </a:spcBef>
              <a:spcAft>
                <a:spcPts val="0"/>
              </a:spcAft>
              <a:defRPr>
                <a:solidFill>
                  <a:schemeClr val="bg1"/>
                </a:solidFill>
              </a:defRPr>
            </a:lvl1pPr>
            <a:lvl2pPr marL="742950" lvl="1" indent="-285750" algn="ctr" rtl="0">
              <a:spcBef>
                <a:spcPts val="0"/>
              </a:spcBef>
              <a:spcAft>
                <a:spcPts val="0"/>
              </a:spcAft>
              <a:defRPr/>
            </a:lvl2pPr>
            <a:lvl3pPr marL="1143000" lvl="2" indent="-228600" algn="ctr" rtl="0">
              <a:spcBef>
                <a:spcPts val="0"/>
              </a:spcBef>
              <a:spcAft>
                <a:spcPts val="0"/>
              </a:spcAft>
              <a:defRPr/>
            </a:lvl3pPr>
            <a:lvl4pPr marL="1600200" lvl="3" indent="-228600" algn="ctr" rtl="0">
              <a:spcBef>
                <a:spcPts val="0"/>
              </a:spcBef>
              <a:spcAft>
                <a:spcPts val="0"/>
              </a:spcAft>
              <a:defRPr/>
            </a:lvl4pPr>
            <a:lvl5pPr marL="2057400" lvl="4" indent="-22860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Bullets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 txBox="1">
            <a:spLocks noGrp="1"/>
          </p:cNvSpPr>
          <p:nvPr>
            <p:ph type="title"/>
          </p:nvPr>
        </p:nvSpPr>
        <p:spPr>
          <a:xfrm>
            <a:off x="1155700" y="817418"/>
            <a:ext cx="13932000" cy="172248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>
                <a:solidFill>
                  <a:srgbClr val="FFFF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sp>
        <p:nvSpPr>
          <p:cNvPr id="195" name="Shape 195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2000" cy="5702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lvl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 sz="3200">
                <a:solidFill>
                  <a:schemeClr val="bg1"/>
                </a:solidFill>
              </a:defRPr>
            </a:lvl1pPr>
            <a:lvl2pPr marL="1003300" lvl="1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lvl="2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lvl="3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lvl="4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lvl="5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lvl="6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lvl="7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lvl="8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 txBox="1">
            <a:spLocks noGrp="1"/>
          </p:cNvSpPr>
          <p:nvPr>
            <p:ph type="title"/>
          </p:nvPr>
        </p:nvSpPr>
        <p:spPr>
          <a:xfrm>
            <a:off x="1155700" y="817418"/>
            <a:ext cx="13932000" cy="172248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>
                <a:solidFill>
                  <a:srgbClr val="FFFF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60293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3018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 txBox="1">
            <a:spLocks noGrp="1"/>
          </p:cNvSpPr>
          <p:nvPr>
            <p:ph type="title"/>
          </p:nvPr>
        </p:nvSpPr>
        <p:spPr>
          <a:xfrm>
            <a:off x="812800" y="785812"/>
            <a:ext cx="14630400" cy="11048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13416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lvl="0" indent="-342900" algn="ctr" rtl="0">
              <a:spcBef>
                <a:spcPts val="0"/>
              </a:spcBef>
              <a:spcAft>
                <a:spcPts val="0"/>
              </a:spcAft>
              <a:defRPr/>
            </a:lvl1pPr>
            <a:lvl2pPr marL="742950" marR="0" lvl="1" indent="-285750" algn="ctr" rtl="0">
              <a:spcBef>
                <a:spcPts val="0"/>
              </a:spcBef>
              <a:spcAft>
                <a:spcPts val="0"/>
              </a:spcAft>
              <a:defRPr/>
            </a:lvl2pPr>
            <a:lvl3pPr marL="1143000" marR="0" lvl="2" indent="-228600" algn="ctr" rtl="0">
              <a:spcBef>
                <a:spcPts val="0"/>
              </a:spcBef>
              <a:spcAft>
                <a:spcPts val="0"/>
              </a:spcAft>
              <a:defRPr/>
            </a:lvl3pPr>
            <a:lvl4pPr marL="1600200" marR="0" lvl="3" indent="-228600" algn="ctr" rtl="0">
              <a:spcBef>
                <a:spcPts val="0"/>
              </a:spcBef>
              <a:spcAft>
                <a:spcPts val="0"/>
              </a:spcAft>
              <a:defRPr/>
            </a:lvl4pPr>
            <a:lvl5pPr marL="2057400" marR="0" lvl="4" indent="-22860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sp>
        <p:nvSpPr>
          <p:cNvPr id="4" name="Rectangle 3"/>
          <p:cNvSpPr>
            <a:spLocks noChangeArrowheads="1"/>
          </p:cNvSpPr>
          <p:nvPr userDrawn="1"/>
        </p:nvSpPr>
        <p:spPr bwMode="auto">
          <a:xfrm>
            <a:off x="0" y="0"/>
            <a:ext cx="16256000" cy="768096"/>
          </a:xfrm>
          <a:prstGeom prst="rect">
            <a:avLst/>
          </a:prstGeom>
          <a:solidFill>
            <a:schemeClr val="bg2"/>
          </a:solidFill>
          <a:ln>
            <a:noFill/>
          </a:ln>
          <a:extLst/>
        </p:spPr>
        <p:txBody>
          <a:bodyPr/>
          <a:lstStyle>
            <a:lvl1pPr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>
              <a:defRPr/>
            </a:pPr>
            <a:endParaRPr lang="en-US" altLang="en-US" sz="3600"/>
          </a:p>
        </p:txBody>
      </p:sp>
      <p:sp>
        <p:nvSpPr>
          <p:cNvPr id="5" name="Rectangle 3"/>
          <p:cNvSpPr>
            <a:spLocks noChangeArrowheads="1"/>
          </p:cNvSpPr>
          <p:nvPr userDrawn="1"/>
        </p:nvSpPr>
        <p:spPr bwMode="auto">
          <a:xfrm>
            <a:off x="0" y="8357616"/>
            <a:ext cx="16256000" cy="786384"/>
          </a:xfrm>
          <a:prstGeom prst="rect">
            <a:avLst/>
          </a:prstGeom>
          <a:solidFill>
            <a:schemeClr val="bg2"/>
          </a:solidFill>
          <a:ln>
            <a:noFill/>
          </a:ln>
          <a:extLst/>
        </p:spPr>
        <p:txBody>
          <a:bodyPr/>
          <a:lstStyle>
            <a:lvl1pPr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>
              <a:defRPr/>
            </a:pPr>
            <a:endParaRPr lang="en-US" altLang="en-US" sz="36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701" r:id="rId2"/>
    <p:sldLayoutId id="2147483704" r:id="rId3"/>
    <p:sldLayoutId id="2147483705" r:id="rId4"/>
    <p:sldLayoutId id="2147483706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7200" b="0" i="0" u="none" strike="noStrike" cap="none">
          <a:solidFill>
            <a:srgbClr val="FFFF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3200" b="0" i="0" u="none" strike="noStrike" cap="none">
          <a:solidFill>
            <a:schemeClr val="bg1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www.pythonlearn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r-chuck.com/" TargetMode="Externa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20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Loops and Iteration</a:t>
            </a:r>
          </a:p>
        </p:txBody>
      </p:sp>
      <p:sp>
        <p:nvSpPr>
          <p:cNvPr id="205" name="Shape 205"/>
          <p:cNvSpPr txBox="1"/>
          <p:nvPr/>
        </p:nvSpPr>
        <p:spPr>
          <a:xfrm>
            <a:off x="3934250" y="6959474"/>
            <a:ext cx="8374799" cy="1016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Python for Everybody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200" u="sng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  <a:hlinkClick r:id="rId3"/>
              </a:rPr>
              <a:t>www.py4e.com</a:t>
            </a:r>
          </a:p>
        </p:txBody>
      </p:sp>
      <p:pic>
        <p:nvPicPr>
          <p:cNvPr id="206" name="Shape 20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740562" y="7307173"/>
            <a:ext cx="1968599" cy="6684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Shape 242">
            <a:extLst>
              <a:ext uri="{FF2B5EF4-FFF2-40B4-BE49-F238E27FC236}">
                <a16:creationId xmlns:a16="http://schemas.microsoft.com/office/drawing/2014/main" id="{37416EC6-E42A-D941-BA3C-0F70B5901F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8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Class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>
                <a:solidFill>
                  <a:srgbClr val="FFD966"/>
                </a:solidFill>
              </a:rPr>
              <a:t>But First! A Quick Review</a:t>
            </a:r>
          </a:p>
        </p:txBody>
      </p:sp>
    </p:spTree>
    <p:extLst>
      <p:ext uri="{BB962C8B-B14F-4D97-AF65-F5344CB8AC3E}">
        <p14:creationId xmlns:p14="http://schemas.microsoft.com/office/powerpoint/2010/main" val="2639488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 txBox="1">
            <a:spLocks noGrp="1"/>
          </p:cNvSpPr>
          <p:nvPr>
            <p:ph type="title"/>
          </p:nvPr>
        </p:nvSpPr>
        <p:spPr>
          <a:xfrm>
            <a:off x="3215580" y="393550"/>
            <a:ext cx="10353806" cy="1198811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2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Try/Except</a:t>
            </a:r>
          </a:p>
        </p:txBody>
      </p:sp>
      <p:sp>
        <p:nvSpPr>
          <p:cNvPr id="213" name="Shape 213"/>
          <p:cNvSpPr txBox="1"/>
          <p:nvPr/>
        </p:nvSpPr>
        <p:spPr>
          <a:xfrm>
            <a:off x="3620850" y="2384625"/>
            <a:ext cx="4772036" cy="443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Program: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u="none" strike="noStrike" cap="none" dirty="0">
              <a:solidFill>
                <a:srgbClr val="FF7F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age = ‘fifteen’</a:t>
            </a:r>
            <a:endParaRPr lang="en-US" sz="3000" i="0" u="none" strike="noStrike" cap="none" dirty="0">
              <a:solidFill>
                <a:srgbClr val="FF99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t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ry: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	age = </a:t>
            </a:r>
            <a:r>
              <a:rPr lang="en-US" sz="3000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int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(age)</a:t>
            </a:r>
            <a:endParaRPr lang="en-US"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except: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	print(“Error!”) </a:t>
            </a:r>
          </a:p>
        </p:txBody>
      </p:sp>
      <p:cxnSp>
        <p:nvCxnSpPr>
          <p:cNvPr id="215" name="Shape 215"/>
          <p:cNvCxnSpPr>
            <a:cxnSpLocks/>
          </p:cNvCxnSpPr>
          <p:nvPr/>
        </p:nvCxnSpPr>
        <p:spPr>
          <a:xfrm flipH="1">
            <a:off x="8179255" y="4600724"/>
            <a:ext cx="1666874" cy="1471462"/>
          </a:xfrm>
          <a:prstGeom prst="straightConnector1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33" name="Shape 233"/>
          <p:cNvSpPr txBox="1"/>
          <p:nvPr/>
        </p:nvSpPr>
        <p:spPr>
          <a:xfrm>
            <a:off x="10221283" y="2384625"/>
            <a:ext cx="1727099" cy="235912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Output: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600" u="none" strike="noStrike" cap="none" dirty="0">
              <a:solidFill>
                <a:srgbClr val="FF00FF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Error! </a:t>
            </a:r>
          </a:p>
        </p:txBody>
      </p:sp>
    </p:spTree>
    <p:extLst>
      <p:ext uri="{BB962C8B-B14F-4D97-AF65-F5344CB8AC3E}">
        <p14:creationId xmlns:p14="http://schemas.microsoft.com/office/powerpoint/2010/main" val="2661321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 txBox="1">
            <a:spLocks noGrp="1"/>
          </p:cNvSpPr>
          <p:nvPr>
            <p:ph type="title"/>
          </p:nvPr>
        </p:nvSpPr>
        <p:spPr>
          <a:xfrm>
            <a:off x="3215580" y="393550"/>
            <a:ext cx="10353806" cy="1198811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2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One Way Decisions</a:t>
            </a:r>
          </a:p>
        </p:txBody>
      </p:sp>
      <p:sp>
        <p:nvSpPr>
          <p:cNvPr id="213" name="Shape 213"/>
          <p:cNvSpPr txBox="1"/>
          <p:nvPr/>
        </p:nvSpPr>
        <p:spPr>
          <a:xfrm>
            <a:off x="2777680" y="2351968"/>
            <a:ext cx="4772036" cy="443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Program: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1" u="none" strike="noStrike" cap="none" dirty="0">
              <a:solidFill>
                <a:schemeClr val="bg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r>
              <a:rPr lang="en-US" sz="3000" dirty="0">
                <a:solidFill>
                  <a:srgbClr val="00FF00"/>
                </a:solidFill>
              </a:rPr>
              <a:t>age = 35</a:t>
            </a:r>
          </a:p>
          <a:p>
            <a:r>
              <a:rPr lang="en-US" sz="3000" dirty="0">
                <a:solidFill>
                  <a:srgbClr val="FFFF00"/>
                </a:solidFill>
              </a:rPr>
              <a:t>if age &gt; 30:</a:t>
            </a:r>
          </a:p>
          <a:p>
            <a:r>
              <a:rPr lang="en-US" sz="3000" dirty="0">
                <a:solidFill>
                  <a:srgbClr val="FFFF00"/>
                </a:solidFill>
              </a:rPr>
              <a:t>	print("You are old")</a:t>
            </a:r>
          </a:p>
          <a:p>
            <a:br>
              <a:rPr lang="en-US" sz="3000" dirty="0">
                <a:solidFill>
                  <a:schemeClr val="bg1"/>
                </a:solidFill>
              </a:rPr>
            </a:br>
            <a:endParaRPr lang="en-US" sz="3000" dirty="0">
              <a:solidFill>
                <a:schemeClr val="bg1"/>
              </a:solidFill>
            </a:endParaRPr>
          </a:p>
        </p:txBody>
      </p:sp>
      <p:cxnSp>
        <p:nvCxnSpPr>
          <p:cNvPr id="215" name="Shape 215"/>
          <p:cNvCxnSpPr>
            <a:cxnSpLocks/>
          </p:cNvCxnSpPr>
          <p:nvPr/>
        </p:nvCxnSpPr>
        <p:spPr>
          <a:xfrm flipH="1">
            <a:off x="7215870" y="4718957"/>
            <a:ext cx="2450644" cy="316693"/>
          </a:xfrm>
          <a:prstGeom prst="straightConnector1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33" name="Shape 233"/>
          <p:cNvSpPr txBox="1"/>
          <p:nvPr/>
        </p:nvSpPr>
        <p:spPr>
          <a:xfrm>
            <a:off x="10204954" y="2923468"/>
            <a:ext cx="4588731" cy="235912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Output: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600" u="none" strike="noStrike" cap="none" dirty="0">
              <a:solidFill>
                <a:srgbClr val="FF00FF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You are old</a:t>
            </a:r>
          </a:p>
        </p:txBody>
      </p:sp>
    </p:spTree>
    <p:extLst>
      <p:ext uri="{BB962C8B-B14F-4D97-AF65-F5344CB8AC3E}">
        <p14:creationId xmlns:p14="http://schemas.microsoft.com/office/powerpoint/2010/main" val="375214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 txBox="1">
            <a:spLocks noGrp="1"/>
          </p:cNvSpPr>
          <p:nvPr>
            <p:ph type="title"/>
          </p:nvPr>
        </p:nvSpPr>
        <p:spPr>
          <a:xfrm>
            <a:off x="3215580" y="393550"/>
            <a:ext cx="10353806" cy="1198811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2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Nested Decisions</a:t>
            </a:r>
          </a:p>
        </p:txBody>
      </p:sp>
      <p:sp>
        <p:nvSpPr>
          <p:cNvPr id="213" name="Shape 213"/>
          <p:cNvSpPr txBox="1"/>
          <p:nvPr/>
        </p:nvSpPr>
        <p:spPr>
          <a:xfrm>
            <a:off x="1306286" y="2809167"/>
            <a:ext cx="7804101" cy="443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Program: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1" u="none" strike="noStrike" cap="none" dirty="0">
              <a:solidFill>
                <a:srgbClr val="FFFF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r>
              <a:rPr lang="en-US" sz="3000" dirty="0">
                <a:solidFill>
                  <a:srgbClr val="00FF00"/>
                </a:solidFill>
              </a:rPr>
              <a:t>age = 35</a:t>
            </a:r>
          </a:p>
          <a:p>
            <a:r>
              <a:rPr lang="en-US" sz="3000" dirty="0">
                <a:solidFill>
                  <a:srgbClr val="FFFF00"/>
                </a:solidFill>
              </a:rPr>
              <a:t>if age &gt; 30:	</a:t>
            </a:r>
          </a:p>
          <a:p>
            <a:r>
              <a:rPr lang="en-US" sz="3000" dirty="0">
                <a:solidFill>
                  <a:srgbClr val="FFFF00"/>
                </a:solidFill>
              </a:rPr>
              <a:t>	print("You are old")</a:t>
            </a:r>
          </a:p>
          <a:p>
            <a:br>
              <a:rPr lang="en-US" sz="3000" dirty="0">
                <a:solidFill>
                  <a:srgbClr val="FFFF00"/>
                </a:solidFill>
              </a:rPr>
            </a:br>
            <a:r>
              <a:rPr lang="en-US" sz="3000" dirty="0">
                <a:solidFill>
                  <a:srgbClr val="FFFF00"/>
                </a:solidFill>
              </a:rPr>
              <a:t>	if age &gt; 50:</a:t>
            </a:r>
          </a:p>
          <a:p>
            <a:r>
              <a:rPr lang="en-US" sz="3000" dirty="0">
                <a:solidFill>
                  <a:srgbClr val="FFFF00"/>
                </a:solidFill>
              </a:rPr>
              <a:t>		print("...even older than my dad!")</a:t>
            </a:r>
          </a:p>
        </p:txBody>
      </p:sp>
      <p:sp>
        <p:nvSpPr>
          <p:cNvPr id="233" name="Shape 233"/>
          <p:cNvSpPr txBox="1"/>
          <p:nvPr/>
        </p:nvSpPr>
        <p:spPr>
          <a:xfrm>
            <a:off x="9960429" y="3351915"/>
            <a:ext cx="5600700" cy="334670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Output: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600" u="none" strike="noStrike" cap="none" dirty="0">
              <a:solidFill>
                <a:srgbClr val="FF00FF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You are old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…even older than my dad!</a:t>
            </a:r>
          </a:p>
        </p:txBody>
      </p:sp>
      <p:cxnSp>
        <p:nvCxnSpPr>
          <p:cNvPr id="6" name="Shape 215">
            <a:extLst>
              <a:ext uri="{FF2B5EF4-FFF2-40B4-BE49-F238E27FC236}">
                <a16:creationId xmlns:a16="http://schemas.microsoft.com/office/drawing/2014/main" id="{48CB1FB6-AE18-4C46-83EC-DDCD32FE854B}"/>
              </a:ext>
            </a:extLst>
          </p:cNvPr>
          <p:cNvCxnSpPr>
            <a:cxnSpLocks/>
          </p:cNvCxnSpPr>
          <p:nvPr/>
        </p:nvCxnSpPr>
        <p:spPr>
          <a:xfrm flipH="1">
            <a:off x="6433457" y="5306786"/>
            <a:ext cx="3200401" cy="0"/>
          </a:xfrm>
          <a:prstGeom prst="straightConnector1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10" name="Shape 215">
            <a:extLst>
              <a:ext uri="{FF2B5EF4-FFF2-40B4-BE49-F238E27FC236}">
                <a16:creationId xmlns:a16="http://schemas.microsoft.com/office/drawing/2014/main" id="{54114E62-A54B-134E-8AE5-D592AB215AF4}"/>
              </a:ext>
            </a:extLst>
          </p:cNvPr>
          <p:cNvCxnSpPr>
            <a:cxnSpLocks/>
          </p:cNvCxnSpPr>
          <p:nvPr/>
        </p:nvCxnSpPr>
        <p:spPr>
          <a:xfrm flipH="1">
            <a:off x="8986158" y="6064526"/>
            <a:ext cx="974271" cy="634093"/>
          </a:xfrm>
          <a:prstGeom prst="straightConnector1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767497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 txBox="1">
            <a:spLocks noGrp="1"/>
          </p:cNvSpPr>
          <p:nvPr>
            <p:ph type="title"/>
          </p:nvPr>
        </p:nvSpPr>
        <p:spPr>
          <a:xfrm>
            <a:off x="3215580" y="393550"/>
            <a:ext cx="10353806" cy="1198811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2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Two Way Decisions</a:t>
            </a:r>
          </a:p>
        </p:txBody>
      </p:sp>
      <p:sp>
        <p:nvSpPr>
          <p:cNvPr id="213" name="Shape 213"/>
          <p:cNvSpPr txBox="1"/>
          <p:nvPr/>
        </p:nvSpPr>
        <p:spPr>
          <a:xfrm>
            <a:off x="522514" y="2090057"/>
            <a:ext cx="7656741" cy="546249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Program: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endParaRPr lang="en-US" sz="3000" u="none" strike="noStrike" cap="none" dirty="0">
              <a:solidFill>
                <a:srgbClr val="FFFF00"/>
              </a:solidFill>
              <a:latin typeface="Courier" pitchFamily="2" charset="0"/>
              <a:ea typeface="Arial" charset="0"/>
              <a:cs typeface="Arial" charset="0"/>
              <a:sym typeface="Cabin"/>
            </a:endParaRPr>
          </a:p>
          <a:p>
            <a:r>
              <a:rPr lang="en-US" sz="3000" dirty="0">
                <a:solidFill>
                  <a:srgbClr val="00FF00"/>
                </a:solidFill>
                <a:latin typeface="Courier" pitchFamily="2" charset="0"/>
              </a:rPr>
              <a:t>age = 10</a:t>
            </a:r>
          </a:p>
          <a:p>
            <a:r>
              <a:rPr lang="en-US" sz="3000" dirty="0">
                <a:solidFill>
                  <a:srgbClr val="FFFF00"/>
                </a:solidFill>
                <a:latin typeface="Courier" pitchFamily="2" charset="0"/>
              </a:rPr>
              <a:t>if age &gt; 30:</a:t>
            </a:r>
          </a:p>
          <a:p>
            <a:r>
              <a:rPr lang="en-US" sz="3000" dirty="0">
                <a:solidFill>
                  <a:srgbClr val="FFFF00"/>
                </a:solidFill>
                <a:latin typeface="Courier" pitchFamily="2" charset="0"/>
              </a:rPr>
              <a:t>	print("You are old")</a:t>
            </a:r>
          </a:p>
          <a:p>
            <a:r>
              <a:rPr lang="en-US" sz="3000" dirty="0">
                <a:solidFill>
                  <a:srgbClr val="FFFF00"/>
                </a:solidFill>
                <a:latin typeface="Courier" pitchFamily="2" charset="0"/>
              </a:rPr>
              <a:t>else:</a:t>
            </a:r>
          </a:p>
          <a:p>
            <a:r>
              <a:rPr lang="en-US" sz="3000" dirty="0">
                <a:solidFill>
                  <a:srgbClr val="FFFF00"/>
                </a:solidFill>
                <a:latin typeface="Courier" pitchFamily="2" charset="0"/>
              </a:rPr>
              <a:t>	print("You are young")</a:t>
            </a:r>
          </a:p>
          <a:p>
            <a:endParaRPr lang="en-US" sz="3000" dirty="0">
              <a:solidFill>
                <a:srgbClr val="FFFF00"/>
              </a:solidFill>
              <a:latin typeface="Courier" pitchFamily="2" charset="0"/>
            </a:endParaRPr>
          </a:p>
        </p:txBody>
      </p:sp>
      <p:cxnSp>
        <p:nvCxnSpPr>
          <p:cNvPr id="215" name="Shape 215"/>
          <p:cNvCxnSpPr>
            <a:cxnSpLocks/>
          </p:cNvCxnSpPr>
          <p:nvPr/>
        </p:nvCxnSpPr>
        <p:spPr>
          <a:xfrm flipH="1">
            <a:off x="6809015" y="4506686"/>
            <a:ext cx="3298371" cy="1420585"/>
          </a:xfrm>
          <a:prstGeom prst="straightConnector1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33" name="Shape 233"/>
          <p:cNvSpPr txBox="1"/>
          <p:nvPr/>
        </p:nvSpPr>
        <p:spPr>
          <a:xfrm>
            <a:off x="10449883" y="2462179"/>
            <a:ext cx="4244472" cy="235912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Output: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600" u="none" strike="noStrike" cap="none" dirty="0">
              <a:solidFill>
                <a:srgbClr val="FF00FF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You are young</a:t>
            </a:r>
          </a:p>
        </p:txBody>
      </p:sp>
    </p:spTree>
    <p:extLst>
      <p:ext uri="{BB962C8B-B14F-4D97-AF65-F5344CB8AC3E}">
        <p14:creationId xmlns:p14="http://schemas.microsoft.com/office/powerpoint/2010/main" val="3117849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 txBox="1">
            <a:spLocks noGrp="1"/>
          </p:cNvSpPr>
          <p:nvPr>
            <p:ph type="title"/>
          </p:nvPr>
        </p:nvSpPr>
        <p:spPr>
          <a:xfrm>
            <a:off x="3215580" y="393550"/>
            <a:ext cx="10353806" cy="1198811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2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Multi-Way Decisions</a:t>
            </a:r>
          </a:p>
        </p:txBody>
      </p:sp>
      <p:sp>
        <p:nvSpPr>
          <p:cNvPr id="213" name="Shape 213"/>
          <p:cNvSpPr txBox="1"/>
          <p:nvPr/>
        </p:nvSpPr>
        <p:spPr>
          <a:xfrm>
            <a:off x="620486" y="2114877"/>
            <a:ext cx="9095014" cy="6743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Program: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endParaRPr lang="en-US" sz="3000" u="none" strike="noStrike" cap="none" dirty="0">
              <a:solidFill>
                <a:srgbClr val="FFFF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r>
              <a:rPr lang="en-US" sz="3000" dirty="0">
                <a:solidFill>
                  <a:srgbClr val="00FF00"/>
                </a:solidFill>
              </a:rPr>
              <a:t>age = </a:t>
            </a:r>
            <a:r>
              <a:rPr lang="en-US" sz="3000" dirty="0">
                <a:solidFill>
                  <a:srgbClr val="00FF00"/>
                </a:solidFill>
                <a:latin typeface="Courier" pitchFamily="2" charset="0"/>
              </a:rPr>
              <a:t>10</a:t>
            </a:r>
          </a:p>
          <a:p>
            <a:r>
              <a:rPr lang="en-US" sz="3000" dirty="0">
                <a:solidFill>
                  <a:srgbClr val="FFFF00"/>
                </a:solidFill>
                <a:latin typeface="Courier" pitchFamily="2" charset="0"/>
              </a:rPr>
              <a:t>if age &lt; 10:</a:t>
            </a:r>
          </a:p>
          <a:p>
            <a:r>
              <a:rPr lang="en-US" sz="3000" dirty="0">
                <a:solidFill>
                  <a:srgbClr val="FFFF00"/>
                </a:solidFill>
                <a:latin typeface="Courier" pitchFamily="2" charset="0"/>
              </a:rPr>
              <a:t>	print("You are younger than ten")</a:t>
            </a:r>
          </a:p>
          <a:p>
            <a:r>
              <a:rPr lang="en-US" sz="3000" dirty="0" err="1">
                <a:solidFill>
                  <a:srgbClr val="FFFF00"/>
                </a:solidFill>
                <a:latin typeface="Courier" pitchFamily="2" charset="0"/>
              </a:rPr>
              <a:t>elif</a:t>
            </a:r>
            <a:r>
              <a:rPr lang="en-US" sz="3000" dirty="0">
                <a:solidFill>
                  <a:srgbClr val="FFFF00"/>
                </a:solidFill>
                <a:latin typeface="Courier" pitchFamily="2" charset="0"/>
              </a:rPr>
              <a:t> age == 10:</a:t>
            </a:r>
          </a:p>
          <a:p>
            <a:r>
              <a:rPr lang="en-US" sz="3000" dirty="0">
                <a:solidFill>
                  <a:srgbClr val="FFFF00"/>
                </a:solidFill>
                <a:latin typeface="Courier" pitchFamily="2" charset="0"/>
              </a:rPr>
              <a:t>	print("You are ten")</a:t>
            </a:r>
          </a:p>
          <a:p>
            <a:r>
              <a:rPr lang="en-US" sz="3000" dirty="0" err="1">
                <a:solidFill>
                  <a:srgbClr val="FFFF00"/>
                </a:solidFill>
                <a:latin typeface="Courier" pitchFamily="2" charset="0"/>
              </a:rPr>
              <a:t>elif</a:t>
            </a:r>
            <a:r>
              <a:rPr lang="en-US" sz="3000" dirty="0">
                <a:solidFill>
                  <a:srgbClr val="FFFF00"/>
                </a:solidFill>
                <a:latin typeface="Courier" pitchFamily="2" charset="0"/>
              </a:rPr>
              <a:t> age == 11:</a:t>
            </a:r>
          </a:p>
          <a:p>
            <a:r>
              <a:rPr lang="en-US" sz="3000" dirty="0">
                <a:solidFill>
                  <a:srgbClr val="FFFF00"/>
                </a:solidFill>
                <a:latin typeface="Courier" pitchFamily="2" charset="0"/>
              </a:rPr>
              <a:t>	print("You are eleven")</a:t>
            </a:r>
          </a:p>
          <a:p>
            <a:r>
              <a:rPr lang="en-US" sz="3000" dirty="0" err="1">
                <a:solidFill>
                  <a:srgbClr val="FFFF00"/>
                </a:solidFill>
                <a:latin typeface="Courier" pitchFamily="2" charset="0"/>
              </a:rPr>
              <a:t>elif</a:t>
            </a:r>
            <a:r>
              <a:rPr lang="en-US" sz="3000" dirty="0">
                <a:solidFill>
                  <a:srgbClr val="FFFF00"/>
                </a:solidFill>
                <a:latin typeface="Courier" pitchFamily="2" charset="0"/>
              </a:rPr>
              <a:t> age == 12:</a:t>
            </a:r>
          </a:p>
          <a:p>
            <a:r>
              <a:rPr lang="en-US" sz="3000" dirty="0">
                <a:solidFill>
                  <a:srgbClr val="FFFF00"/>
                </a:solidFill>
                <a:latin typeface="Courier" pitchFamily="2" charset="0"/>
              </a:rPr>
              <a:t>	print("You are twelve")</a:t>
            </a:r>
          </a:p>
          <a:p>
            <a:r>
              <a:rPr lang="en-US" sz="3000" dirty="0">
                <a:solidFill>
                  <a:srgbClr val="FFFF00"/>
                </a:solidFill>
                <a:latin typeface="Courier" pitchFamily="2" charset="0"/>
              </a:rPr>
              <a:t>else:</a:t>
            </a:r>
          </a:p>
          <a:p>
            <a:r>
              <a:rPr lang="en-US" sz="3000" dirty="0">
                <a:solidFill>
                  <a:srgbClr val="FFFF00"/>
                </a:solidFill>
                <a:latin typeface="Courier" pitchFamily="2" charset="0"/>
              </a:rPr>
              <a:t>	print("You are older than twelve")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u="none" strike="noStrike" cap="none" dirty="0">
              <a:solidFill>
                <a:srgbClr val="FF7F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cxnSp>
        <p:nvCxnSpPr>
          <p:cNvPr id="215" name="Shape 215"/>
          <p:cNvCxnSpPr>
            <a:cxnSpLocks/>
          </p:cNvCxnSpPr>
          <p:nvPr/>
        </p:nvCxnSpPr>
        <p:spPr>
          <a:xfrm flipH="1">
            <a:off x="6335486" y="4882243"/>
            <a:ext cx="5257801" cy="359228"/>
          </a:xfrm>
          <a:prstGeom prst="straightConnector1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33" name="Shape 233"/>
          <p:cNvSpPr txBox="1"/>
          <p:nvPr/>
        </p:nvSpPr>
        <p:spPr>
          <a:xfrm>
            <a:off x="11897744" y="3127601"/>
            <a:ext cx="3343284" cy="235912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Output: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600" u="none" strike="noStrike" cap="none" dirty="0">
              <a:solidFill>
                <a:srgbClr val="FF00FF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You are ten</a:t>
            </a:r>
          </a:p>
        </p:txBody>
      </p:sp>
    </p:spTree>
    <p:extLst>
      <p:ext uri="{BB962C8B-B14F-4D97-AF65-F5344CB8AC3E}">
        <p14:creationId xmlns:p14="http://schemas.microsoft.com/office/powerpoint/2010/main" val="3039336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>
                <a:solidFill>
                  <a:srgbClr val="FFD966"/>
                </a:solidFill>
              </a:rPr>
              <a:t>Loops</a:t>
            </a:r>
          </a:p>
        </p:txBody>
      </p:sp>
      <p:sp>
        <p:nvSpPr>
          <p:cNvPr id="3" name="Shape 242">
            <a:extLst>
              <a:ext uri="{FF2B5EF4-FFF2-40B4-BE49-F238E27FC236}">
                <a16:creationId xmlns:a16="http://schemas.microsoft.com/office/drawing/2014/main" id="{63CEEC48-57B8-D244-A8FF-B1F822F277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8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Repeating Stuff</a:t>
            </a:r>
          </a:p>
        </p:txBody>
      </p:sp>
    </p:spTree>
    <p:extLst>
      <p:ext uri="{BB962C8B-B14F-4D97-AF65-F5344CB8AC3E}">
        <p14:creationId xmlns:p14="http://schemas.microsoft.com/office/powerpoint/2010/main" val="691598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 txBox="1">
            <a:spLocks noGrp="1"/>
          </p:cNvSpPr>
          <p:nvPr>
            <p:ph type="title"/>
          </p:nvPr>
        </p:nvSpPr>
        <p:spPr>
          <a:xfrm>
            <a:off x="4733894" y="817418"/>
            <a:ext cx="10353806" cy="1198811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2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Repeated Steps</a:t>
            </a:r>
          </a:p>
        </p:txBody>
      </p:sp>
      <p:sp>
        <p:nvSpPr>
          <p:cNvPr id="213" name="Shape 213"/>
          <p:cNvSpPr txBox="1"/>
          <p:nvPr/>
        </p:nvSpPr>
        <p:spPr>
          <a:xfrm>
            <a:off x="7686665" y="2170112"/>
            <a:ext cx="4230904" cy="443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Program: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u="none" strike="noStrike" cap="none" dirty="0">
              <a:solidFill>
                <a:srgbClr val="FF7F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while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&gt;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0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t</a:t>
            </a:r>
            <a:r>
              <a:rPr lang="en-US" sz="30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</a:t>
            </a:r>
            <a:r>
              <a:rPr lang="en-US" sz="30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–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'Blastoff!'</a:t>
            </a:r>
            <a:r>
              <a:rPr lang="en-US" sz="30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</a:t>
            </a:r>
            <a:r>
              <a:rPr lang="en-US" sz="30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cxnSp>
        <p:nvCxnSpPr>
          <p:cNvPr id="214" name="Shape 214"/>
          <p:cNvCxnSpPr/>
          <p:nvPr/>
        </p:nvCxnSpPr>
        <p:spPr>
          <a:xfrm rot="10800000">
            <a:off x="2552692" y="2001842"/>
            <a:ext cx="14287" cy="566736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15" name="Shape 215"/>
          <p:cNvCxnSpPr/>
          <p:nvPr/>
        </p:nvCxnSpPr>
        <p:spPr>
          <a:xfrm flipH="1">
            <a:off x="11020426" y="3540124"/>
            <a:ext cx="1958974" cy="512762"/>
          </a:xfrm>
          <a:prstGeom prst="straightConnector1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16" name="Shape 216"/>
          <p:cNvSpPr/>
          <p:nvPr/>
        </p:nvSpPr>
        <p:spPr>
          <a:xfrm>
            <a:off x="1136643" y="2562230"/>
            <a:ext cx="2870100" cy="1269899"/>
          </a:xfrm>
          <a:prstGeom prst="diamond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5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 &gt; 0 ?</a:t>
            </a:r>
          </a:p>
        </p:txBody>
      </p:sp>
      <p:cxnSp>
        <p:nvCxnSpPr>
          <p:cNvPr id="217" name="Shape 217"/>
          <p:cNvCxnSpPr/>
          <p:nvPr/>
        </p:nvCxnSpPr>
        <p:spPr>
          <a:xfrm rot="10800000" flipH="1">
            <a:off x="2551104" y="3832230"/>
            <a:ext cx="20636" cy="231774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218" name="Shape 218"/>
          <p:cNvCxnSpPr/>
          <p:nvPr/>
        </p:nvCxnSpPr>
        <p:spPr>
          <a:xfrm rot="10800000">
            <a:off x="3994142" y="3190879"/>
            <a:ext cx="777875" cy="15875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19" name="Shape 219"/>
          <p:cNvCxnSpPr/>
          <p:nvPr/>
        </p:nvCxnSpPr>
        <p:spPr>
          <a:xfrm rot="10800000" flipH="1">
            <a:off x="4738680" y="3190880"/>
            <a:ext cx="15875" cy="644524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20" name="Shape 220"/>
          <p:cNvCxnSpPr/>
          <p:nvPr/>
        </p:nvCxnSpPr>
        <p:spPr>
          <a:xfrm flipH="1">
            <a:off x="4738693" y="5889730"/>
            <a:ext cx="4799" cy="3000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21" name="Shape 221"/>
          <p:cNvCxnSpPr/>
          <p:nvPr/>
        </p:nvCxnSpPr>
        <p:spPr>
          <a:xfrm>
            <a:off x="2566979" y="6192842"/>
            <a:ext cx="2187600" cy="144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22" name="Shape 222"/>
          <p:cNvCxnSpPr/>
          <p:nvPr/>
        </p:nvCxnSpPr>
        <p:spPr>
          <a:xfrm flipH="1">
            <a:off x="781043" y="3206755"/>
            <a:ext cx="396874" cy="3174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223" name="Shape 223"/>
          <p:cNvCxnSpPr/>
          <p:nvPr/>
        </p:nvCxnSpPr>
        <p:spPr>
          <a:xfrm rot="10800000" flipH="1">
            <a:off x="2554279" y="6594480"/>
            <a:ext cx="15875" cy="644524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24" name="Shape 224"/>
          <p:cNvCxnSpPr/>
          <p:nvPr/>
        </p:nvCxnSpPr>
        <p:spPr>
          <a:xfrm rot="10800000">
            <a:off x="777780" y="3254342"/>
            <a:ext cx="36599" cy="34338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25" name="Shape 225"/>
          <p:cNvCxnSpPr/>
          <p:nvPr/>
        </p:nvCxnSpPr>
        <p:spPr>
          <a:xfrm>
            <a:off x="798505" y="6611942"/>
            <a:ext cx="1752600" cy="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26" name="Shape 226"/>
          <p:cNvCxnSpPr/>
          <p:nvPr/>
        </p:nvCxnSpPr>
        <p:spPr>
          <a:xfrm rot="10800000">
            <a:off x="11001376" y="4433886"/>
            <a:ext cx="2035175" cy="1101725"/>
          </a:xfrm>
          <a:prstGeom prst="straightConnector1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27" name="Shape 227"/>
          <p:cNvSpPr txBox="1"/>
          <p:nvPr/>
        </p:nvSpPr>
        <p:spPr>
          <a:xfrm>
            <a:off x="5110150" y="6816824"/>
            <a:ext cx="10618799" cy="1663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Loops (repeated steps) have </a:t>
            </a:r>
            <a:r>
              <a:rPr lang="en-US" sz="32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iteration variables</a:t>
            </a:r>
            <a:r>
              <a:rPr lang="en-US" sz="3200" u="none" strike="noStrike" cap="none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that change each time through a loop.  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Often these 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iteration variables 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go through a sequence of numbers.</a:t>
            </a:r>
          </a:p>
        </p:txBody>
      </p:sp>
      <p:sp>
        <p:nvSpPr>
          <p:cNvPr id="228" name="Shape 228"/>
          <p:cNvSpPr txBox="1"/>
          <p:nvPr/>
        </p:nvSpPr>
        <p:spPr>
          <a:xfrm>
            <a:off x="257168" y="2447930"/>
            <a:ext cx="723900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sp>
        <p:nvSpPr>
          <p:cNvPr id="229" name="Shape 229"/>
          <p:cNvSpPr txBox="1"/>
          <p:nvPr/>
        </p:nvSpPr>
        <p:spPr>
          <a:xfrm>
            <a:off x="1111243" y="7210430"/>
            <a:ext cx="2921000" cy="7492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print('Blastoff')</a:t>
            </a:r>
          </a:p>
        </p:txBody>
      </p:sp>
      <p:sp>
        <p:nvSpPr>
          <p:cNvPr id="230" name="Shape 230"/>
          <p:cNvSpPr txBox="1"/>
          <p:nvPr/>
        </p:nvSpPr>
        <p:spPr>
          <a:xfrm>
            <a:off x="4373554" y="2447930"/>
            <a:ext cx="917271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231" name="Shape 231"/>
          <p:cNvSpPr txBox="1"/>
          <p:nvPr/>
        </p:nvSpPr>
        <p:spPr>
          <a:xfrm>
            <a:off x="1111243" y="1266830"/>
            <a:ext cx="2921099" cy="7493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 = 5</a:t>
            </a:r>
          </a:p>
        </p:txBody>
      </p:sp>
      <p:sp>
        <p:nvSpPr>
          <p:cNvPr id="232" name="Shape 232"/>
          <p:cNvSpPr txBox="1"/>
          <p:nvPr/>
        </p:nvSpPr>
        <p:spPr>
          <a:xfrm>
            <a:off x="3295643" y="3844930"/>
            <a:ext cx="2921099" cy="7493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</a:t>
            </a:r>
            <a:r>
              <a:rPr lang="en-US" sz="35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</a:t>
            </a:r>
            <a:r>
              <a:rPr lang="en-US" sz="3500" u="none" strike="noStrike" cap="none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</a:p>
        </p:txBody>
      </p:sp>
      <p:sp>
        <p:nvSpPr>
          <p:cNvPr id="233" name="Shape 233"/>
          <p:cNvSpPr txBox="1"/>
          <p:nvPr/>
        </p:nvSpPr>
        <p:spPr>
          <a:xfrm>
            <a:off x="13201651" y="2005012"/>
            <a:ext cx="1727099" cy="47879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Output: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u="none" strike="noStrike" cap="none">
              <a:solidFill>
                <a:srgbClr val="FF00FF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Blastoff!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0</a:t>
            </a:r>
          </a:p>
        </p:txBody>
      </p:sp>
      <p:sp>
        <p:nvSpPr>
          <p:cNvPr id="234" name="Shape 234"/>
          <p:cNvSpPr txBox="1"/>
          <p:nvPr/>
        </p:nvSpPr>
        <p:spPr>
          <a:xfrm>
            <a:off x="3282943" y="5064130"/>
            <a:ext cx="2921099" cy="7493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5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 = n -1</a:t>
            </a:r>
          </a:p>
        </p:txBody>
      </p:sp>
      <p:cxnSp>
        <p:nvCxnSpPr>
          <p:cNvPr id="235" name="Shape 235"/>
          <p:cNvCxnSpPr/>
          <p:nvPr/>
        </p:nvCxnSpPr>
        <p:spPr>
          <a:xfrm flipH="1">
            <a:off x="4733893" y="4679130"/>
            <a:ext cx="4799" cy="3000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240"/>
          <p:cNvSpPr txBox="1">
            <a:spLocks noGrp="1"/>
          </p:cNvSpPr>
          <p:nvPr>
            <p:ph type="title"/>
          </p:nvPr>
        </p:nvSpPr>
        <p:spPr>
          <a:xfrm>
            <a:off x="6829550" y="817418"/>
            <a:ext cx="8258150" cy="172248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2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An Infinite Loop</a:t>
            </a:r>
          </a:p>
        </p:txBody>
      </p:sp>
      <p:sp>
        <p:nvSpPr>
          <p:cNvPr id="241" name="Shape 241"/>
          <p:cNvSpPr txBox="1"/>
          <p:nvPr/>
        </p:nvSpPr>
        <p:spPr>
          <a:xfrm>
            <a:off x="8853467" y="3181350"/>
            <a:ext cx="5019696" cy="2768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while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&gt;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0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:</a:t>
            </a:r>
          </a:p>
          <a:p>
            <a:pPr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print</a:t>
            </a:r>
            <a:r>
              <a:rPr lang="en-US" sz="30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'Lather'</a:t>
            </a:r>
            <a:r>
              <a:rPr lang="en-US" sz="32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  <a:endParaRPr lang="en-US" sz="3000" i="0" u="none" strike="noStrike" cap="none" dirty="0">
              <a:solidFill>
                <a:srgbClr val="FF99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print</a:t>
            </a:r>
            <a:r>
              <a:rPr lang="en-US" sz="30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'Rinse'</a:t>
            </a:r>
            <a:r>
              <a:rPr lang="en-US" sz="30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'Dry off!'</a:t>
            </a:r>
            <a:r>
              <a:rPr lang="en-US" sz="30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cxnSp>
        <p:nvCxnSpPr>
          <p:cNvPr id="242" name="Shape 242"/>
          <p:cNvCxnSpPr/>
          <p:nvPr/>
        </p:nvCxnSpPr>
        <p:spPr>
          <a:xfrm rot="10800000">
            <a:off x="2838449" y="2087567"/>
            <a:ext cx="14287" cy="566736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43" name="Shape 243"/>
          <p:cNvSpPr/>
          <p:nvPr/>
        </p:nvSpPr>
        <p:spPr>
          <a:xfrm>
            <a:off x="1422400" y="2647955"/>
            <a:ext cx="2870200" cy="1270000"/>
          </a:xfrm>
          <a:prstGeom prst="diamond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500" b="0" i="0" u="none" strike="noStrike" cap="none">
                <a:solidFill>
                  <a:srgbClr val="00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 &gt; 0 ?</a:t>
            </a:r>
          </a:p>
        </p:txBody>
      </p:sp>
      <p:cxnSp>
        <p:nvCxnSpPr>
          <p:cNvPr id="244" name="Shape 244"/>
          <p:cNvCxnSpPr/>
          <p:nvPr/>
        </p:nvCxnSpPr>
        <p:spPr>
          <a:xfrm rot="10800000" flipH="1">
            <a:off x="2836861" y="3917955"/>
            <a:ext cx="20636" cy="231774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245" name="Shape 245"/>
          <p:cNvCxnSpPr/>
          <p:nvPr/>
        </p:nvCxnSpPr>
        <p:spPr>
          <a:xfrm rot="10800000">
            <a:off x="4203675" y="3276479"/>
            <a:ext cx="819299" cy="78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46" name="Shape 246"/>
          <p:cNvCxnSpPr/>
          <p:nvPr/>
        </p:nvCxnSpPr>
        <p:spPr>
          <a:xfrm rot="10800000" flipH="1">
            <a:off x="5024437" y="3276605"/>
            <a:ext cx="15875" cy="644524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47" name="Shape 247"/>
          <p:cNvCxnSpPr>
            <a:stCxn id="248" idx="2"/>
          </p:cNvCxnSpPr>
          <p:nvPr/>
        </p:nvCxnSpPr>
        <p:spPr>
          <a:xfrm>
            <a:off x="5078405" y="5899154"/>
            <a:ext cx="0" cy="33655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49" name="Shape 249"/>
          <p:cNvCxnSpPr/>
          <p:nvPr/>
        </p:nvCxnSpPr>
        <p:spPr>
          <a:xfrm>
            <a:off x="2852736" y="6202367"/>
            <a:ext cx="2187574" cy="14287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50" name="Shape 250"/>
          <p:cNvCxnSpPr/>
          <p:nvPr/>
        </p:nvCxnSpPr>
        <p:spPr>
          <a:xfrm flipH="1">
            <a:off x="1066800" y="3292480"/>
            <a:ext cx="396874" cy="3174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251" name="Shape 251"/>
          <p:cNvCxnSpPr/>
          <p:nvPr/>
        </p:nvCxnSpPr>
        <p:spPr>
          <a:xfrm rot="10800000" flipH="1">
            <a:off x="2840036" y="6680205"/>
            <a:ext cx="15875" cy="644524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52" name="Shape 252"/>
          <p:cNvCxnSpPr/>
          <p:nvPr/>
        </p:nvCxnSpPr>
        <p:spPr>
          <a:xfrm rot="10800000">
            <a:off x="1063537" y="3340067"/>
            <a:ext cx="36599" cy="34338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53" name="Shape 253"/>
          <p:cNvCxnSpPr/>
          <p:nvPr/>
        </p:nvCxnSpPr>
        <p:spPr>
          <a:xfrm>
            <a:off x="1084262" y="6697667"/>
            <a:ext cx="1752600" cy="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254" name="Shape 254"/>
          <p:cNvSpPr txBox="1"/>
          <p:nvPr/>
        </p:nvSpPr>
        <p:spPr>
          <a:xfrm>
            <a:off x="542925" y="2533655"/>
            <a:ext cx="723900" cy="622299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sp>
        <p:nvSpPr>
          <p:cNvPr id="255" name="Shape 255"/>
          <p:cNvSpPr txBox="1"/>
          <p:nvPr/>
        </p:nvSpPr>
        <p:spPr>
          <a:xfrm>
            <a:off x="1397000" y="7296155"/>
            <a:ext cx="2921000" cy="7492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print('Dry off!')</a:t>
            </a:r>
          </a:p>
        </p:txBody>
      </p:sp>
      <p:sp>
        <p:nvSpPr>
          <p:cNvPr id="256" name="Shape 256"/>
          <p:cNvSpPr txBox="1"/>
          <p:nvPr/>
        </p:nvSpPr>
        <p:spPr>
          <a:xfrm>
            <a:off x="4659312" y="2533655"/>
            <a:ext cx="1074736" cy="622299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257" name="Shape 257"/>
          <p:cNvSpPr txBox="1"/>
          <p:nvPr/>
        </p:nvSpPr>
        <p:spPr>
          <a:xfrm>
            <a:off x="1397000" y="1352555"/>
            <a:ext cx="2921099" cy="7493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 = 5</a:t>
            </a:r>
          </a:p>
        </p:txBody>
      </p:sp>
      <p:sp>
        <p:nvSpPr>
          <p:cNvPr id="258" name="Shape 258"/>
          <p:cNvSpPr txBox="1"/>
          <p:nvPr/>
        </p:nvSpPr>
        <p:spPr>
          <a:xfrm>
            <a:off x="3405194" y="3930655"/>
            <a:ext cx="3365474" cy="747711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</a:t>
            </a:r>
            <a:r>
              <a:rPr lang="en-US" sz="35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'Lather'</a:t>
            </a:r>
            <a:r>
              <a:rPr lang="en-US" sz="3500" u="none" strike="noStrike" cap="none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</a:p>
        </p:txBody>
      </p:sp>
      <p:sp>
        <p:nvSpPr>
          <p:cNvPr id="248" name="Shape 248"/>
          <p:cNvSpPr txBox="1"/>
          <p:nvPr/>
        </p:nvSpPr>
        <p:spPr>
          <a:xfrm>
            <a:off x="3386141" y="5149855"/>
            <a:ext cx="3384527" cy="7492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35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</a:t>
            </a:r>
            <a:r>
              <a:rPr lang="en-US" sz="35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'Rinse'</a:t>
            </a:r>
            <a:r>
              <a:rPr lang="en-US" sz="35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</a:p>
        </p:txBody>
      </p:sp>
      <p:sp>
        <p:nvSpPr>
          <p:cNvPr id="259" name="Shape 259"/>
          <p:cNvSpPr txBox="1"/>
          <p:nvPr/>
        </p:nvSpPr>
        <p:spPr>
          <a:xfrm>
            <a:off x="8295898" y="7412450"/>
            <a:ext cx="6791801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is wrong with this loop?</a:t>
            </a:r>
          </a:p>
        </p:txBody>
      </p:sp>
      <p:cxnSp>
        <p:nvCxnSpPr>
          <p:cNvPr id="260" name="Shape 260"/>
          <p:cNvCxnSpPr>
            <a:stCxn id="258" idx="2"/>
            <a:endCxn id="248" idx="0"/>
          </p:cNvCxnSpPr>
          <p:nvPr/>
        </p:nvCxnSpPr>
        <p:spPr>
          <a:xfrm flipH="1">
            <a:off x="5078405" y="4678366"/>
            <a:ext cx="9526" cy="47148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240"/>
          <p:cNvSpPr txBox="1">
            <a:spLocks noGrp="1"/>
          </p:cNvSpPr>
          <p:nvPr>
            <p:ph type="title"/>
          </p:nvPr>
        </p:nvSpPr>
        <p:spPr>
          <a:xfrm>
            <a:off x="6829550" y="817418"/>
            <a:ext cx="8258150" cy="172248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2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Another Loop</a:t>
            </a:r>
          </a:p>
        </p:txBody>
      </p:sp>
      <p:sp>
        <p:nvSpPr>
          <p:cNvPr id="241" name="Shape 241"/>
          <p:cNvSpPr txBox="1"/>
          <p:nvPr/>
        </p:nvSpPr>
        <p:spPr>
          <a:xfrm>
            <a:off x="8853467" y="3181350"/>
            <a:ext cx="5019696" cy="2768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while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n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&gt;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0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:</a:t>
            </a:r>
          </a:p>
          <a:p>
            <a:pPr>
              <a:buClr>
                <a:srgbClr val="FFFF00"/>
              </a:buClr>
              <a:buSzPct val="25000"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print</a:t>
            </a:r>
            <a:r>
              <a:rPr lang="en-US" sz="30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'Lather'</a:t>
            </a:r>
            <a:r>
              <a:rPr lang="en-US" sz="32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  <a:endParaRPr lang="en-US" sz="3000" i="0" u="none" strike="noStrike" cap="none" dirty="0">
              <a:solidFill>
                <a:srgbClr val="FF99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print</a:t>
            </a:r>
            <a:r>
              <a:rPr lang="en-US" sz="30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'Rinse'</a:t>
            </a:r>
            <a:r>
              <a:rPr lang="en-US" sz="30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'Dry off!'</a:t>
            </a:r>
            <a:r>
              <a:rPr lang="en-US" sz="30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cxnSp>
        <p:nvCxnSpPr>
          <p:cNvPr id="242" name="Shape 242"/>
          <p:cNvCxnSpPr/>
          <p:nvPr/>
        </p:nvCxnSpPr>
        <p:spPr>
          <a:xfrm rot="10800000">
            <a:off x="2838449" y="2087567"/>
            <a:ext cx="14287" cy="566736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43" name="Shape 243"/>
          <p:cNvSpPr/>
          <p:nvPr/>
        </p:nvSpPr>
        <p:spPr>
          <a:xfrm>
            <a:off x="1422400" y="2647955"/>
            <a:ext cx="2870200" cy="1270000"/>
          </a:xfrm>
          <a:prstGeom prst="diamond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500" b="0" i="0" u="none" strike="noStrike" cap="none">
                <a:solidFill>
                  <a:srgbClr val="00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 &gt; 0 ?</a:t>
            </a:r>
          </a:p>
        </p:txBody>
      </p:sp>
      <p:cxnSp>
        <p:nvCxnSpPr>
          <p:cNvPr id="244" name="Shape 244"/>
          <p:cNvCxnSpPr/>
          <p:nvPr/>
        </p:nvCxnSpPr>
        <p:spPr>
          <a:xfrm rot="10800000" flipH="1">
            <a:off x="2836861" y="3917955"/>
            <a:ext cx="20636" cy="231774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245" name="Shape 245"/>
          <p:cNvCxnSpPr/>
          <p:nvPr/>
        </p:nvCxnSpPr>
        <p:spPr>
          <a:xfrm rot="10800000">
            <a:off x="4203675" y="3276479"/>
            <a:ext cx="819299" cy="78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46" name="Shape 246"/>
          <p:cNvCxnSpPr/>
          <p:nvPr/>
        </p:nvCxnSpPr>
        <p:spPr>
          <a:xfrm rot="10800000" flipH="1">
            <a:off x="5024437" y="3276605"/>
            <a:ext cx="15875" cy="644524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47" name="Shape 247"/>
          <p:cNvCxnSpPr>
            <a:stCxn id="248" idx="2"/>
          </p:cNvCxnSpPr>
          <p:nvPr/>
        </p:nvCxnSpPr>
        <p:spPr>
          <a:xfrm>
            <a:off x="5078405" y="5899154"/>
            <a:ext cx="0" cy="33655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49" name="Shape 249"/>
          <p:cNvCxnSpPr/>
          <p:nvPr/>
        </p:nvCxnSpPr>
        <p:spPr>
          <a:xfrm>
            <a:off x="2852736" y="6202367"/>
            <a:ext cx="2187574" cy="14287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50" name="Shape 250"/>
          <p:cNvCxnSpPr/>
          <p:nvPr/>
        </p:nvCxnSpPr>
        <p:spPr>
          <a:xfrm flipH="1">
            <a:off x="1066800" y="3292480"/>
            <a:ext cx="396874" cy="3174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251" name="Shape 251"/>
          <p:cNvCxnSpPr/>
          <p:nvPr/>
        </p:nvCxnSpPr>
        <p:spPr>
          <a:xfrm rot="10800000" flipH="1">
            <a:off x="2840036" y="6680205"/>
            <a:ext cx="15875" cy="644524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52" name="Shape 252"/>
          <p:cNvCxnSpPr/>
          <p:nvPr/>
        </p:nvCxnSpPr>
        <p:spPr>
          <a:xfrm rot="10800000">
            <a:off x="1063537" y="3340067"/>
            <a:ext cx="36599" cy="34338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53" name="Shape 253"/>
          <p:cNvCxnSpPr/>
          <p:nvPr/>
        </p:nvCxnSpPr>
        <p:spPr>
          <a:xfrm>
            <a:off x="1084262" y="6697667"/>
            <a:ext cx="1752600" cy="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254" name="Shape 254"/>
          <p:cNvSpPr txBox="1"/>
          <p:nvPr/>
        </p:nvSpPr>
        <p:spPr>
          <a:xfrm>
            <a:off x="542925" y="2533655"/>
            <a:ext cx="723900" cy="622299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sp>
        <p:nvSpPr>
          <p:cNvPr id="255" name="Shape 255"/>
          <p:cNvSpPr txBox="1"/>
          <p:nvPr/>
        </p:nvSpPr>
        <p:spPr>
          <a:xfrm>
            <a:off x="1397000" y="7296155"/>
            <a:ext cx="2921000" cy="7492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print('Dry off!')</a:t>
            </a:r>
          </a:p>
        </p:txBody>
      </p:sp>
      <p:sp>
        <p:nvSpPr>
          <p:cNvPr id="256" name="Shape 256"/>
          <p:cNvSpPr txBox="1"/>
          <p:nvPr/>
        </p:nvSpPr>
        <p:spPr>
          <a:xfrm>
            <a:off x="4659312" y="2533655"/>
            <a:ext cx="1074736" cy="622299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257" name="Shape 257"/>
          <p:cNvSpPr txBox="1"/>
          <p:nvPr/>
        </p:nvSpPr>
        <p:spPr>
          <a:xfrm>
            <a:off x="1397000" y="1352555"/>
            <a:ext cx="2921099" cy="7493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 = </a:t>
            </a:r>
            <a:r>
              <a:rPr lang="en-US" sz="35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0</a:t>
            </a:r>
            <a:endParaRPr lang="en-US" sz="35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258" name="Shape 258"/>
          <p:cNvSpPr txBox="1"/>
          <p:nvPr/>
        </p:nvSpPr>
        <p:spPr>
          <a:xfrm>
            <a:off x="3405194" y="3930655"/>
            <a:ext cx="3365474" cy="747711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</a:t>
            </a:r>
            <a:r>
              <a:rPr lang="en-US" sz="35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'Lather'</a:t>
            </a:r>
            <a:r>
              <a:rPr lang="en-US" sz="3500" u="none" strike="noStrike" cap="none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</a:p>
        </p:txBody>
      </p:sp>
      <p:sp>
        <p:nvSpPr>
          <p:cNvPr id="248" name="Shape 248"/>
          <p:cNvSpPr txBox="1"/>
          <p:nvPr/>
        </p:nvSpPr>
        <p:spPr>
          <a:xfrm>
            <a:off x="3386141" y="5149855"/>
            <a:ext cx="3384527" cy="7492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35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</a:t>
            </a:r>
            <a:r>
              <a:rPr lang="en-US" sz="3500" u="none" strike="noStrike" cap="none" dirty="0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'Rinse'</a:t>
            </a:r>
            <a:r>
              <a:rPr lang="en-US" sz="35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</a:p>
        </p:txBody>
      </p:sp>
      <p:sp>
        <p:nvSpPr>
          <p:cNvPr id="259" name="Shape 259"/>
          <p:cNvSpPr txBox="1"/>
          <p:nvPr/>
        </p:nvSpPr>
        <p:spPr>
          <a:xfrm>
            <a:off x="8295898" y="7412450"/>
            <a:ext cx="6303287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is this loop doing?</a:t>
            </a:r>
          </a:p>
        </p:txBody>
      </p:sp>
      <p:cxnSp>
        <p:nvCxnSpPr>
          <p:cNvPr id="260" name="Shape 260"/>
          <p:cNvCxnSpPr>
            <a:stCxn id="258" idx="2"/>
            <a:endCxn id="248" idx="0"/>
          </p:cNvCxnSpPr>
          <p:nvPr/>
        </p:nvCxnSpPr>
        <p:spPr>
          <a:xfrm flipH="1">
            <a:off x="5078405" y="4678366"/>
            <a:ext cx="9526" cy="47148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069979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Shape 29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Breaking Out of a Loop</a:t>
            </a:r>
          </a:p>
        </p:txBody>
      </p:sp>
      <p:sp>
        <p:nvSpPr>
          <p:cNvPr id="293" name="Shape 293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2000" cy="2701025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break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statement ends the current loop and jumps to the statement immediately following the loop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 is like a loop test that can happen anywhere in the body of the loop</a:t>
            </a:r>
          </a:p>
        </p:txBody>
      </p:sp>
      <p:sp>
        <p:nvSpPr>
          <p:cNvPr id="294" name="Shape 294"/>
          <p:cNvSpPr txBox="1"/>
          <p:nvPr/>
        </p:nvSpPr>
        <p:spPr>
          <a:xfrm>
            <a:off x="10817225" y="5202237"/>
            <a:ext cx="2435099" cy="295592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&gt; </a:t>
            </a:r>
            <a:r>
              <a:rPr lang="en-US" sz="32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hello there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hello there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&gt; 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finished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finished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&gt; 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done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Done!</a:t>
            </a:r>
          </a:p>
        </p:txBody>
      </p:sp>
      <p:sp>
        <p:nvSpPr>
          <p:cNvPr id="295" name="Shape 295"/>
          <p:cNvSpPr txBox="1"/>
          <p:nvPr/>
        </p:nvSpPr>
        <p:spPr>
          <a:xfrm>
            <a:off x="3774650" y="5304525"/>
            <a:ext cx="6430500" cy="29822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while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True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input(</a:t>
            </a:r>
            <a:r>
              <a:rPr lang="en-US" sz="30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'&gt; '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==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'done'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  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break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30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'Done!')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Shape 30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Breaking Out of a Loop</a:t>
            </a:r>
          </a:p>
        </p:txBody>
      </p:sp>
      <p:sp>
        <p:nvSpPr>
          <p:cNvPr id="301" name="Shape 301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2000" cy="2701025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break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statement ends the current loop and jumps to the statement immediately following the loop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 is like a loop test that can happen anywhere in the body of the loop</a:t>
            </a:r>
          </a:p>
        </p:txBody>
      </p:sp>
      <p:sp>
        <p:nvSpPr>
          <p:cNvPr id="303" name="Shape 303"/>
          <p:cNvSpPr txBox="1"/>
          <p:nvPr/>
        </p:nvSpPr>
        <p:spPr>
          <a:xfrm>
            <a:off x="10817225" y="5202237"/>
            <a:ext cx="2435099" cy="332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&gt; </a:t>
            </a:r>
            <a:r>
              <a:rPr lang="en-US" sz="32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hello there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hello there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&gt; </a:t>
            </a:r>
            <a:r>
              <a:rPr lang="en-US" sz="32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finished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</a:t>
            </a: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inished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&gt; </a:t>
            </a:r>
            <a:r>
              <a:rPr lang="en-US" sz="32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done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Done!</a:t>
            </a:r>
          </a:p>
        </p:txBody>
      </p:sp>
      <p:cxnSp>
        <p:nvCxnSpPr>
          <p:cNvPr id="304" name="Shape 304"/>
          <p:cNvCxnSpPr/>
          <p:nvPr/>
        </p:nvCxnSpPr>
        <p:spPr>
          <a:xfrm flipH="1" flipV="1">
            <a:off x="3082749" y="7565976"/>
            <a:ext cx="574851" cy="349299"/>
          </a:xfrm>
          <a:prstGeom prst="straightConnector1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05" name="Shape 305"/>
          <p:cNvCxnSpPr/>
          <p:nvPr/>
        </p:nvCxnSpPr>
        <p:spPr>
          <a:xfrm flipV="1">
            <a:off x="3025775" y="7015163"/>
            <a:ext cx="2332038" cy="533398"/>
          </a:xfrm>
          <a:prstGeom prst="straightConnector1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8" name="Shape 295"/>
          <p:cNvSpPr txBox="1"/>
          <p:nvPr/>
        </p:nvSpPr>
        <p:spPr>
          <a:xfrm>
            <a:off x="3774650" y="5304525"/>
            <a:ext cx="6430500" cy="29822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while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True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input(</a:t>
            </a:r>
            <a:r>
              <a:rPr lang="en-US" sz="30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'&gt; '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==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'done'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  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break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30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'Done!')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Shape 34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2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Finishing an Iteration with </a:t>
            </a:r>
            <a:r>
              <a:rPr lang="en-US" sz="72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continue</a:t>
            </a:r>
          </a:p>
        </p:txBody>
      </p:sp>
      <p:sp>
        <p:nvSpPr>
          <p:cNvPr id="340" name="Shape 340"/>
          <p:cNvSpPr txBox="1">
            <a:spLocks noGrp="1"/>
          </p:cNvSpPr>
          <p:nvPr>
            <p:ph type="body" idx="1"/>
          </p:nvPr>
        </p:nvSpPr>
        <p:spPr>
          <a:xfrm>
            <a:off x="1155700" y="2667538"/>
            <a:ext cx="13932000" cy="1654175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continue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statement ends the current iteration and jumps to the top of the loop and starts the next iteration</a:t>
            </a:r>
          </a:p>
        </p:txBody>
      </p:sp>
      <p:sp>
        <p:nvSpPr>
          <p:cNvPr id="341" name="Shape 341"/>
          <p:cNvSpPr txBox="1"/>
          <p:nvPr/>
        </p:nvSpPr>
        <p:spPr>
          <a:xfrm>
            <a:off x="3098800" y="4146550"/>
            <a:ext cx="6032399" cy="443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while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True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input(</a:t>
            </a:r>
            <a:r>
              <a:rPr lang="en-US" sz="30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'&gt; '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line[0]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== </a:t>
            </a:r>
            <a:r>
              <a:rPr lang="en-US" sz="30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'#'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  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continue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==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'done'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  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break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30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'Done!')</a:t>
            </a:r>
          </a:p>
        </p:txBody>
      </p:sp>
      <p:sp>
        <p:nvSpPr>
          <p:cNvPr id="342" name="Shape 342"/>
          <p:cNvSpPr txBox="1"/>
          <p:nvPr/>
        </p:nvSpPr>
        <p:spPr>
          <a:xfrm>
            <a:off x="10639425" y="4494212"/>
            <a:ext cx="3576599" cy="387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&gt; 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hello there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hello there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&gt; 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# don't print this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&gt; 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 this!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 this!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&gt; 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done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Done!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Shape 3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2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Finishing an Iteration with </a:t>
            </a:r>
            <a:r>
              <a:rPr lang="en-US" sz="72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continue</a:t>
            </a:r>
          </a:p>
        </p:txBody>
      </p:sp>
      <p:sp>
        <p:nvSpPr>
          <p:cNvPr id="349" name="Shape 349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2000" cy="1768475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continue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statement ends the </a:t>
            </a:r>
            <a:r>
              <a:rPr lang="en-US" sz="36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current iteration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jumps to the </a:t>
            </a: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top of the loop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starts the next iteration</a:t>
            </a:r>
          </a:p>
        </p:txBody>
      </p:sp>
      <p:sp>
        <p:nvSpPr>
          <p:cNvPr id="350" name="Shape 350"/>
          <p:cNvSpPr txBox="1"/>
          <p:nvPr/>
        </p:nvSpPr>
        <p:spPr>
          <a:xfrm>
            <a:off x="3098800" y="4146550"/>
            <a:ext cx="6499500" cy="443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while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True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input(</a:t>
            </a:r>
            <a:r>
              <a:rPr lang="en-US" sz="30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'&gt; '</a:t>
            </a:r>
            <a:r>
              <a:rPr lang="en-US" sz="3000" i="0" u="none" strike="noStrike" cap="none" dirty="0">
                <a:solidFill>
                  <a:srgbClr val="FF99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line[0]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== </a:t>
            </a:r>
            <a:r>
              <a:rPr lang="en-US" sz="30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'#'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  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continue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==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'done'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  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break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line</a:t>
            </a:r>
            <a:r>
              <a:rPr lang="en-US" sz="30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 New"/>
              </a:rPr>
              <a:t>'Done!')</a:t>
            </a:r>
          </a:p>
        </p:txBody>
      </p:sp>
      <p:sp>
        <p:nvSpPr>
          <p:cNvPr id="351" name="Shape 351"/>
          <p:cNvSpPr txBox="1"/>
          <p:nvPr/>
        </p:nvSpPr>
        <p:spPr>
          <a:xfrm>
            <a:off x="11172825" y="4494212"/>
            <a:ext cx="3576637" cy="38766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&gt; 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hello there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hello there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&gt; 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# don't print this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&gt; 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 this!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 this!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&gt; 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done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Done!</a:t>
            </a:r>
          </a:p>
        </p:txBody>
      </p:sp>
      <p:cxnSp>
        <p:nvCxnSpPr>
          <p:cNvPr id="352" name="Shape 352"/>
          <p:cNvCxnSpPr/>
          <p:nvPr/>
        </p:nvCxnSpPr>
        <p:spPr>
          <a:xfrm flipH="1">
            <a:off x="2930400" y="4975800"/>
            <a:ext cx="150899" cy="719999"/>
          </a:xfrm>
          <a:prstGeom prst="straightConnector1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53" name="Shape 353"/>
          <p:cNvCxnSpPr/>
          <p:nvPr/>
        </p:nvCxnSpPr>
        <p:spPr>
          <a:xfrm>
            <a:off x="2874961" y="5695950"/>
            <a:ext cx="1907099" cy="440399"/>
          </a:xfrm>
          <a:prstGeom prst="straightConnector1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Shape 38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Indefinite Loops</a:t>
            </a:r>
          </a:p>
        </p:txBody>
      </p:sp>
      <p:sp>
        <p:nvSpPr>
          <p:cNvPr id="387" name="Shape 38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While loops are called </a:t>
            </a:r>
            <a:r>
              <a:rPr lang="en-US" sz="3600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“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indefinite loops</a:t>
            </a:r>
            <a:r>
              <a:rPr lang="en-US" sz="3600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”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because they keep going until  a logical condition becomes </a:t>
            </a:r>
            <a:r>
              <a:rPr lang="en-US" sz="36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False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loops we have seen so far are pretty easy to examine to see if they will terminate or if they will be 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“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infinite loops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”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Sometimes it is a little harder to be sure if a loop will stop or not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D966"/>
                </a:solidFill>
              </a:rPr>
              <a:t>Definite Loops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Iterating over a set of items</a:t>
            </a:r>
            <a:r>
              <a:rPr lang="is-IS" dirty="0">
                <a:solidFill>
                  <a:schemeClr val="bg1"/>
                </a:solidFill>
              </a:rPr>
              <a:t>…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8924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Shape 39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Definite Loops</a:t>
            </a:r>
          </a:p>
        </p:txBody>
      </p:sp>
      <p:sp>
        <p:nvSpPr>
          <p:cNvPr id="393" name="Shape 393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2000" cy="3895271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378206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endParaRPr lang="en-US" sz="36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749300" lvl="0" indent="-371094">
              <a:buSzPct val="100000"/>
            </a:pP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When we start an indefinite (while) loop, we don’t always know how many times it will run. </a:t>
            </a:r>
          </a:p>
          <a:p>
            <a:pPr marL="749300" lvl="0" indent="-371094">
              <a:buSzPct val="100000"/>
            </a:pP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When we start a </a:t>
            </a:r>
            <a:r>
              <a:rPr lang="en-US" sz="3600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definite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(for) loop, we know how many times the loop will run</a:t>
            </a:r>
            <a:endParaRPr lang="en-US" sz="3600" dirty="0">
              <a:solidFill>
                <a:srgbClr val="00FF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Shape 39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Simple Definite Loop</a:t>
            </a:r>
          </a:p>
        </p:txBody>
      </p:sp>
      <p:sp>
        <p:nvSpPr>
          <p:cNvPr id="399" name="Shape 399"/>
          <p:cNvSpPr txBox="1"/>
          <p:nvPr/>
        </p:nvSpPr>
        <p:spPr>
          <a:xfrm>
            <a:off x="1926625" y="3414325"/>
            <a:ext cx="7524599" cy="2540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[5, 4, 3, 2, 1]</a:t>
            </a:r>
            <a:r>
              <a:rPr lang="en-US" sz="3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6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'Blastoff!'</a:t>
            </a:r>
            <a:r>
              <a:rPr lang="en-US" sz="36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sp>
        <p:nvSpPr>
          <p:cNvPr id="400" name="Shape 400"/>
          <p:cNvSpPr txBox="1"/>
          <p:nvPr/>
        </p:nvSpPr>
        <p:spPr>
          <a:xfrm>
            <a:off x="11091861" y="3003550"/>
            <a:ext cx="2384424" cy="4902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48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48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48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48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48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48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Blastoff!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Shape 40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Definite Loop with Strings</a:t>
            </a:r>
          </a:p>
        </p:txBody>
      </p:sp>
      <p:sp>
        <p:nvSpPr>
          <p:cNvPr id="406" name="Shape 406"/>
          <p:cNvSpPr txBox="1"/>
          <p:nvPr/>
        </p:nvSpPr>
        <p:spPr>
          <a:xfrm>
            <a:off x="698125" y="4144325"/>
            <a:ext cx="9213900" cy="2216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['Joseph', 'Glenn', 'Sally']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friends 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'Happy New Year:'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,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friend</a:t>
            </a:r>
            <a:r>
              <a:rPr lang="en-US" sz="30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'Done!'</a:t>
            </a:r>
            <a:r>
              <a:rPr lang="en-US" sz="30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sp>
        <p:nvSpPr>
          <p:cNvPr id="407" name="Shape 407"/>
          <p:cNvSpPr txBox="1"/>
          <p:nvPr/>
        </p:nvSpPr>
        <p:spPr>
          <a:xfrm>
            <a:off x="10607875" y="3551825"/>
            <a:ext cx="5447100" cy="3096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Happy New Year: Joseph</a:t>
            </a:r>
            <a:br>
              <a:rPr lang="en-US" sz="36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</a:br>
            <a:r>
              <a:rPr lang="en-US" sz="36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Happy New Year: Glenn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Happy New Year: Sally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Font typeface="Cabin"/>
              <a:buNone/>
            </a:pPr>
            <a:endParaRPr sz="3600">
              <a:solidFill>
                <a:srgbClr val="FFFFFF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Done!</a:t>
            </a:r>
          </a:p>
        </p:txBody>
      </p:sp>
      <p:cxnSp>
        <p:nvCxnSpPr>
          <p:cNvPr id="408" name="Shape 408"/>
          <p:cNvCxnSpPr/>
          <p:nvPr/>
        </p:nvCxnSpPr>
        <p:spPr>
          <a:xfrm flipH="1">
            <a:off x="9001125" y="4534150"/>
            <a:ext cx="1417924" cy="952250"/>
          </a:xfrm>
          <a:prstGeom prst="straightConnector1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09" name="Shape 409"/>
          <p:cNvCxnSpPr/>
          <p:nvPr/>
        </p:nvCxnSpPr>
        <p:spPr>
          <a:xfrm flipH="1" flipV="1">
            <a:off x="4057650" y="5972175"/>
            <a:ext cx="6411949" cy="243725"/>
          </a:xfrm>
          <a:prstGeom prst="straightConnector1">
            <a:avLst/>
          </a:prstGeom>
          <a:noFill/>
          <a:ln w="508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Shape 416"/>
          <p:cNvSpPr txBox="1">
            <a:spLocks noGrp="1"/>
          </p:cNvSpPr>
          <p:nvPr>
            <p:ph type="title"/>
          </p:nvPr>
        </p:nvSpPr>
        <p:spPr>
          <a:xfrm>
            <a:off x="1155700" y="817418"/>
            <a:ext cx="13932000" cy="1135456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Simple Definite Loop</a:t>
            </a:r>
          </a:p>
        </p:txBody>
      </p:sp>
      <p:sp>
        <p:nvSpPr>
          <p:cNvPr id="417" name="Shape 417"/>
          <p:cNvSpPr txBox="1"/>
          <p:nvPr/>
        </p:nvSpPr>
        <p:spPr>
          <a:xfrm>
            <a:off x="8786700" y="3524225"/>
            <a:ext cx="5106600" cy="16604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[5, 4, 3, 2, 1]</a:t>
            </a:r>
            <a:r>
              <a:rPr lang="en-US" sz="24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4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24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4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4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'Blastoff!'</a:t>
            </a:r>
            <a:r>
              <a:rPr lang="en-US" sz="24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sp>
        <p:nvSpPr>
          <p:cNvPr id="418" name="Shape 418"/>
          <p:cNvSpPr txBox="1"/>
          <p:nvPr/>
        </p:nvSpPr>
        <p:spPr>
          <a:xfrm>
            <a:off x="14170825" y="3059375"/>
            <a:ext cx="1659900" cy="32258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Blastoff!</a:t>
            </a:r>
          </a:p>
        </p:txBody>
      </p:sp>
      <p:cxnSp>
        <p:nvCxnSpPr>
          <p:cNvPr id="419" name="Shape 419"/>
          <p:cNvCxnSpPr/>
          <p:nvPr/>
        </p:nvCxnSpPr>
        <p:spPr>
          <a:xfrm rot="10800000">
            <a:off x="3041537" y="2187949"/>
            <a:ext cx="14400" cy="5666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20" name="Shape 420"/>
          <p:cNvSpPr/>
          <p:nvPr/>
        </p:nvSpPr>
        <p:spPr>
          <a:xfrm>
            <a:off x="1625600" y="2748300"/>
            <a:ext cx="2870100" cy="1269899"/>
          </a:xfrm>
          <a:prstGeom prst="diamond">
            <a:avLst/>
          </a:prstGeom>
          <a:noFill/>
          <a:ln w="76200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400" u="none" strike="noStrike" cap="none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Done?</a:t>
            </a:r>
          </a:p>
        </p:txBody>
      </p:sp>
      <p:cxnSp>
        <p:nvCxnSpPr>
          <p:cNvPr id="421" name="Shape 421"/>
          <p:cNvCxnSpPr/>
          <p:nvPr/>
        </p:nvCxnSpPr>
        <p:spPr>
          <a:xfrm rot="10800000">
            <a:off x="3060712" y="4018399"/>
            <a:ext cx="11100" cy="14985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422" name="Shape 422"/>
          <p:cNvCxnSpPr/>
          <p:nvPr/>
        </p:nvCxnSpPr>
        <p:spPr>
          <a:xfrm rot="10800000">
            <a:off x="6426637" y="3757925"/>
            <a:ext cx="26999" cy="6509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23" name="Shape 423"/>
          <p:cNvCxnSpPr>
            <a:stCxn id="424" idx="2"/>
          </p:cNvCxnSpPr>
          <p:nvPr/>
        </p:nvCxnSpPr>
        <p:spPr>
          <a:xfrm>
            <a:off x="6451649" y="5047099"/>
            <a:ext cx="0" cy="4914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25" name="Shape 425"/>
          <p:cNvCxnSpPr/>
          <p:nvPr/>
        </p:nvCxnSpPr>
        <p:spPr>
          <a:xfrm>
            <a:off x="3068637" y="5502612"/>
            <a:ext cx="3396299" cy="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26" name="Shape 426"/>
          <p:cNvCxnSpPr/>
          <p:nvPr/>
        </p:nvCxnSpPr>
        <p:spPr>
          <a:xfrm flipH="1">
            <a:off x="1269974" y="3392825"/>
            <a:ext cx="396900" cy="32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427" name="Shape 427"/>
          <p:cNvCxnSpPr/>
          <p:nvPr/>
        </p:nvCxnSpPr>
        <p:spPr>
          <a:xfrm rot="10800000" flipH="1">
            <a:off x="3055937" y="6234574"/>
            <a:ext cx="15899" cy="6444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28" name="Shape 428"/>
          <p:cNvCxnSpPr/>
          <p:nvPr/>
        </p:nvCxnSpPr>
        <p:spPr>
          <a:xfrm rot="10800000">
            <a:off x="1300036" y="3446712"/>
            <a:ext cx="3299" cy="27797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29" name="Shape 429"/>
          <p:cNvCxnSpPr/>
          <p:nvPr/>
        </p:nvCxnSpPr>
        <p:spPr>
          <a:xfrm>
            <a:off x="1300161" y="6251912"/>
            <a:ext cx="1752600" cy="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430" name="Shape 430"/>
          <p:cNvSpPr txBox="1"/>
          <p:nvPr/>
        </p:nvSpPr>
        <p:spPr>
          <a:xfrm>
            <a:off x="698076" y="2634000"/>
            <a:ext cx="1175905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431" name="Shape 431"/>
          <p:cNvSpPr txBox="1"/>
          <p:nvPr/>
        </p:nvSpPr>
        <p:spPr>
          <a:xfrm>
            <a:off x="1422400" y="6812300"/>
            <a:ext cx="3289200" cy="7493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print('Blast off!')</a:t>
            </a:r>
          </a:p>
        </p:txBody>
      </p:sp>
      <p:sp>
        <p:nvSpPr>
          <p:cNvPr id="424" name="Shape 424"/>
          <p:cNvSpPr txBox="1"/>
          <p:nvPr/>
        </p:nvSpPr>
        <p:spPr>
          <a:xfrm>
            <a:off x="4991100" y="4297700"/>
            <a:ext cx="2921099" cy="7493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</a:t>
            </a:r>
            <a:r>
              <a:rPr lang="en-US" sz="3500" u="none" strike="noStrike" cap="none" dirty="0" err="1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</a:t>
            </a:r>
            <a:r>
              <a:rPr lang="en-US" sz="3500" u="none" strike="noStrike" cap="none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</a:p>
        </p:txBody>
      </p:sp>
      <p:sp>
        <p:nvSpPr>
          <p:cNvPr id="432" name="Shape 432"/>
          <p:cNvSpPr txBox="1"/>
          <p:nvPr/>
        </p:nvSpPr>
        <p:spPr>
          <a:xfrm>
            <a:off x="4165600" y="2570500"/>
            <a:ext cx="7239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sp>
        <p:nvSpPr>
          <p:cNvPr id="433" name="Shape 433"/>
          <p:cNvSpPr txBox="1"/>
          <p:nvPr/>
        </p:nvSpPr>
        <p:spPr>
          <a:xfrm>
            <a:off x="4950100" y="3015000"/>
            <a:ext cx="3114600" cy="749399"/>
          </a:xfrm>
          <a:prstGeom prst="rect">
            <a:avLst/>
          </a:prstGeom>
          <a:noFill/>
          <a:ln w="76200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500" u="none" strike="noStrike" cap="none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Move </a:t>
            </a:r>
            <a:r>
              <a:rPr lang="en-US" sz="35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</a:t>
            </a:r>
            <a:r>
              <a:rPr lang="en-US" sz="3500" u="none" strike="noStrike" cap="none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ahead</a:t>
            </a:r>
          </a:p>
        </p:txBody>
      </p:sp>
      <p:sp>
        <p:nvSpPr>
          <p:cNvPr id="434" name="Shape 434"/>
          <p:cNvSpPr txBox="1"/>
          <p:nvPr/>
        </p:nvSpPr>
        <p:spPr>
          <a:xfrm>
            <a:off x="5435294" y="6444862"/>
            <a:ext cx="10134600" cy="1663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Definite loops (for loops) have explicit </a:t>
            </a:r>
            <a:r>
              <a:rPr lang="en-US" sz="32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iteration variables</a:t>
            </a:r>
            <a:r>
              <a:rPr lang="en-US" sz="3200" u="none" strike="noStrike" cap="none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that change each time through a loop.  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These 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iteration variables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move through the sequence or set. </a:t>
            </a:r>
          </a:p>
        </p:txBody>
      </p:sp>
      <p:cxnSp>
        <p:nvCxnSpPr>
          <p:cNvPr id="435" name="Shape 435"/>
          <p:cNvCxnSpPr/>
          <p:nvPr/>
        </p:nvCxnSpPr>
        <p:spPr>
          <a:xfrm>
            <a:off x="4559325" y="3392825"/>
            <a:ext cx="396900" cy="32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Shape 44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Looking at </a:t>
            </a:r>
            <a:r>
              <a:rPr lang="en-US" sz="7600" dirty="0">
                <a:latin typeface="Arial" charset="0"/>
                <a:ea typeface="Arial" charset="0"/>
                <a:cs typeface="Arial" charset="0"/>
                <a:sym typeface="Cabin"/>
              </a:rPr>
              <a:t>“i</a:t>
            </a:r>
            <a:r>
              <a:rPr lang="en-US" sz="7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n”...</a:t>
            </a:r>
          </a:p>
        </p:txBody>
      </p:sp>
      <p:sp>
        <p:nvSpPr>
          <p:cNvPr id="441" name="Shape 441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386575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583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4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iteration variable </a:t>
            </a:r>
            <a:r>
              <a:rPr lang="en-US" sz="3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4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iterates</a:t>
            </a:r>
            <a:r>
              <a:rPr lang="en-US" sz="3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4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</a:t>
            </a:r>
            <a:r>
              <a:rPr lang="en-US" sz="34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</a:t>
            </a:r>
            <a:r>
              <a:rPr lang="en-US" sz="34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ough the </a:t>
            </a:r>
            <a:r>
              <a:rPr lang="en-US" sz="34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sequence </a:t>
            </a:r>
            <a:r>
              <a:rPr lang="en-US" sz="34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(ordered set)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block (body)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of code is executed once for each value </a:t>
            </a:r>
            <a:r>
              <a:rPr lang="en-US" sz="34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the </a:t>
            </a:r>
            <a:r>
              <a:rPr lang="en-US" sz="34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sequence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4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iteration variable 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moves through all of the values </a:t>
            </a:r>
            <a:r>
              <a:rPr lang="en-US" sz="34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the </a:t>
            </a:r>
            <a:r>
              <a:rPr lang="en-US" sz="34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sequence</a:t>
            </a:r>
          </a:p>
        </p:txBody>
      </p:sp>
      <p:sp>
        <p:nvSpPr>
          <p:cNvPr id="442" name="Shape 442"/>
          <p:cNvSpPr txBox="1"/>
          <p:nvPr/>
        </p:nvSpPr>
        <p:spPr>
          <a:xfrm>
            <a:off x="9055105" y="5280013"/>
            <a:ext cx="6364200" cy="133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[5, 4, 3, 2, 1]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print(</a:t>
            </a:r>
            <a:r>
              <a:rPr lang="en-US" sz="30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sp>
        <p:nvSpPr>
          <p:cNvPr id="443" name="Shape 443"/>
          <p:cNvSpPr txBox="1"/>
          <p:nvPr/>
        </p:nvSpPr>
        <p:spPr>
          <a:xfrm>
            <a:off x="8289135" y="3908525"/>
            <a:ext cx="3449638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Iteration variable</a:t>
            </a:r>
          </a:p>
        </p:txBody>
      </p:sp>
      <p:sp>
        <p:nvSpPr>
          <p:cNvPr id="444" name="Shape 444"/>
          <p:cNvSpPr txBox="1"/>
          <p:nvPr/>
        </p:nvSpPr>
        <p:spPr>
          <a:xfrm>
            <a:off x="11985630" y="3114676"/>
            <a:ext cx="3973508" cy="10397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Five-element sequence</a:t>
            </a:r>
          </a:p>
        </p:txBody>
      </p:sp>
      <p:cxnSp>
        <p:nvCxnSpPr>
          <p:cNvPr id="445" name="Shape 445"/>
          <p:cNvCxnSpPr/>
          <p:nvPr/>
        </p:nvCxnSpPr>
        <p:spPr>
          <a:xfrm rot="10800000">
            <a:off x="9979030" y="4530724"/>
            <a:ext cx="34924" cy="677861"/>
          </a:xfrm>
          <a:prstGeom prst="straightConnector1">
            <a:avLst/>
          </a:prstGeom>
          <a:noFill/>
          <a:ln w="635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46" name="Shape 446"/>
          <p:cNvCxnSpPr/>
          <p:nvPr/>
        </p:nvCxnSpPr>
        <p:spPr>
          <a:xfrm rot="10800000" flipH="1">
            <a:off x="12987800" y="4341217"/>
            <a:ext cx="794999" cy="1078200"/>
          </a:xfrm>
          <a:prstGeom prst="straightConnector1">
            <a:avLst/>
          </a:prstGeom>
          <a:noFill/>
          <a:ln w="635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1" name="Shape 451"/>
          <p:cNvCxnSpPr/>
          <p:nvPr/>
        </p:nvCxnSpPr>
        <p:spPr>
          <a:xfrm rot="10800000">
            <a:off x="3143137" y="1192249"/>
            <a:ext cx="14400" cy="5666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52" name="Shape 452"/>
          <p:cNvSpPr/>
          <p:nvPr/>
        </p:nvSpPr>
        <p:spPr>
          <a:xfrm>
            <a:off x="1727200" y="1752600"/>
            <a:ext cx="2870100" cy="1269899"/>
          </a:xfrm>
          <a:prstGeom prst="diamond">
            <a:avLst/>
          </a:prstGeom>
          <a:noFill/>
          <a:ln w="76200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400" u="none" strike="noStrike" cap="none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Done?</a:t>
            </a:r>
          </a:p>
        </p:txBody>
      </p:sp>
      <p:cxnSp>
        <p:nvCxnSpPr>
          <p:cNvPr id="453" name="Shape 453"/>
          <p:cNvCxnSpPr/>
          <p:nvPr/>
        </p:nvCxnSpPr>
        <p:spPr>
          <a:xfrm rot="10800000">
            <a:off x="3162312" y="3022699"/>
            <a:ext cx="11100" cy="14985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454" name="Shape 454"/>
          <p:cNvCxnSpPr/>
          <p:nvPr/>
        </p:nvCxnSpPr>
        <p:spPr>
          <a:xfrm flipH="1" flipV="1">
            <a:off x="6468949" y="2768699"/>
            <a:ext cx="3301" cy="5874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56" name="Shape 456"/>
          <p:cNvCxnSpPr>
            <a:stCxn id="457" idx="2"/>
          </p:cNvCxnSpPr>
          <p:nvPr/>
        </p:nvCxnSpPr>
        <p:spPr>
          <a:xfrm flipH="1">
            <a:off x="6468949" y="4051399"/>
            <a:ext cx="8100" cy="4728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58" name="Shape 458"/>
          <p:cNvCxnSpPr/>
          <p:nvPr/>
        </p:nvCxnSpPr>
        <p:spPr>
          <a:xfrm rot="10800000" flipH="1">
            <a:off x="3170237" y="4502112"/>
            <a:ext cx="3328200" cy="47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59" name="Shape 459"/>
          <p:cNvCxnSpPr/>
          <p:nvPr/>
        </p:nvCxnSpPr>
        <p:spPr>
          <a:xfrm flipH="1">
            <a:off x="1371574" y="2397125"/>
            <a:ext cx="396900" cy="32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460" name="Shape 460"/>
          <p:cNvCxnSpPr/>
          <p:nvPr/>
        </p:nvCxnSpPr>
        <p:spPr>
          <a:xfrm rot="10800000" flipH="1">
            <a:off x="3157537" y="5238874"/>
            <a:ext cx="15899" cy="6444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61" name="Shape 461"/>
          <p:cNvCxnSpPr/>
          <p:nvPr/>
        </p:nvCxnSpPr>
        <p:spPr>
          <a:xfrm rot="10800000">
            <a:off x="1401636" y="2451012"/>
            <a:ext cx="3299" cy="27797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62" name="Shape 462"/>
          <p:cNvCxnSpPr/>
          <p:nvPr/>
        </p:nvCxnSpPr>
        <p:spPr>
          <a:xfrm>
            <a:off x="1401761" y="5225236"/>
            <a:ext cx="1752600" cy="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463" name="Shape 463"/>
          <p:cNvSpPr txBox="1"/>
          <p:nvPr/>
        </p:nvSpPr>
        <p:spPr>
          <a:xfrm>
            <a:off x="846137" y="1638300"/>
            <a:ext cx="881063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457" name="Shape 457"/>
          <p:cNvSpPr txBox="1"/>
          <p:nvPr/>
        </p:nvSpPr>
        <p:spPr>
          <a:xfrm>
            <a:off x="5016500" y="3302000"/>
            <a:ext cx="2921099" cy="7493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</a:t>
            </a:r>
            <a:r>
              <a:rPr lang="en-US" sz="3500" u="none" strike="noStrike" cap="none" dirty="0" err="1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</a:t>
            </a:r>
            <a:r>
              <a:rPr lang="en-US" sz="3500" u="none" strike="noStrike" cap="none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</a:p>
        </p:txBody>
      </p:sp>
      <p:sp>
        <p:nvSpPr>
          <p:cNvPr id="464" name="Shape 464"/>
          <p:cNvSpPr txBox="1"/>
          <p:nvPr/>
        </p:nvSpPr>
        <p:spPr>
          <a:xfrm>
            <a:off x="4206150" y="1397100"/>
            <a:ext cx="7239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sp>
        <p:nvSpPr>
          <p:cNvPr id="455" name="Shape 455"/>
          <p:cNvSpPr txBox="1"/>
          <p:nvPr/>
        </p:nvSpPr>
        <p:spPr>
          <a:xfrm>
            <a:off x="5016500" y="2019300"/>
            <a:ext cx="2997300" cy="749399"/>
          </a:xfrm>
          <a:prstGeom prst="rect">
            <a:avLst/>
          </a:prstGeom>
          <a:noFill/>
          <a:ln w="76200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500" u="none" strike="noStrike" cap="none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Move </a:t>
            </a:r>
            <a:r>
              <a:rPr lang="en-US" sz="35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</a:t>
            </a:r>
            <a:r>
              <a:rPr lang="en-US" sz="3500" u="none" strike="noStrike" cap="none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ahead</a:t>
            </a:r>
          </a:p>
        </p:txBody>
      </p:sp>
      <p:sp>
        <p:nvSpPr>
          <p:cNvPr id="465" name="Shape 465"/>
          <p:cNvSpPr txBox="1"/>
          <p:nvPr/>
        </p:nvSpPr>
        <p:spPr>
          <a:xfrm>
            <a:off x="8356600" y="1714500"/>
            <a:ext cx="7162799" cy="57022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495300" marR="0" lvl="0" indent="-3329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iteration variable </a:t>
            </a:r>
            <a:r>
              <a:rPr lang="en-US"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iterates</a:t>
            </a:r>
            <a:r>
              <a:rPr lang="en-US"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through the </a:t>
            </a: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sequence 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(ordered set)</a:t>
            </a:r>
          </a:p>
          <a:p>
            <a:pPr marL="495300" marR="0" lvl="0" indent="-3329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block (body)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of code is executed once for each value </a:t>
            </a: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the </a:t>
            </a: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sequence</a:t>
            </a:r>
          </a:p>
          <a:p>
            <a:pPr marL="495300" marR="0" lvl="0" indent="-3329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iteration variable 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moves through all of the values </a:t>
            </a: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the </a:t>
            </a: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sequence</a:t>
            </a:r>
          </a:p>
        </p:txBody>
      </p:sp>
      <p:sp>
        <p:nvSpPr>
          <p:cNvPr id="466" name="Shape 466"/>
          <p:cNvSpPr txBox="1"/>
          <p:nvPr/>
        </p:nvSpPr>
        <p:spPr>
          <a:xfrm>
            <a:off x="1400175" y="6704000"/>
            <a:ext cx="6537300" cy="1108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[5, 4, 3, 2, 1] 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0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cxnSp>
        <p:nvCxnSpPr>
          <p:cNvPr id="467" name="Shape 467"/>
          <p:cNvCxnSpPr/>
          <p:nvPr/>
        </p:nvCxnSpPr>
        <p:spPr>
          <a:xfrm>
            <a:off x="4635525" y="2397125"/>
            <a:ext cx="396900" cy="32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1703050" y="814388"/>
            <a:ext cx="2984500" cy="7472362"/>
            <a:chOff x="11703050" y="381000"/>
            <a:chExt cx="2984500" cy="8278812"/>
          </a:xfrm>
        </p:grpSpPr>
        <p:cxnSp>
          <p:nvCxnSpPr>
            <p:cNvPr id="486" name="Shape 486"/>
            <p:cNvCxnSpPr/>
            <p:nvPr/>
          </p:nvCxnSpPr>
          <p:spPr>
            <a:xfrm rot="10800000" flipH="1">
              <a:off x="13185775" y="915987"/>
              <a:ext cx="12699" cy="307974"/>
            </a:xfrm>
            <a:prstGeom prst="straightConnector1">
              <a:avLst/>
            </a:prstGeom>
            <a:noFill/>
            <a:ln w="50800" cap="rnd" cmpd="sng">
              <a:solidFill>
                <a:srgbClr val="1155CC"/>
              </a:solidFill>
              <a:prstDash val="solid"/>
              <a:miter/>
              <a:headEnd type="stealth" w="med" len="med"/>
              <a:tailEnd type="none" w="med" len="med"/>
            </a:ln>
          </p:spPr>
        </p:cxnSp>
        <p:sp>
          <p:nvSpPr>
            <p:cNvPr id="487" name="Shape 487"/>
            <p:cNvSpPr txBox="1"/>
            <p:nvPr/>
          </p:nvSpPr>
          <p:spPr>
            <a:xfrm>
              <a:off x="11703050" y="1231900"/>
              <a:ext cx="2984500" cy="536575"/>
            </a:xfrm>
            <a:prstGeom prst="rect">
              <a:avLst/>
            </a:prstGeom>
            <a:noFill/>
            <a:ln w="76200" cap="flat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bin"/>
                <a:buNone/>
              </a:pPr>
              <a:r>
                <a:rPr lang="en-US" sz="3200" u="none" strike="noStrike" cap="none" dirty="0">
                  <a:solidFill>
                    <a:schemeClr val="lt1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print(</a:t>
              </a:r>
              <a:r>
                <a:rPr lang="en-US" sz="3200" u="none" strike="noStrike" cap="none" dirty="0" err="1">
                  <a:solidFill>
                    <a:srgbClr val="00FF00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i</a:t>
              </a:r>
              <a:r>
                <a:rPr lang="en-US" sz="3200" u="none" strike="noStrike" cap="none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)</a:t>
              </a:r>
            </a:p>
          </p:txBody>
        </p:sp>
        <p:sp>
          <p:nvSpPr>
            <p:cNvPr id="488" name="Shape 488"/>
            <p:cNvSpPr txBox="1"/>
            <p:nvPr/>
          </p:nvSpPr>
          <p:spPr>
            <a:xfrm>
              <a:off x="11703050" y="381000"/>
              <a:ext cx="2984500" cy="523874"/>
            </a:xfrm>
            <a:prstGeom prst="rect">
              <a:avLst/>
            </a:prstGeom>
            <a:noFill/>
            <a:ln w="76200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Cabin"/>
                <a:buNone/>
              </a:pPr>
              <a:r>
                <a:rPr lang="en-US" sz="3200" u="none" strike="noStrike" cap="none">
                  <a:solidFill>
                    <a:srgbClr val="00FF00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i = 5</a:t>
              </a:r>
            </a:p>
          </p:txBody>
        </p:sp>
        <p:cxnSp>
          <p:nvCxnSpPr>
            <p:cNvPr id="489" name="Shape 489"/>
            <p:cNvCxnSpPr/>
            <p:nvPr/>
          </p:nvCxnSpPr>
          <p:spPr>
            <a:xfrm rot="10800000" flipH="1">
              <a:off x="13181012" y="1825625"/>
              <a:ext cx="12699" cy="307974"/>
            </a:xfrm>
            <a:prstGeom prst="straightConnector1">
              <a:avLst/>
            </a:prstGeom>
            <a:noFill/>
            <a:ln w="50800" cap="rnd" cmpd="sng">
              <a:solidFill>
                <a:srgbClr val="1155CC"/>
              </a:solidFill>
              <a:prstDash val="solid"/>
              <a:miter/>
              <a:headEnd type="stealth" w="med" len="med"/>
              <a:tailEnd type="none" w="med" len="med"/>
            </a:ln>
          </p:spPr>
        </p:cxnSp>
        <p:cxnSp>
          <p:nvCxnSpPr>
            <p:cNvPr id="490" name="Shape 490"/>
            <p:cNvCxnSpPr/>
            <p:nvPr/>
          </p:nvCxnSpPr>
          <p:spPr>
            <a:xfrm rot="10800000" flipH="1">
              <a:off x="13181012" y="2630486"/>
              <a:ext cx="12699" cy="307974"/>
            </a:xfrm>
            <a:prstGeom prst="straightConnector1">
              <a:avLst/>
            </a:prstGeom>
            <a:noFill/>
            <a:ln w="50800" cap="rnd" cmpd="sng">
              <a:solidFill>
                <a:srgbClr val="1155CC"/>
              </a:solidFill>
              <a:prstDash val="solid"/>
              <a:miter/>
              <a:headEnd type="stealth" w="med" len="med"/>
              <a:tailEnd type="none" w="med" len="med"/>
            </a:ln>
          </p:spPr>
        </p:cxnSp>
        <p:sp>
          <p:nvSpPr>
            <p:cNvPr id="491" name="Shape 491"/>
            <p:cNvSpPr txBox="1"/>
            <p:nvPr/>
          </p:nvSpPr>
          <p:spPr>
            <a:xfrm>
              <a:off x="11703050" y="2946400"/>
              <a:ext cx="2984500" cy="536575"/>
            </a:xfrm>
            <a:prstGeom prst="rect">
              <a:avLst/>
            </a:prstGeom>
            <a:noFill/>
            <a:ln w="76200" cap="flat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bin"/>
                <a:buNone/>
              </a:pPr>
              <a:r>
                <a:rPr lang="en-US" sz="3200" u="none" strike="noStrike" cap="none" dirty="0">
                  <a:solidFill>
                    <a:schemeClr val="lt1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print(</a:t>
              </a:r>
              <a:r>
                <a:rPr lang="en-US" sz="3200" u="none" strike="noStrike" cap="none" dirty="0" err="1">
                  <a:solidFill>
                    <a:srgbClr val="00FF00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i</a:t>
              </a:r>
              <a:r>
                <a:rPr lang="en-US" sz="3200" u="none" strike="noStrike" cap="none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)</a:t>
              </a:r>
              <a:endPara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endParaRPr>
            </a:p>
          </p:txBody>
        </p:sp>
        <p:sp>
          <p:nvSpPr>
            <p:cNvPr id="492" name="Shape 492"/>
            <p:cNvSpPr txBox="1"/>
            <p:nvPr/>
          </p:nvSpPr>
          <p:spPr>
            <a:xfrm>
              <a:off x="11703050" y="2093911"/>
              <a:ext cx="2984500" cy="525462"/>
            </a:xfrm>
            <a:prstGeom prst="rect">
              <a:avLst/>
            </a:prstGeom>
            <a:noFill/>
            <a:ln w="76200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Cabin"/>
                <a:buNone/>
              </a:pPr>
              <a:r>
                <a:rPr lang="en-US" sz="3200" u="none" strike="noStrike" cap="none" dirty="0" err="1">
                  <a:solidFill>
                    <a:srgbClr val="00FF00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i</a:t>
              </a:r>
              <a:r>
                <a:rPr lang="en-US" sz="3200" u="none" strike="noStrike" cap="none" dirty="0">
                  <a:solidFill>
                    <a:srgbClr val="00FF00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 = 4</a:t>
              </a:r>
            </a:p>
          </p:txBody>
        </p:sp>
        <p:cxnSp>
          <p:nvCxnSpPr>
            <p:cNvPr id="493" name="Shape 493"/>
            <p:cNvCxnSpPr/>
            <p:nvPr/>
          </p:nvCxnSpPr>
          <p:spPr>
            <a:xfrm rot="10800000" flipH="1">
              <a:off x="13181012" y="3459162"/>
              <a:ext cx="12699" cy="307974"/>
            </a:xfrm>
            <a:prstGeom prst="straightConnector1">
              <a:avLst/>
            </a:prstGeom>
            <a:noFill/>
            <a:ln w="50800" cap="rnd" cmpd="sng">
              <a:solidFill>
                <a:srgbClr val="1155CC"/>
              </a:solidFill>
              <a:prstDash val="solid"/>
              <a:miter/>
              <a:headEnd type="stealth" w="med" len="med"/>
              <a:tailEnd type="none" w="med" len="med"/>
            </a:ln>
          </p:spPr>
        </p:cxnSp>
        <p:cxnSp>
          <p:nvCxnSpPr>
            <p:cNvPr id="494" name="Shape 494"/>
            <p:cNvCxnSpPr/>
            <p:nvPr/>
          </p:nvCxnSpPr>
          <p:spPr>
            <a:xfrm rot="10800000" flipH="1">
              <a:off x="13181012" y="4310062"/>
              <a:ext cx="12699" cy="307974"/>
            </a:xfrm>
            <a:prstGeom prst="straightConnector1">
              <a:avLst/>
            </a:prstGeom>
            <a:noFill/>
            <a:ln w="50800" cap="rnd" cmpd="sng">
              <a:solidFill>
                <a:srgbClr val="1155CC"/>
              </a:solidFill>
              <a:prstDash val="solid"/>
              <a:miter/>
              <a:headEnd type="stealth" w="med" len="med"/>
              <a:tailEnd type="none" w="med" len="med"/>
            </a:ln>
          </p:spPr>
        </p:cxnSp>
        <p:sp>
          <p:nvSpPr>
            <p:cNvPr id="495" name="Shape 495"/>
            <p:cNvSpPr txBox="1"/>
            <p:nvPr/>
          </p:nvSpPr>
          <p:spPr>
            <a:xfrm>
              <a:off x="11703050" y="4625975"/>
              <a:ext cx="2984500" cy="536575"/>
            </a:xfrm>
            <a:prstGeom prst="rect">
              <a:avLst/>
            </a:prstGeom>
            <a:noFill/>
            <a:ln w="76200" cap="flat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bin"/>
                <a:buNone/>
              </a:pPr>
              <a:r>
                <a:rPr lang="en-US" sz="3200" u="none" strike="noStrike" cap="none" dirty="0">
                  <a:solidFill>
                    <a:schemeClr val="lt1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print(</a:t>
              </a:r>
              <a:r>
                <a:rPr lang="en-US" sz="3200" u="none" strike="noStrike" cap="none" dirty="0" err="1">
                  <a:solidFill>
                    <a:srgbClr val="00FF00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i</a:t>
              </a:r>
              <a:r>
                <a:rPr lang="en-US" sz="3200" u="none" strike="noStrike" cap="none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)</a:t>
              </a:r>
            </a:p>
          </p:txBody>
        </p:sp>
        <p:sp>
          <p:nvSpPr>
            <p:cNvPr id="496" name="Shape 496"/>
            <p:cNvSpPr txBox="1"/>
            <p:nvPr/>
          </p:nvSpPr>
          <p:spPr>
            <a:xfrm>
              <a:off x="11703050" y="3773487"/>
              <a:ext cx="2984500" cy="525462"/>
            </a:xfrm>
            <a:prstGeom prst="rect">
              <a:avLst/>
            </a:prstGeom>
            <a:noFill/>
            <a:ln w="76200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Cabin"/>
                <a:buNone/>
              </a:pPr>
              <a:r>
                <a:rPr lang="en-US" sz="3200" u="none" strike="noStrike" cap="none">
                  <a:solidFill>
                    <a:srgbClr val="00FF00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i = 3</a:t>
              </a:r>
            </a:p>
          </p:txBody>
        </p:sp>
        <p:cxnSp>
          <p:nvCxnSpPr>
            <p:cNvPr id="497" name="Shape 497"/>
            <p:cNvCxnSpPr/>
            <p:nvPr/>
          </p:nvCxnSpPr>
          <p:spPr>
            <a:xfrm rot="10800000" flipH="1">
              <a:off x="13181012" y="5208587"/>
              <a:ext cx="12699" cy="307974"/>
            </a:xfrm>
            <a:prstGeom prst="straightConnector1">
              <a:avLst/>
            </a:prstGeom>
            <a:noFill/>
            <a:ln w="50800" cap="rnd" cmpd="sng">
              <a:solidFill>
                <a:srgbClr val="1155CC"/>
              </a:solidFill>
              <a:prstDash val="solid"/>
              <a:miter/>
              <a:headEnd type="stealth" w="med" len="med"/>
              <a:tailEnd type="none" w="med" len="med"/>
            </a:ln>
          </p:spPr>
        </p:cxnSp>
        <p:cxnSp>
          <p:nvCxnSpPr>
            <p:cNvPr id="498" name="Shape 498"/>
            <p:cNvCxnSpPr/>
            <p:nvPr/>
          </p:nvCxnSpPr>
          <p:spPr>
            <a:xfrm rot="10800000" flipH="1">
              <a:off x="13181012" y="6107111"/>
              <a:ext cx="12699" cy="306386"/>
            </a:xfrm>
            <a:prstGeom prst="straightConnector1">
              <a:avLst/>
            </a:prstGeom>
            <a:noFill/>
            <a:ln w="50800" cap="rnd" cmpd="sng">
              <a:solidFill>
                <a:srgbClr val="1155CC"/>
              </a:solidFill>
              <a:prstDash val="solid"/>
              <a:miter/>
              <a:headEnd type="stealth" w="med" len="med"/>
              <a:tailEnd type="none" w="med" len="med"/>
            </a:ln>
          </p:spPr>
        </p:cxnSp>
        <p:sp>
          <p:nvSpPr>
            <p:cNvPr id="499" name="Shape 499"/>
            <p:cNvSpPr txBox="1"/>
            <p:nvPr/>
          </p:nvSpPr>
          <p:spPr>
            <a:xfrm>
              <a:off x="11703050" y="6421437"/>
              <a:ext cx="2984500" cy="536575"/>
            </a:xfrm>
            <a:prstGeom prst="rect">
              <a:avLst/>
            </a:prstGeom>
            <a:noFill/>
            <a:ln w="76200" cap="flat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bin"/>
                <a:buNone/>
              </a:pPr>
              <a:r>
                <a:rPr lang="en-US" sz="3200" u="none" strike="noStrike" cap="none" dirty="0">
                  <a:solidFill>
                    <a:schemeClr val="lt1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print</a:t>
              </a:r>
              <a:r>
                <a:rPr lang="en-US" sz="3200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(</a:t>
              </a:r>
              <a:r>
                <a:rPr lang="en-US" sz="3200" u="none" strike="noStrike" cap="none" dirty="0" err="1">
                  <a:solidFill>
                    <a:srgbClr val="00FF00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i</a:t>
              </a:r>
              <a:r>
                <a:rPr lang="en-US" sz="3200" u="none" strike="noStrike" cap="none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)</a:t>
              </a:r>
            </a:p>
          </p:txBody>
        </p:sp>
        <p:sp>
          <p:nvSpPr>
            <p:cNvPr id="500" name="Shape 500"/>
            <p:cNvSpPr txBox="1"/>
            <p:nvPr/>
          </p:nvSpPr>
          <p:spPr>
            <a:xfrm>
              <a:off x="11703050" y="5570537"/>
              <a:ext cx="2984500" cy="523874"/>
            </a:xfrm>
            <a:prstGeom prst="rect">
              <a:avLst/>
            </a:prstGeom>
            <a:noFill/>
            <a:ln w="76200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Cabin"/>
                <a:buNone/>
              </a:pPr>
              <a:r>
                <a:rPr lang="en-US" sz="3200" u="none" strike="noStrike" cap="none">
                  <a:solidFill>
                    <a:srgbClr val="00FF00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i = 2</a:t>
              </a:r>
            </a:p>
          </p:txBody>
        </p:sp>
        <p:cxnSp>
          <p:nvCxnSpPr>
            <p:cNvPr id="501" name="Shape 501"/>
            <p:cNvCxnSpPr/>
            <p:nvPr/>
          </p:nvCxnSpPr>
          <p:spPr>
            <a:xfrm rot="10800000" flipH="1">
              <a:off x="13181012" y="6934200"/>
              <a:ext cx="12699" cy="307974"/>
            </a:xfrm>
            <a:prstGeom prst="straightConnector1">
              <a:avLst/>
            </a:prstGeom>
            <a:noFill/>
            <a:ln w="50800" cap="rnd" cmpd="sng">
              <a:solidFill>
                <a:srgbClr val="1155CC"/>
              </a:solidFill>
              <a:prstDash val="solid"/>
              <a:miter/>
              <a:headEnd type="stealth" w="med" len="med"/>
              <a:tailEnd type="none" w="med" len="med"/>
            </a:ln>
          </p:spPr>
        </p:cxnSp>
        <p:cxnSp>
          <p:nvCxnSpPr>
            <p:cNvPr id="502" name="Shape 502"/>
            <p:cNvCxnSpPr/>
            <p:nvPr/>
          </p:nvCxnSpPr>
          <p:spPr>
            <a:xfrm rot="10800000" flipH="1">
              <a:off x="13181012" y="7808911"/>
              <a:ext cx="12699" cy="307974"/>
            </a:xfrm>
            <a:prstGeom prst="straightConnector1">
              <a:avLst/>
            </a:prstGeom>
            <a:noFill/>
            <a:ln w="50800" cap="rnd" cmpd="sng">
              <a:solidFill>
                <a:srgbClr val="1155CC"/>
              </a:solidFill>
              <a:prstDash val="solid"/>
              <a:miter/>
              <a:headEnd type="stealth" w="med" len="med"/>
              <a:tailEnd type="none" w="med" len="med"/>
            </a:ln>
          </p:spPr>
        </p:cxnSp>
        <p:sp>
          <p:nvSpPr>
            <p:cNvPr id="503" name="Shape 503"/>
            <p:cNvSpPr txBox="1"/>
            <p:nvPr/>
          </p:nvSpPr>
          <p:spPr>
            <a:xfrm>
              <a:off x="11703050" y="8124825"/>
              <a:ext cx="2984500" cy="534987"/>
            </a:xfrm>
            <a:prstGeom prst="rect">
              <a:avLst/>
            </a:prstGeom>
            <a:noFill/>
            <a:ln w="76200" cap="flat" cmpd="sng">
              <a:solidFill>
                <a:srgbClr val="00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ct val="25000"/>
                <a:buFont typeface="Cabin"/>
                <a:buNone/>
              </a:pPr>
              <a:r>
                <a:rPr lang="en-US" sz="3200" u="none" strike="noStrike" cap="none" dirty="0">
                  <a:solidFill>
                    <a:schemeClr val="lt1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print(</a:t>
              </a:r>
              <a:r>
                <a:rPr lang="en-US" sz="3200" u="none" strike="noStrike" cap="none" dirty="0" err="1">
                  <a:solidFill>
                    <a:srgbClr val="00FF00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i</a:t>
              </a:r>
              <a:r>
                <a:rPr lang="en-US" sz="3200" u="none" strike="noStrike" cap="none" dirty="0">
                  <a:solidFill>
                    <a:srgbClr val="00FF00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)</a:t>
              </a:r>
            </a:p>
          </p:txBody>
        </p:sp>
        <p:sp>
          <p:nvSpPr>
            <p:cNvPr id="504" name="Shape 504"/>
            <p:cNvSpPr txBox="1"/>
            <p:nvPr/>
          </p:nvSpPr>
          <p:spPr>
            <a:xfrm>
              <a:off x="11703050" y="7272336"/>
              <a:ext cx="2984500" cy="525462"/>
            </a:xfrm>
            <a:prstGeom prst="rect">
              <a:avLst/>
            </a:prstGeom>
            <a:noFill/>
            <a:ln w="76200" cap="flat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ct val="25000"/>
                <a:buFont typeface="Cabin"/>
                <a:buNone/>
              </a:pPr>
              <a:r>
                <a:rPr lang="en-US" sz="3200" u="none" strike="noStrike" cap="none" dirty="0" err="1">
                  <a:solidFill>
                    <a:srgbClr val="00FF00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i</a:t>
              </a:r>
              <a:r>
                <a:rPr lang="en-US" sz="3200" u="none" strike="noStrike" cap="none" dirty="0">
                  <a:solidFill>
                    <a:srgbClr val="00FF00"/>
                  </a:solidFill>
                  <a:latin typeface="Arial" charset="0"/>
                  <a:ea typeface="Arial" charset="0"/>
                  <a:cs typeface="Arial" charset="0"/>
                  <a:sym typeface="Cabin"/>
                </a:rPr>
                <a:t> = 1</a:t>
              </a:r>
            </a:p>
          </p:txBody>
        </p:sp>
      </p:grpSp>
      <p:sp>
        <p:nvSpPr>
          <p:cNvPr id="505" name="Shape 505"/>
          <p:cNvSpPr txBox="1"/>
          <p:nvPr/>
        </p:nvSpPr>
        <p:spPr>
          <a:xfrm>
            <a:off x="4481375" y="6254750"/>
            <a:ext cx="6268200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[5, 4, 3, 2, 1]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i</a:t>
            </a:r>
            <a:r>
              <a:rPr lang="en-US" sz="30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cxnSp>
        <p:nvCxnSpPr>
          <p:cNvPr id="38" name="Shape 451"/>
          <p:cNvCxnSpPr/>
          <p:nvPr/>
        </p:nvCxnSpPr>
        <p:spPr>
          <a:xfrm rot="10800000">
            <a:off x="3143137" y="1192249"/>
            <a:ext cx="14400" cy="5666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9" name="Shape 452"/>
          <p:cNvSpPr/>
          <p:nvPr/>
        </p:nvSpPr>
        <p:spPr>
          <a:xfrm>
            <a:off x="1727200" y="1752600"/>
            <a:ext cx="2870100" cy="1269899"/>
          </a:xfrm>
          <a:prstGeom prst="diamond">
            <a:avLst/>
          </a:prstGeom>
          <a:noFill/>
          <a:ln w="76200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400" u="none" strike="noStrike" cap="none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Done?</a:t>
            </a:r>
          </a:p>
        </p:txBody>
      </p:sp>
      <p:cxnSp>
        <p:nvCxnSpPr>
          <p:cNvPr id="40" name="Shape 453"/>
          <p:cNvCxnSpPr/>
          <p:nvPr/>
        </p:nvCxnSpPr>
        <p:spPr>
          <a:xfrm rot="10800000">
            <a:off x="3162312" y="3022699"/>
            <a:ext cx="11100" cy="14985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41" name="Shape 454"/>
          <p:cNvCxnSpPr/>
          <p:nvPr/>
        </p:nvCxnSpPr>
        <p:spPr>
          <a:xfrm flipH="1" flipV="1">
            <a:off x="6468949" y="2768699"/>
            <a:ext cx="3301" cy="5874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2" name="Shape 456"/>
          <p:cNvCxnSpPr>
            <a:stCxn id="49" idx="2"/>
          </p:cNvCxnSpPr>
          <p:nvPr/>
        </p:nvCxnSpPr>
        <p:spPr>
          <a:xfrm flipH="1">
            <a:off x="6468949" y="4051399"/>
            <a:ext cx="8100" cy="4728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3" name="Shape 458"/>
          <p:cNvCxnSpPr/>
          <p:nvPr/>
        </p:nvCxnSpPr>
        <p:spPr>
          <a:xfrm rot="10800000" flipH="1">
            <a:off x="3170237" y="4502112"/>
            <a:ext cx="3328200" cy="47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4" name="Shape 459"/>
          <p:cNvCxnSpPr/>
          <p:nvPr/>
        </p:nvCxnSpPr>
        <p:spPr>
          <a:xfrm flipH="1">
            <a:off x="1371574" y="2397125"/>
            <a:ext cx="396900" cy="32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45" name="Shape 460"/>
          <p:cNvCxnSpPr/>
          <p:nvPr/>
        </p:nvCxnSpPr>
        <p:spPr>
          <a:xfrm rot="10800000" flipH="1">
            <a:off x="3157537" y="5238874"/>
            <a:ext cx="15899" cy="64440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6" name="Shape 461"/>
          <p:cNvCxnSpPr/>
          <p:nvPr/>
        </p:nvCxnSpPr>
        <p:spPr>
          <a:xfrm rot="10800000">
            <a:off x="1401636" y="2451012"/>
            <a:ext cx="3299" cy="27797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7" name="Shape 462"/>
          <p:cNvCxnSpPr/>
          <p:nvPr/>
        </p:nvCxnSpPr>
        <p:spPr>
          <a:xfrm>
            <a:off x="1401761" y="5225236"/>
            <a:ext cx="1752600" cy="0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48" name="Shape 463"/>
          <p:cNvSpPr txBox="1"/>
          <p:nvPr/>
        </p:nvSpPr>
        <p:spPr>
          <a:xfrm>
            <a:off x="846137" y="1638300"/>
            <a:ext cx="881063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49" name="Shape 457"/>
          <p:cNvSpPr txBox="1"/>
          <p:nvPr/>
        </p:nvSpPr>
        <p:spPr>
          <a:xfrm>
            <a:off x="5016500" y="3302000"/>
            <a:ext cx="2921099" cy="7493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</a:t>
            </a:r>
            <a:r>
              <a:rPr lang="en-US" sz="3500" u="none" strike="noStrike" cap="none" dirty="0" err="1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</a:t>
            </a:r>
            <a:r>
              <a:rPr lang="en-US" sz="3500" u="none" strike="noStrike" cap="none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</a:p>
        </p:txBody>
      </p:sp>
      <p:sp>
        <p:nvSpPr>
          <p:cNvPr id="50" name="Shape 464"/>
          <p:cNvSpPr txBox="1"/>
          <p:nvPr/>
        </p:nvSpPr>
        <p:spPr>
          <a:xfrm>
            <a:off x="4206150" y="1397100"/>
            <a:ext cx="7239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sp>
        <p:nvSpPr>
          <p:cNvPr id="51" name="Shape 455"/>
          <p:cNvSpPr txBox="1"/>
          <p:nvPr/>
        </p:nvSpPr>
        <p:spPr>
          <a:xfrm>
            <a:off x="5016500" y="2019300"/>
            <a:ext cx="2997300" cy="749399"/>
          </a:xfrm>
          <a:prstGeom prst="rect">
            <a:avLst/>
          </a:prstGeom>
          <a:noFill/>
          <a:ln w="76200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500" u="none" strike="noStrike" cap="none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Move </a:t>
            </a:r>
            <a:r>
              <a:rPr lang="en-US" sz="35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</a:t>
            </a:r>
            <a:r>
              <a:rPr lang="en-US" sz="3500" u="none" strike="noStrike" cap="none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ahead</a:t>
            </a:r>
          </a:p>
        </p:txBody>
      </p:sp>
      <p:cxnSp>
        <p:nvCxnSpPr>
          <p:cNvPr id="52" name="Shape 467"/>
          <p:cNvCxnSpPr/>
          <p:nvPr/>
        </p:nvCxnSpPr>
        <p:spPr>
          <a:xfrm>
            <a:off x="4635525" y="2397125"/>
            <a:ext cx="396900" cy="3299"/>
          </a:xfrm>
          <a:prstGeom prst="straightConnector1">
            <a:avLst/>
          </a:prstGeom>
          <a:noFill/>
          <a:ln w="76200" cap="rnd" cmpd="sng">
            <a:solidFill>
              <a:srgbClr val="00FFFF"/>
            </a:solidFill>
            <a:prstDash val="solid"/>
            <a:miter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Shape 517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503555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Loop Idioms:</a:t>
            </a:r>
            <a:b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</a:b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We Do in Loops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br>
              <a:rPr lang="en-US" sz="7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</a:br>
            <a:r>
              <a:rPr lang="en-US" sz="48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Note: </a:t>
            </a:r>
            <a:r>
              <a:rPr lang="en-US" sz="48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48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Even though these examples are simple, the patterns apply to all kinds of loops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Shape 5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Making </a:t>
            </a:r>
            <a:r>
              <a:rPr lang="en-US" sz="7600" b="0" i="0" u="none" strike="noStrike" cap="none">
                <a:solidFill>
                  <a:srgbClr val="FFD966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smart</a:t>
            </a:r>
            <a:r>
              <a:rPr lang="en-US" sz="7600" b="0" i="0" u="none" strike="noStrike" cap="none">
                <a:solidFill>
                  <a:srgbClr val="FFD966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loops</a:t>
            </a:r>
          </a:p>
        </p:txBody>
      </p:sp>
      <p:sp>
        <p:nvSpPr>
          <p:cNvPr id="523" name="Shape 523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845300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trick is 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knowing</a:t>
            </a:r>
            <a:r>
              <a:rPr lang="en-US" sz="36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something about the whole loop when you are stuck writing code that only sees one entry at a time</a:t>
            </a:r>
          </a:p>
        </p:txBody>
      </p:sp>
      <p:sp>
        <p:nvSpPr>
          <p:cNvPr id="524" name="Shape 524"/>
          <p:cNvSpPr txBox="1"/>
          <p:nvPr/>
        </p:nvSpPr>
        <p:spPr>
          <a:xfrm>
            <a:off x="9245600" y="2628900"/>
            <a:ext cx="5080000" cy="1181100"/>
          </a:xfrm>
          <a:prstGeom prst="rect">
            <a:avLst/>
          </a:prstGeom>
          <a:noFill/>
          <a:ln w="508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3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Set some variables to initial values</a:t>
            </a:r>
          </a:p>
        </p:txBody>
      </p:sp>
      <p:sp>
        <p:nvSpPr>
          <p:cNvPr id="525" name="Shape 525"/>
          <p:cNvSpPr txBox="1"/>
          <p:nvPr/>
        </p:nvSpPr>
        <p:spPr>
          <a:xfrm>
            <a:off x="9867900" y="4584700"/>
            <a:ext cx="4406900" cy="2286000"/>
          </a:xfrm>
          <a:prstGeom prst="rect">
            <a:avLst/>
          </a:prstGeom>
          <a:noFill/>
          <a:ln w="508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3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Look for something or do something to each entry separately, updating a variable</a:t>
            </a:r>
          </a:p>
        </p:txBody>
      </p:sp>
      <p:sp>
        <p:nvSpPr>
          <p:cNvPr id="526" name="Shape 526"/>
          <p:cNvSpPr txBox="1"/>
          <p:nvPr/>
        </p:nvSpPr>
        <p:spPr>
          <a:xfrm>
            <a:off x="9159875" y="3911600"/>
            <a:ext cx="3398838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for </a:t>
            </a:r>
            <a:r>
              <a:rPr lang="en-US" sz="36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thing</a:t>
            </a: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in data:</a:t>
            </a:r>
          </a:p>
        </p:txBody>
      </p:sp>
      <p:sp>
        <p:nvSpPr>
          <p:cNvPr id="527" name="Shape 527"/>
          <p:cNvSpPr txBox="1"/>
          <p:nvPr/>
        </p:nvSpPr>
        <p:spPr>
          <a:xfrm>
            <a:off x="9245600" y="7213600"/>
            <a:ext cx="5080000" cy="1016000"/>
          </a:xfrm>
          <a:prstGeom prst="rect">
            <a:avLst/>
          </a:prstGeom>
          <a:noFill/>
          <a:ln w="50800" cap="rnd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3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Look at the variables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Shape 5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Looping Through a Set</a:t>
            </a:r>
          </a:p>
        </p:txBody>
      </p:sp>
      <p:sp>
        <p:nvSpPr>
          <p:cNvPr id="533" name="Shape 533"/>
          <p:cNvSpPr txBox="1"/>
          <p:nvPr/>
        </p:nvSpPr>
        <p:spPr>
          <a:xfrm>
            <a:off x="1420525" y="3244325"/>
            <a:ext cx="7774500" cy="2216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'Before'</a:t>
            </a:r>
            <a:r>
              <a:rPr lang="en-US" sz="26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thing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[9, 41, 12, 3, 74, 15]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   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thing</a:t>
            </a:r>
            <a:r>
              <a:rPr lang="en-US" sz="26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'After'</a:t>
            </a:r>
            <a:r>
              <a:rPr lang="en-US" sz="26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sp>
        <p:nvSpPr>
          <p:cNvPr id="534" name="Shape 534"/>
          <p:cNvSpPr txBox="1"/>
          <p:nvPr/>
        </p:nvSpPr>
        <p:spPr>
          <a:xfrm>
            <a:off x="10034586" y="2657475"/>
            <a:ext cx="4767264" cy="498474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$ python </a:t>
            </a:r>
            <a:r>
              <a:rPr lang="en-US" sz="3600" u="none" strike="noStrike" cap="none" dirty="0" err="1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basicloop.py</a:t>
            </a:r>
            <a:endParaRPr lang="en-US" sz="3600" u="none" strike="noStrike" cap="none" dirty="0">
              <a:solidFill>
                <a:srgbClr val="FFFF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Before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9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74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After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Shape 5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is the Largest Number?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Shape 544"/>
          <p:cNvSpPr txBox="1"/>
          <p:nvPr/>
        </p:nvSpPr>
        <p:spPr>
          <a:xfrm>
            <a:off x="3771900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</p:txBody>
      </p:sp>
      <p:sp>
        <p:nvSpPr>
          <p:cNvPr id="545" name="Shape 54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is the Largest Number?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Shape 55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is the Largest Number?</a:t>
            </a:r>
          </a:p>
        </p:txBody>
      </p:sp>
      <p:sp>
        <p:nvSpPr>
          <p:cNvPr id="551" name="Shape 551"/>
          <p:cNvSpPr txBox="1"/>
          <p:nvPr/>
        </p:nvSpPr>
        <p:spPr>
          <a:xfrm>
            <a:off x="5343525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Shape 5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is the Largest Number?</a:t>
            </a:r>
          </a:p>
        </p:txBody>
      </p:sp>
      <p:sp>
        <p:nvSpPr>
          <p:cNvPr id="557" name="Shape 557"/>
          <p:cNvSpPr txBox="1"/>
          <p:nvPr/>
        </p:nvSpPr>
        <p:spPr>
          <a:xfrm>
            <a:off x="7145336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Shape 56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is the Largest Number?</a:t>
            </a:r>
          </a:p>
        </p:txBody>
      </p:sp>
      <p:sp>
        <p:nvSpPr>
          <p:cNvPr id="563" name="Shape 563"/>
          <p:cNvSpPr txBox="1"/>
          <p:nvPr/>
        </p:nvSpPr>
        <p:spPr>
          <a:xfrm>
            <a:off x="8945561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is the Largest Number?</a:t>
            </a:r>
          </a:p>
        </p:txBody>
      </p:sp>
      <p:sp>
        <p:nvSpPr>
          <p:cNvPr id="569" name="Shape 569"/>
          <p:cNvSpPr txBox="1"/>
          <p:nvPr/>
        </p:nvSpPr>
        <p:spPr>
          <a:xfrm>
            <a:off x="10671175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74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Shape 57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is the Largest Number?</a:t>
            </a:r>
          </a:p>
        </p:txBody>
      </p:sp>
      <p:sp>
        <p:nvSpPr>
          <p:cNvPr id="575" name="Shape 575"/>
          <p:cNvSpPr txBox="1"/>
          <p:nvPr/>
        </p:nvSpPr>
        <p:spPr>
          <a:xfrm>
            <a:off x="12547600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Shape 58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is the Largest Number?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Shape 585"/>
          <p:cNvSpPr txBox="1"/>
          <p:nvPr/>
        </p:nvSpPr>
        <p:spPr>
          <a:xfrm>
            <a:off x="3771900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</p:txBody>
      </p:sp>
      <p:sp>
        <p:nvSpPr>
          <p:cNvPr id="586" name="Shape 58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is the Largest Number?</a:t>
            </a:r>
          </a:p>
        </p:txBody>
      </p:sp>
      <p:sp>
        <p:nvSpPr>
          <p:cNvPr id="587" name="Shape 587"/>
          <p:cNvSpPr txBox="1"/>
          <p:nvPr/>
        </p:nvSpPr>
        <p:spPr>
          <a:xfrm>
            <a:off x="5343525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41</a:t>
            </a:r>
          </a:p>
        </p:txBody>
      </p:sp>
      <p:sp>
        <p:nvSpPr>
          <p:cNvPr id="588" name="Shape 588"/>
          <p:cNvSpPr txBox="1"/>
          <p:nvPr/>
        </p:nvSpPr>
        <p:spPr>
          <a:xfrm>
            <a:off x="7145336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12</a:t>
            </a:r>
          </a:p>
        </p:txBody>
      </p:sp>
      <p:sp>
        <p:nvSpPr>
          <p:cNvPr id="589" name="Shape 589"/>
          <p:cNvSpPr txBox="1"/>
          <p:nvPr/>
        </p:nvSpPr>
        <p:spPr>
          <a:xfrm>
            <a:off x="8945561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9</a:t>
            </a:r>
          </a:p>
        </p:txBody>
      </p:sp>
      <p:sp>
        <p:nvSpPr>
          <p:cNvPr id="590" name="Shape 590"/>
          <p:cNvSpPr txBox="1"/>
          <p:nvPr/>
        </p:nvSpPr>
        <p:spPr>
          <a:xfrm>
            <a:off x="10671175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74</a:t>
            </a:r>
          </a:p>
        </p:txBody>
      </p:sp>
      <p:sp>
        <p:nvSpPr>
          <p:cNvPr id="591" name="Shape 591"/>
          <p:cNvSpPr txBox="1"/>
          <p:nvPr/>
        </p:nvSpPr>
        <p:spPr>
          <a:xfrm>
            <a:off x="12547600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Shape 5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is the Largest Number?</a:t>
            </a:r>
          </a:p>
        </p:txBody>
      </p:sp>
      <p:sp>
        <p:nvSpPr>
          <p:cNvPr id="3" name="Shape 597"/>
          <p:cNvSpPr txBox="1"/>
          <p:nvPr/>
        </p:nvSpPr>
        <p:spPr>
          <a:xfrm>
            <a:off x="6451600" y="6159500"/>
            <a:ext cx="5841899" cy="1307999"/>
          </a:xfrm>
          <a:prstGeom prst="rect">
            <a:avLst/>
          </a:prstGeom>
          <a:noFill/>
          <a:ln w="254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hape 598"/>
          <p:cNvSpPr txBox="1"/>
          <p:nvPr/>
        </p:nvSpPr>
        <p:spPr>
          <a:xfrm>
            <a:off x="2841624" y="6502400"/>
            <a:ext cx="3344863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 err="1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largest_so_far</a:t>
            </a:r>
            <a:endParaRPr lang="en-US" sz="36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5" name="Shape 599"/>
          <p:cNvSpPr txBox="1"/>
          <p:nvPr/>
        </p:nvSpPr>
        <p:spPr>
          <a:xfrm>
            <a:off x="6642100" y="6259512"/>
            <a:ext cx="760500" cy="1108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766223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Shape 544"/>
          <p:cNvSpPr txBox="1"/>
          <p:nvPr/>
        </p:nvSpPr>
        <p:spPr>
          <a:xfrm>
            <a:off x="3771900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</p:txBody>
      </p:sp>
      <p:sp>
        <p:nvSpPr>
          <p:cNvPr id="545" name="Shape 54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is the Largest Number?</a:t>
            </a:r>
          </a:p>
        </p:txBody>
      </p:sp>
      <p:sp>
        <p:nvSpPr>
          <p:cNvPr id="4" name="Shape 597"/>
          <p:cNvSpPr txBox="1"/>
          <p:nvPr/>
        </p:nvSpPr>
        <p:spPr>
          <a:xfrm>
            <a:off x="6451600" y="6159500"/>
            <a:ext cx="5841899" cy="1307999"/>
          </a:xfrm>
          <a:prstGeom prst="rect">
            <a:avLst/>
          </a:prstGeom>
          <a:noFill/>
          <a:ln w="254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Shape 598"/>
          <p:cNvSpPr txBox="1"/>
          <p:nvPr/>
        </p:nvSpPr>
        <p:spPr>
          <a:xfrm>
            <a:off x="2841624" y="6502400"/>
            <a:ext cx="3344863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 err="1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largest_so_far</a:t>
            </a:r>
            <a:endParaRPr lang="en-US" sz="36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6" name="Shape 599"/>
          <p:cNvSpPr txBox="1"/>
          <p:nvPr/>
        </p:nvSpPr>
        <p:spPr>
          <a:xfrm>
            <a:off x="6642100" y="6259512"/>
            <a:ext cx="760500" cy="1108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529586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Shape 55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is the Largest Number?</a:t>
            </a:r>
          </a:p>
        </p:txBody>
      </p:sp>
      <p:sp>
        <p:nvSpPr>
          <p:cNvPr id="551" name="Shape 551"/>
          <p:cNvSpPr txBox="1"/>
          <p:nvPr/>
        </p:nvSpPr>
        <p:spPr>
          <a:xfrm>
            <a:off x="5343525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41</a:t>
            </a:r>
          </a:p>
        </p:txBody>
      </p:sp>
      <p:sp>
        <p:nvSpPr>
          <p:cNvPr id="4" name="Shape 597"/>
          <p:cNvSpPr txBox="1"/>
          <p:nvPr/>
        </p:nvSpPr>
        <p:spPr>
          <a:xfrm>
            <a:off x="6451600" y="6159500"/>
            <a:ext cx="5841899" cy="1307999"/>
          </a:xfrm>
          <a:prstGeom prst="rect">
            <a:avLst/>
          </a:prstGeom>
          <a:noFill/>
          <a:ln w="254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Shape 598"/>
          <p:cNvSpPr txBox="1"/>
          <p:nvPr/>
        </p:nvSpPr>
        <p:spPr>
          <a:xfrm>
            <a:off x="2841624" y="6502400"/>
            <a:ext cx="3344863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 err="1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largest_so_far</a:t>
            </a:r>
            <a:endParaRPr lang="en-US" sz="36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6" name="Shape 599"/>
          <p:cNvSpPr txBox="1"/>
          <p:nvPr/>
        </p:nvSpPr>
        <p:spPr>
          <a:xfrm>
            <a:off x="6642100" y="6259512"/>
            <a:ext cx="2116138" cy="1108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41</a:t>
            </a:r>
            <a:endParaRPr lang="en-US" sz="5400" u="none" strike="noStrike" cap="none" dirty="0">
              <a:solidFill>
                <a:srgbClr val="FF00FF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</p:spTree>
    <p:extLst>
      <p:ext uri="{BB962C8B-B14F-4D97-AF65-F5344CB8AC3E}">
        <p14:creationId xmlns:p14="http://schemas.microsoft.com/office/powerpoint/2010/main" val="17350240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Shape 5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is the Largest Number?</a:t>
            </a:r>
          </a:p>
        </p:txBody>
      </p:sp>
      <p:sp>
        <p:nvSpPr>
          <p:cNvPr id="557" name="Shape 557"/>
          <p:cNvSpPr txBox="1"/>
          <p:nvPr/>
        </p:nvSpPr>
        <p:spPr>
          <a:xfrm>
            <a:off x="7145336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12</a:t>
            </a:r>
          </a:p>
        </p:txBody>
      </p:sp>
      <p:sp>
        <p:nvSpPr>
          <p:cNvPr id="4" name="Shape 597"/>
          <p:cNvSpPr txBox="1"/>
          <p:nvPr/>
        </p:nvSpPr>
        <p:spPr>
          <a:xfrm>
            <a:off x="6451600" y="6159500"/>
            <a:ext cx="5841899" cy="1307999"/>
          </a:xfrm>
          <a:prstGeom prst="rect">
            <a:avLst/>
          </a:prstGeom>
          <a:noFill/>
          <a:ln w="254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Shape 598"/>
          <p:cNvSpPr txBox="1"/>
          <p:nvPr/>
        </p:nvSpPr>
        <p:spPr>
          <a:xfrm>
            <a:off x="2841624" y="6502400"/>
            <a:ext cx="3344863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 err="1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largest_so_far</a:t>
            </a:r>
            <a:endParaRPr lang="en-US" sz="36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6" name="Shape 599"/>
          <p:cNvSpPr txBox="1"/>
          <p:nvPr/>
        </p:nvSpPr>
        <p:spPr>
          <a:xfrm>
            <a:off x="6642100" y="6259512"/>
            <a:ext cx="2116138" cy="1108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9447069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Shape 56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is the Largest Number?</a:t>
            </a:r>
          </a:p>
        </p:txBody>
      </p:sp>
      <p:sp>
        <p:nvSpPr>
          <p:cNvPr id="563" name="Shape 563"/>
          <p:cNvSpPr txBox="1"/>
          <p:nvPr/>
        </p:nvSpPr>
        <p:spPr>
          <a:xfrm>
            <a:off x="8945561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9</a:t>
            </a:r>
          </a:p>
        </p:txBody>
      </p:sp>
      <p:sp>
        <p:nvSpPr>
          <p:cNvPr id="4" name="Shape 597"/>
          <p:cNvSpPr txBox="1"/>
          <p:nvPr/>
        </p:nvSpPr>
        <p:spPr>
          <a:xfrm>
            <a:off x="6451600" y="6159500"/>
            <a:ext cx="5841899" cy="1307999"/>
          </a:xfrm>
          <a:prstGeom prst="rect">
            <a:avLst/>
          </a:prstGeom>
          <a:noFill/>
          <a:ln w="254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Shape 598"/>
          <p:cNvSpPr txBox="1"/>
          <p:nvPr/>
        </p:nvSpPr>
        <p:spPr>
          <a:xfrm>
            <a:off x="2841624" y="6502400"/>
            <a:ext cx="3344863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 err="1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largest_so_far</a:t>
            </a:r>
            <a:endParaRPr lang="en-US" sz="36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6" name="Shape 599"/>
          <p:cNvSpPr txBox="1"/>
          <p:nvPr/>
        </p:nvSpPr>
        <p:spPr>
          <a:xfrm>
            <a:off x="6642100" y="6259512"/>
            <a:ext cx="2116138" cy="1108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41</a:t>
            </a:r>
            <a:endParaRPr lang="en-US" sz="5400" u="none" strike="noStrike" cap="none" dirty="0">
              <a:solidFill>
                <a:srgbClr val="FF00FF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</p:spTree>
    <p:extLst>
      <p:ext uri="{BB962C8B-B14F-4D97-AF65-F5344CB8AC3E}">
        <p14:creationId xmlns:p14="http://schemas.microsoft.com/office/powerpoint/2010/main" val="17797330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is the Largest Number?</a:t>
            </a:r>
          </a:p>
        </p:txBody>
      </p:sp>
      <p:sp>
        <p:nvSpPr>
          <p:cNvPr id="569" name="Shape 569"/>
          <p:cNvSpPr txBox="1"/>
          <p:nvPr/>
        </p:nvSpPr>
        <p:spPr>
          <a:xfrm>
            <a:off x="10671175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74</a:t>
            </a:r>
          </a:p>
        </p:txBody>
      </p:sp>
      <p:sp>
        <p:nvSpPr>
          <p:cNvPr id="4" name="Shape 597"/>
          <p:cNvSpPr txBox="1"/>
          <p:nvPr/>
        </p:nvSpPr>
        <p:spPr>
          <a:xfrm>
            <a:off x="6451600" y="6159500"/>
            <a:ext cx="5841899" cy="1307999"/>
          </a:xfrm>
          <a:prstGeom prst="rect">
            <a:avLst/>
          </a:prstGeom>
          <a:noFill/>
          <a:ln w="254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Shape 598"/>
          <p:cNvSpPr txBox="1"/>
          <p:nvPr/>
        </p:nvSpPr>
        <p:spPr>
          <a:xfrm>
            <a:off x="2841624" y="6502400"/>
            <a:ext cx="3344863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 err="1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largest_so_far</a:t>
            </a:r>
            <a:endParaRPr lang="en-US" sz="36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6" name="Shape 599"/>
          <p:cNvSpPr txBox="1"/>
          <p:nvPr/>
        </p:nvSpPr>
        <p:spPr>
          <a:xfrm>
            <a:off x="6642100" y="6259512"/>
            <a:ext cx="2116138" cy="1108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74</a:t>
            </a:r>
          </a:p>
        </p:txBody>
      </p:sp>
    </p:spTree>
    <p:extLst>
      <p:ext uri="{BB962C8B-B14F-4D97-AF65-F5344CB8AC3E}">
        <p14:creationId xmlns:p14="http://schemas.microsoft.com/office/powerpoint/2010/main" val="17245487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Shape 57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is the Largest Number?</a:t>
            </a:r>
          </a:p>
        </p:txBody>
      </p:sp>
      <p:sp>
        <p:nvSpPr>
          <p:cNvPr id="575" name="Shape 575"/>
          <p:cNvSpPr txBox="1"/>
          <p:nvPr/>
        </p:nvSpPr>
        <p:spPr>
          <a:xfrm>
            <a:off x="12547600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15</a:t>
            </a:r>
          </a:p>
        </p:txBody>
      </p:sp>
      <p:sp>
        <p:nvSpPr>
          <p:cNvPr id="4" name="Shape 597"/>
          <p:cNvSpPr txBox="1"/>
          <p:nvPr/>
        </p:nvSpPr>
        <p:spPr>
          <a:xfrm>
            <a:off x="6451600" y="6159500"/>
            <a:ext cx="5841899" cy="1307999"/>
          </a:xfrm>
          <a:prstGeom prst="rect">
            <a:avLst/>
          </a:prstGeom>
          <a:noFill/>
          <a:ln w="254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Shape 599"/>
          <p:cNvSpPr txBox="1"/>
          <p:nvPr/>
        </p:nvSpPr>
        <p:spPr>
          <a:xfrm>
            <a:off x="6642100" y="6259512"/>
            <a:ext cx="2116138" cy="1108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74</a:t>
            </a:r>
          </a:p>
        </p:txBody>
      </p:sp>
    </p:spTree>
    <p:extLst>
      <p:ext uri="{BB962C8B-B14F-4D97-AF65-F5344CB8AC3E}">
        <p14:creationId xmlns:p14="http://schemas.microsoft.com/office/powerpoint/2010/main" val="8194232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Shape 585"/>
          <p:cNvSpPr txBox="1"/>
          <p:nvPr/>
        </p:nvSpPr>
        <p:spPr>
          <a:xfrm>
            <a:off x="3771900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</p:txBody>
      </p:sp>
      <p:sp>
        <p:nvSpPr>
          <p:cNvPr id="586" name="Shape 58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What is the Largest Number?</a:t>
            </a:r>
          </a:p>
        </p:txBody>
      </p:sp>
      <p:sp>
        <p:nvSpPr>
          <p:cNvPr id="587" name="Shape 587"/>
          <p:cNvSpPr txBox="1"/>
          <p:nvPr/>
        </p:nvSpPr>
        <p:spPr>
          <a:xfrm>
            <a:off x="5343525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41</a:t>
            </a:r>
          </a:p>
        </p:txBody>
      </p:sp>
      <p:sp>
        <p:nvSpPr>
          <p:cNvPr id="588" name="Shape 588"/>
          <p:cNvSpPr txBox="1"/>
          <p:nvPr/>
        </p:nvSpPr>
        <p:spPr>
          <a:xfrm>
            <a:off x="7145336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12</a:t>
            </a:r>
          </a:p>
        </p:txBody>
      </p:sp>
      <p:sp>
        <p:nvSpPr>
          <p:cNvPr id="589" name="Shape 589"/>
          <p:cNvSpPr txBox="1"/>
          <p:nvPr/>
        </p:nvSpPr>
        <p:spPr>
          <a:xfrm>
            <a:off x="8945561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9</a:t>
            </a:r>
          </a:p>
        </p:txBody>
      </p:sp>
      <p:sp>
        <p:nvSpPr>
          <p:cNvPr id="590" name="Shape 590"/>
          <p:cNvSpPr txBox="1"/>
          <p:nvPr/>
        </p:nvSpPr>
        <p:spPr>
          <a:xfrm>
            <a:off x="10671175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74</a:t>
            </a:r>
          </a:p>
        </p:txBody>
      </p:sp>
      <p:sp>
        <p:nvSpPr>
          <p:cNvPr id="591" name="Shape 591"/>
          <p:cNvSpPr txBox="1"/>
          <p:nvPr/>
        </p:nvSpPr>
        <p:spPr>
          <a:xfrm>
            <a:off x="12547600" y="3609975"/>
            <a:ext cx="1003199" cy="1181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15</a:t>
            </a:r>
          </a:p>
        </p:txBody>
      </p:sp>
      <p:sp>
        <p:nvSpPr>
          <p:cNvPr id="9" name="Shape 597"/>
          <p:cNvSpPr txBox="1"/>
          <p:nvPr/>
        </p:nvSpPr>
        <p:spPr>
          <a:xfrm>
            <a:off x="6451600" y="6159500"/>
            <a:ext cx="5841899" cy="1307999"/>
          </a:xfrm>
          <a:prstGeom prst="rect">
            <a:avLst/>
          </a:prstGeom>
          <a:noFill/>
          <a:ln w="254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Shape 599"/>
          <p:cNvSpPr txBox="1"/>
          <p:nvPr/>
        </p:nvSpPr>
        <p:spPr>
          <a:xfrm>
            <a:off x="6642100" y="6259512"/>
            <a:ext cx="2116138" cy="1108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54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74</a:t>
            </a:r>
          </a:p>
        </p:txBody>
      </p:sp>
    </p:spTree>
    <p:extLst>
      <p:ext uri="{BB962C8B-B14F-4D97-AF65-F5344CB8AC3E}">
        <p14:creationId xmlns:p14="http://schemas.microsoft.com/office/powerpoint/2010/main" val="3677147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Shape 67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Finding the Largest Value</a:t>
            </a:r>
          </a:p>
        </p:txBody>
      </p:sp>
      <p:sp>
        <p:nvSpPr>
          <p:cNvPr id="673" name="Shape 673"/>
          <p:cNvSpPr txBox="1"/>
          <p:nvPr/>
        </p:nvSpPr>
        <p:spPr>
          <a:xfrm>
            <a:off x="1620375" y="3009225"/>
            <a:ext cx="7995899" cy="332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260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largest_so_far</a:t>
            </a:r>
            <a:r>
              <a:rPr lang="en-US" sz="26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= -1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'Before', </a:t>
            </a:r>
            <a:r>
              <a:rPr lang="en-US" sz="260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largest_so_far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th</a:t>
            </a:r>
            <a:r>
              <a:rPr lang="en-US" sz="2600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e_num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[9, 41, 12, 3, 74, 15]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  if </a:t>
            </a:r>
            <a:r>
              <a:rPr lang="en-US" sz="2600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the_num</a:t>
            </a:r>
            <a:r>
              <a:rPr lang="en-US" sz="2600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&gt; </a:t>
            </a:r>
            <a:r>
              <a:rPr lang="en-US" sz="260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largest_so_far</a:t>
            </a:r>
            <a:r>
              <a:rPr lang="en-US" sz="2600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     </a:t>
            </a:r>
            <a:r>
              <a:rPr lang="en-US" sz="260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largest_so_far</a:t>
            </a:r>
            <a:r>
              <a:rPr lang="en-US" sz="26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600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the_num</a:t>
            </a:r>
            <a:endParaRPr lang="en-US" sz="2600" dirty="0">
              <a:solidFill>
                <a:srgbClr val="FF00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 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largest_so_far</a:t>
            </a:r>
            <a:r>
              <a:rPr lang="en-US" sz="26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,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the_num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Font typeface="Cabin"/>
              <a:buNone/>
            </a:pPr>
            <a:endParaRPr sz="2600" dirty="0">
              <a:solidFill>
                <a:srgbClr val="FF00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'After', </a:t>
            </a:r>
            <a:r>
              <a:rPr lang="en-US" sz="260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largest_so_far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sp>
        <p:nvSpPr>
          <p:cNvPr id="674" name="Shape 674"/>
          <p:cNvSpPr txBox="1"/>
          <p:nvPr/>
        </p:nvSpPr>
        <p:spPr>
          <a:xfrm>
            <a:off x="10261600" y="2286000"/>
            <a:ext cx="4219499" cy="4986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$</a:t>
            </a:r>
            <a:r>
              <a:rPr lang="en-US" sz="30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python </a:t>
            </a:r>
            <a:r>
              <a:rPr lang="en-US" sz="300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largest</a:t>
            </a:r>
            <a:r>
              <a:rPr lang="en-US" sz="30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.py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Before </a:t>
            </a:r>
            <a:r>
              <a:rPr lang="en-US" sz="300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9</a:t>
            </a: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 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9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41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 41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41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12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41</a:t>
            </a: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 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74</a:t>
            </a: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 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74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74</a:t>
            </a: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 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After </a:t>
            </a:r>
            <a:r>
              <a:rPr lang="en-US" sz="300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74</a:t>
            </a:r>
          </a:p>
        </p:txBody>
      </p:sp>
      <p:sp>
        <p:nvSpPr>
          <p:cNvPr id="675" name="Shape 675"/>
          <p:cNvSpPr txBox="1"/>
          <p:nvPr/>
        </p:nvSpPr>
        <p:spPr>
          <a:xfrm>
            <a:off x="906525" y="7194550"/>
            <a:ext cx="14757599" cy="13065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make a </a:t>
            </a:r>
            <a:r>
              <a:rPr lang="en-US" sz="3000">
                <a:solidFill>
                  <a:schemeClr val="accen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variable</a:t>
            </a:r>
            <a:r>
              <a:rPr lang="en-US" sz="30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that contains the </a:t>
            </a:r>
            <a:r>
              <a:rPr lang="en-US" sz="3000">
                <a:solidFill>
                  <a:schemeClr val="accen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largest value we have seen so far</a:t>
            </a:r>
            <a:r>
              <a:rPr lang="en-US" sz="30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. </a:t>
            </a:r>
            <a:r>
              <a:rPr lang="en-US" sz="30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If the current </a:t>
            </a:r>
            <a:r>
              <a:rPr lang="en-US" sz="3000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number we are looking at</a:t>
            </a:r>
            <a:r>
              <a:rPr lang="en-US" sz="30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is larger, it is the new </a:t>
            </a:r>
            <a:r>
              <a:rPr lang="en-US" sz="3000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largest value we have seen so far</a:t>
            </a:r>
            <a:r>
              <a:rPr lang="en-US" sz="30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D966"/>
                </a:solidFill>
              </a:rPr>
              <a:t>More Loop Patterns</a:t>
            </a:r>
            <a:r>
              <a:rPr lang="is-IS" dirty="0">
                <a:solidFill>
                  <a:srgbClr val="FFD966"/>
                </a:solidFill>
              </a:rPr>
              <a:t>…</a:t>
            </a:r>
            <a:endParaRPr lang="en-US" dirty="0">
              <a:solidFill>
                <a:srgbClr val="FFD9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29387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Shape 68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Counting in a Loop</a:t>
            </a:r>
          </a:p>
        </p:txBody>
      </p:sp>
      <p:sp>
        <p:nvSpPr>
          <p:cNvPr id="681" name="Shape 681"/>
          <p:cNvSpPr txBox="1"/>
          <p:nvPr/>
        </p:nvSpPr>
        <p:spPr>
          <a:xfrm>
            <a:off x="1741475" y="2649525"/>
            <a:ext cx="7995899" cy="332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2600" i="0" u="none" strike="noStrike" cap="none" dirty="0" err="1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zork</a:t>
            </a:r>
            <a:r>
              <a:rPr lang="en-US" sz="26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 = 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'Before', </a:t>
            </a:r>
            <a:r>
              <a:rPr lang="en-US" sz="2600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zork</a:t>
            </a:r>
            <a:r>
              <a:rPr lang="en-US" sz="26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thing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[9, 41, 12, 3, 74, 15]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600" i="0" u="none" strike="noStrike" cap="none" dirty="0" err="1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zork</a:t>
            </a:r>
            <a:r>
              <a:rPr lang="en-US" sz="26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600" i="0" u="none" strike="noStrike" cap="none" dirty="0" err="1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zork</a:t>
            </a:r>
            <a:r>
              <a:rPr lang="en-US" sz="26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 + 1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 err="1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zork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, thing</a:t>
            </a:r>
            <a:r>
              <a:rPr lang="en-US" sz="26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'After', </a:t>
            </a:r>
            <a:r>
              <a:rPr lang="en-US" sz="2600" i="0" u="none" strike="noStrike" cap="none" dirty="0" err="1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zork</a:t>
            </a:r>
            <a:r>
              <a:rPr lang="en-US" sz="26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sp>
        <p:nvSpPr>
          <p:cNvPr id="682" name="Shape 682"/>
          <p:cNvSpPr txBox="1"/>
          <p:nvPr/>
        </p:nvSpPr>
        <p:spPr>
          <a:xfrm>
            <a:off x="10261600" y="2362200"/>
            <a:ext cx="4219499" cy="4674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$</a:t>
            </a:r>
            <a:r>
              <a:rPr lang="en-US" sz="30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python countloop.py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Before 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 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9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2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41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12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 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5 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74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6 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After </a:t>
            </a: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6</a:t>
            </a:r>
          </a:p>
        </p:txBody>
      </p:sp>
      <p:sp>
        <p:nvSpPr>
          <p:cNvPr id="683" name="Shape 683"/>
          <p:cNvSpPr txBox="1"/>
          <p:nvPr/>
        </p:nvSpPr>
        <p:spPr>
          <a:xfrm>
            <a:off x="1155700" y="7099849"/>
            <a:ext cx="14071499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To </a:t>
            </a:r>
            <a:r>
              <a:rPr lang="en-US" sz="32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count</a:t>
            </a: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how many times we execute a loop, we introduce a </a:t>
            </a:r>
            <a:r>
              <a:rPr lang="en-US" sz="32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counter variable that starts at 0</a:t>
            </a: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we add </a:t>
            </a:r>
            <a:r>
              <a:rPr lang="en-US" sz="32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one to it each time through the loop.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Shape 68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Summing in a Loop</a:t>
            </a:r>
          </a:p>
        </p:txBody>
      </p:sp>
      <p:sp>
        <p:nvSpPr>
          <p:cNvPr id="689" name="Shape 689"/>
          <p:cNvSpPr txBox="1"/>
          <p:nvPr/>
        </p:nvSpPr>
        <p:spPr>
          <a:xfrm>
            <a:off x="1741475" y="2649525"/>
            <a:ext cx="7506900" cy="332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zork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= 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'Before', </a:t>
            </a:r>
            <a:r>
              <a:rPr lang="en-US" sz="2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zork</a:t>
            </a:r>
            <a:r>
              <a:rPr lang="en-US" sz="26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thing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[9, 41, 12, 3, 74, 15]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zork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zork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+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thing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zork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, </a:t>
            </a:r>
            <a:r>
              <a:rPr lang="en-US" sz="26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thing</a:t>
            </a:r>
            <a:r>
              <a:rPr lang="en-US" sz="26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'After', </a:t>
            </a:r>
            <a:r>
              <a:rPr lang="en-US" sz="26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zork</a:t>
            </a:r>
            <a:r>
              <a:rPr lang="en-US" sz="26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sp>
        <p:nvSpPr>
          <p:cNvPr id="690" name="Shape 690"/>
          <p:cNvSpPr txBox="1"/>
          <p:nvPr/>
        </p:nvSpPr>
        <p:spPr>
          <a:xfrm>
            <a:off x="10261600" y="2209800"/>
            <a:ext cx="4219499" cy="4986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$</a:t>
            </a:r>
            <a:r>
              <a:rPr lang="en-US" sz="30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python countloop.py</a:t>
            </a:r>
            <a:r>
              <a:rPr lang="en-US" sz="30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Before </a:t>
            </a:r>
            <a:r>
              <a:rPr lang="en-US" sz="30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9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9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50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62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65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139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74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154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After </a:t>
            </a:r>
            <a:r>
              <a:rPr lang="en-US" sz="30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154</a:t>
            </a:r>
          </a:p>
        </p:txBody>
      </p:sp>
      <p:sp>
        <p:nvSpPr>
          <p:cNvPr id="691" name="Shape 691"/>
          <p:cNvSpPr txBox="1"/>
          <p:nvPr/>
        </p:nvSpPr>
        <p:spPr>
          <a:xfrm>
            <a:off x="1050925" y="7162899"/>
            <a:ext cx="14643000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To </a:t>
            </a:r>
            <a:r>
              <a:rPr lang="en-US" sz="32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add up </a:t>
            </a: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</a:t>
            </a:r>
            <a:r>
              <a:rPr lang="en-US" sz="32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value</a:t>
            </a: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we encounter in a loop,  we introduce a </a:t>
            </a:r>
            <a:r>
              <a:rPr lang="en-US" sz="32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sum variable that starts at 0</a:t>
            </a: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we add the </a:t>
            </a:r>
            <a:r>
              <a:rPr lang="en-US" sz="32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value</a:t>
            </a: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to the sum each time through the loop.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Shape 69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Finding the Average in a Loop</a:t>
            </a:r>
          </a:p>
        </p:txBody>
      </p:sp>
      <p:sp>
        <p:nvSpPr>
          <p:cNvPr id="697" name="Shape 697"/>
          <p:cNvSpPr txBox="1"/>
          <p:nvPr/>
        </p:nvSpPr>
        <p:spPr>
          <a:xfrm>
            <a:off x="838550" y="2717875"/>
            <a:ext cx="7984200" cy="4061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count = 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sum = 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'Before', </a:t>
            </a:r>
            <a:r>
              <a:rPr lang="en-US" sz="26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count,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sum</a:t>
            </a:r>
            <a:r>
              <a:rPr lang="en-US" sz="26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value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[9, 41, 12, 3, 74, 15]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count = count + 1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sum = sum + value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count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, 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sum,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value</a:t>
            </a:r>
            <a:r>
              <a:rPr lang="en-US" sz="26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'After', </a:t>
            </a:r>
            <a:r>
              <a:rPr lang="en-US" sz="26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count,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sum,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sum / count</a:t>
            </a:r>
            <a:r>
              <a:rPr lang="en-US" sz="26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sp>
        <p:nvSpPr>
          <p:cNvPr id="698" name="Shape 698"/>
          <p:cNvSpPr txBox="1"/>
          <p:nvPr/>
        </p:nvSpPr>
        <p:spPr>
          <a:xfrm>
            <a:off x="10034575" y="2441575"/>
            <a:ext cx="4540199" cy="4746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$ </a:t>
            </a:r>
            <a:r>
              <a:rPr lang="en-US" sz="30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python </a:t>
            </a:r>
            <a:r>
              <a:rPr lang="en-US" sz="3000" u="none" strike="noStrike" cap="none" dirty="0" err="1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averageloop.py</a:t>
            </a:r>
            <a:r>
              <a:rPr lang="en-US" sz="30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Before </a:t>
            </a:r>
            <a:r>
              <a:rPr lang="en-US" sz="30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0</a:t>
            </a:r>
            <a:r>
              <a:rPr lang="en-US" sz="30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0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</a:t>
            </a:r>
            <a:r>
              <a:rPr lang="en-US" sz="30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0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9</a:t>
            </a:r>
            <a:r>
              <a:rPr lang="en-US" sz="30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9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2</a:t>
            </a:r>
            <a:r>
              <a:rPr lang="en-US" sz="30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0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50</a:t>
            </a:r>
            <a:r>
              <a:rPr lang="en-US" sz="30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41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  <a:r>
              <a:rPr lang="en-US" sz="30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0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62</a:t>
            </a:r>
            <a:r>
              <a:rPr lang="en-US" sz="30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12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</a:t>
            </a:r>
            <a:r>
              <a:rPr lang="en-US" sz="30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0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65</a:t>
            </a:r>
            <a:r>
              <a:rPr lang="en-US" sz="30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5</a:t>
            </a:r>
            <a:r>
              <a:rPr lang="en-US" sz="30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0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139</a:t>
            </a:r>
            <a:r>
              <a:rPr lang="en-US" sz="30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74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6</a:t>
            </a:r>
            <a:r>
              <a:rPr lang="en-US" sz="30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0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154</a:t>
            </a:r>
            <a:r>
              <a:rPr lang="en-US" sz="30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15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After </a:t>
            </a: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6</a:t>
            </a:r>
            <a:r>
              <a:rPr lang="en-US" sz="30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0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154</a:t>
            </a:r>
            <a:r>
              <a:rPr lang="en-US" sz="3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0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25.666</a:t>
            </a:r>
          </a:p>
        </p:txBody>
      </p:sp>
      <p:sp>
        <p:nvSpPr>
          <p:cNvPr id="699" name="Shape 699"/>
          <p:cNvSpPr txBox="1"/>
          <p:nvPr/>
        </p:nvSpPr>
        <p:spPr>
          <a:xfrm>
            <a:off x="2952750" y="7188175"/>
            <a:ext cx="11087099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An </a:t>
            </a:r>
            <a:r>
              <a:rPr lang="en-US" sz="32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average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just combines the </a:t>
            </a:r>
            <a:r>
              <a:rPr lang="en-US" sz="32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counting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sum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patterns and </a:t>
            </a:r>
            <a:r>
              <a:rPr lang="en-US" sz="32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divides when the loop is done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Shape 70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Filtering in a Loop</a:t>
            </a:r>
          </a:p>
        </p:txBody>
      </p:sp>
      <p:sp>
        <p:nvSpPr>
          <p:cNvPr id="705" name="Shape 705"/>
          <p:cNvSpPr txBox="1"/>
          <p:nvPr/>
        </p:nvSpPr>
        <p:spPr>
          <a:xfrm>
            <a:off x="1703375" y="3219450"/>
            <a:ext cx="7687500" cy="2768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'Before</a:t>
            </a:r>
            <a:r>
              <a:rPr lang="en-US" sz="2600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value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[9, 41, 12, 3, 74, 15]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</a:t>
            </a:r>
            <a:r>
              <a:rPr lang="en-US" sz="26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value</a:t>
            </a:r>
            <a:r>
              <a:rPr lang="en-US" sz="26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 &gt; 20: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 	    print('Large number',value)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'After'</a:t>
            </a:r>
            <a:r>
              <a:rPr lang="en-US" sz="26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sp>
        <p:nvSpPr>
          <p:cNvPr id="706" name="Shape 706"/>
          <p:cNvSpPr txBox="1"/>
          <p:nvPr/>
        </p:nvSpPr>
        <p:spPr>
          <a:xfrm>
            <a:off x="10034586" y="3321050"/>
            <a:ext cx="3744899" cy="2768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$ </a:t>
            </a:r>
            <a:r>
              <a:rPr lang="en-US" sz="30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python search1.py</a:t>
            </a:r>
            <a:r>
              <a:rPr lang="en-US" sz="3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Before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Large number 41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Large number 74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After</a:t>
            </a:r>
          </a:p>
        </p:txBody>
      </p:sp>
      <p:sp>
        <p:nvSpPr>
          <p:cNvPr id="707" name="Shape 707"/>
          <p:cNvSpPr txBox="1"/>
          <p:nvPr/>
        </p:nvSpPr>
        <p:spPr>
          <a:xfrm>
            <a:off x="2692386" y="7046913"/>
            <a:ext cx="11087099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use an</a:t>
            </a:r>
            <a:r>
              <a:rPr lang="en-US" sz="36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if</a:t>
            </a:r>
            <a:r>
              <a:rPr lang="en-US" sz="3600" u="none" strike="noStrike" cap="none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statement 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 the </a:t>
            </a: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loop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to catch / filter the values we are looking for.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Shape 7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6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Search Using a Boolean Variable</a:t>
            </a:r>
          </a:p>
        </p:txBody>
      </p:sp>
      <p:sp>
        <p:nvSpPr>
          <p:cNvPr id="713" name="Shape 713"/>
          <p:cNvSpPr txBox="1"/>
          <p:nvPr/>
        </p:nvSpPr>
        <p:spPr>
          <a:xfrm>
            <a:off x="1703375" y="2970200"/>
            <a:ext cx="7707899" cy="387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found =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False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'Before', 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found</a:t>
            </a:r>
            <a:r>
              <a:rPr lang="en-US" sz="26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value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[9, 41, 12, 3, 74, 15] 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 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value == 3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  found =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True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 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found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, value</a:t>
            </a:r>
            <a:r>
              <a:rPr lang="en-US" sz="26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b="1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b="1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b="1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'After', </a:t>
            </a:r>
            <a:r>
              <a:rPr lang="en-US" sz="2600" b="1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found</a:t>
            </a:r>
            <a:r>
              <a:rPr lang="en-US" sz="2600" b="1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sp>
        <p:nvSpPr>
          <p:cNvPr id="714" name="Shape 714"/>
          <p:cNvSpPr txBox="1"/>
          <p:nvPr/>
        </p:nvSpPr>
        <p:spPr>
          <a:xfrm>
            <a:off x="10034586" y="2365375"/>
            <a:ext cx="3744899" cy="4984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$ </a:t>
            </a:r>
            <a:r>
              <a:rPr lang="en-US" sz="30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python search1.py</a:t>
            </a:r>
            <a:r>
              <a:rPr lang="en-US" sz="3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Before </a:t>
            </a:r>
            <a:r>
              <a:rPr lang="en-US" sz="30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False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False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9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False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41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False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12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True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True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74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True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15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After </a:t>
            </a:r>
            <a:r>
              <a:rPr lang="en-US" sz="30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True</a:t>
            </a:r>
          </a:p>
        </p:txBody>
      </p:sp>
      <p:sp>
        <p:nvSpPr>
          <p:cNvPr id="715" name="Shape 715"/>
          <p:cNvSpPr txBox="1"/>
          <p:nvPr/>
        </p:nvSpPr>
        <p:spPr>
          <a:xfrm>
            <a:off x="968200" y="7208974"/>
            <a:ext cx="14119500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If we just want to search and</a:t>
            </a:r>
            <a:r>
              <a:rPr lang="en-US" sz="3200" u="none" strike="noStrike" cap="none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2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know if a value was found</a:t>
            </a:r>
            <a:r>
              <a:rPr lang="en-US" sz="32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, </a:t>
            </a: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use a </a:t>
            </a:r>
            <a:r>
              <a:rPr lang="en-US" sz="32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variable</a:t>
            </a: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that starts at </a:t>
            </a:r>
            <a:r>
              <a:rPr lang="en-US" sz="32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False</a:t>
            </a: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is set to </a:t>
            </a:r>
            <a:r>
              <a:rPr lang="en-US" sz="32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True</a:t>
            </a: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as soon as we </a:t>
            </a:r>
            <a:r>
              <a:rPr lang="en-US" sz="32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find</a:t>
            </a: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what we are looking for.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Shape 7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How to Find the Smallest Value</a:t>
            </a:r>
          </a:p>
        </p:txBody>
      </p:sp>
      <p:sp>
        <p:nvSpPr>
          <p:cNvPr id="721" name="Shape 721"/>
          <p:cNvSpPr txBox="1"/>
          <p:nvPr/>
        </p:nvSpPr>
        <p:spPr>
          <a:xfrm>
            <a:off x="1620375" y="3009225"/>
            <a:ext cx="7995899" cy="332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260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largest_so_far</a:t>
            </a:r>
            <a:r>
              <a:rPr lang="en-US" sz="26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= -1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'Before', </a:t>
            </a:r>
            <a:r>
              <a:rPr lang="en-US" sz="260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largest_so_far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th</a:t>
            </a:r>
            <a:r>
              <a:rPr lang="en-US" sz="2600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e_num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[9, 41, 12, 3, 74, 15]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  if </a:t>
            </a:r>
            <a:r>
              <a:rPr lang="en-US" sz="2600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the_num</a:t>
            </a:r>
            <a:r>
              <a:rPr lang="en-US" sz="2600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&gt; </a:t>
            </a:r>
            <a:r>
              <a:rPr lang="en-US" sz="260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largest_so_far</a:t>
            </a:r>
            <a:r>
              <a:rPr lang="en-US" sz="2600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     </a:t>
            </a:r>
            <a:r>
              <a:rPr lang="en-US" sz="260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largest_so_far</a:t>
            </a:r>
            <a:r>
              <a:rPr lang="en-US" sz="26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600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the_num</a:t>
            </a:r>
            <a:endParaRPr lang="en-US" sz="2600" dirty="0">
              <a:solidFill>
                <a:srgbClr val="FF00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 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largest_so_far</a:t>
            </a:r>
            <a:r>
              <a:rPr lang="en-US" sz="26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,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the_num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Font typeface="Cabin"/>
              <a:buNone/>
            </a:pPr>
            <a:endParaRPr sz="2600" dirty="0">
              <a:solidFill>
                <a:srgbClr val="FF00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'After', </a:t>
            </a:r>
            <a:r>
              <a:rPr lang="en-US" sz="260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largest_so_far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sp>
        <p:nvSpPr>
          <p:cNvPr id="722" name="Shape 722"/>
          <p:cNvSpPr txBox="1"/>
          <p:nvPr/>
        </p:nvSpPr>
        <p:spPr>
          <a:xfrm>
            <a:off x="10261600" y="2286000"/>
            <a:ext cx="4219499" cy="4986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$</a:t>
            </a:r>
            <a:r>
              <a:rPr lang="en-US" sz="30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python </a:t>
            </a:r>
            <a:r>
              <a:rPr lang="en-US" sz="300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largest</a:t>
            </a:r>
            <a:r>
              <a:rPr lang="en-US" sz="30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.py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Before </a:t>
            </a:r>
            <a:r>
              <a:rPr lang="en-US" sz="300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9</a:t>
            </a: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 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9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41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 41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41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12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41</a:t>
            </a: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 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74</a:t>
            </a: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 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74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74</a:t>
            </a: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 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After </a:t>
            </a:r>
            <a:r>
              <a:rPr lang="en-US" sz="300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74</a:t>
            </a:r>
          </a:p>
        </p:txBody>
      </p:sp>
      <p:sp>
        <p:nvSpPr>
          <p:cNvPr id="723" name="Shape 723"/>
          <p:cNvSpPr txBox="1"/>
          <p:nvPr/>
        </p:nvSpPr>
        <p:spPr>
          <a:xfrm>
            <a:off x="906525" y="7194550"/>
            <a:ext cx="14757599" cy="111134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How would we change this to make it find the smallest value in the list?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Shape 7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Finding the Smallest Value</a:t>
            </a:r>
          </a:p>
        </p:txBody>
      </p:sp>
      <p:sp>
        <p:nvSpPr>
          <p:cNvPr id="729" name="Shape 729"/>
          <p:cNvSpPr txBox="1"/>
          <p:nvPr/>
        </p:nvSpPr>
        <p:spPr>
          <a:xfrm>
            <a:off x="1620375" y="3009225"/>
            <a:ext cx="7995899" cy="332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260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smallest_so_far</a:t>
            </a:r>
            <a:r>
              <a:rPr lang="en-US" sz="26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= -1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'Before', </a:t>
            </a:r>
            <a:r>
              <a:rPr lang="en-US" sz="260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smallest_so_far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th</a:t>
            </a:r>
            <a:r>
              <a:rPr lang="en-US" sz="2600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e_num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[9, 41, 12, 3, 74, 15]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  if </a:t>
            </a:r>
            <a:r>
              <a:rPr lang="en-US" sz="2600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the_num</a:t>
            </a:r>
            <a:r>
              <a:rPr lang="en-US" sz="2600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&lt; </a:t>
            </a:r>
            <a:r>
              <a:rPr lang="en-US" sz="260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smallest_so_far</a:t>
            </a:r>
            <a:r>
              <a:rPr lang="en-US" sz="2600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     </a:t>
            </a:r>
            <a:r>
              <a:rPr lang="en-US" sz="260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smallest_so_far</a:t>
            </a:r>
            <a:r>
              <a:rPr lang="en-US" sz="26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600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the_num</a:t>
            </a:r>
            <a:endParaRPr lang="en-US" sz="2600" dirty="0">
              <a:solidFill>
                <a:srgbClr val="FF00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 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smallest_so_far</a:t>
            </a:r>
            <a:r>
              <a:rPr lang="en-US" sz="26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,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the_num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Font typeface="Cabin"/>
              <a:buNone/>
            </a:pPr>
            <a:endParaRPr sz="2600" dirty="0">
              <a:solidFill>
                <a:srgbClr val="FF00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'After', </a:t>
            </a:r>
            <a:r>
              <a:rPr lang="en-US" sz="260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smallest_so_far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sp>
        <p:nvSpPr>
          <p:cNvPr id="730" name="Shape 730"/>
          <p:cNvSpPr txBox="1"/>
          <p:nvPr/>
        </p:nvSpPr>
        <p:spPr>
          <a:xfrm>
            <a:off x="906525" y="7194551"/>
            <a:ext cx="14757599" cy="9921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switched the variable name to </a:t>
            </a:r>
            <a:r>
              <a:rPr lang="en-US" sz="3200" dirty="0" err="1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smallest_so_far</a:t>
            </a:r>
            <a:r>
              <a:rPr lang="en-US" sz="32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switched the </a:t>
            </a:r>
            <a:r>
              <a:rPr lang="en-US" sz="3200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&gt;</a:t>
            </a:r>
            <a:r>
              <a:rPr lang="en-US" sz="32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to </a:t>
            </a:r>
            <a:r>
              <a:rPr lang="en-US" sz="3200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&lt;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Shape 7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Finding the Smallest Value</a:t>
            </a:r>
          </a:p>
        </p:txBody>
      </p:sp>
      <p:sp>
        <p:nvSpPr>
          <p:cNvPr id="729" name="Shape 729"/>
          <p:cNvSpPr txBox="1"/>
          <p:nvPr/>
        </p:nvSpPr>
        <p:spPr>
          <a:xfrm>
            <a:off x="1620375" y="3009225"/>
            <a:ext cx="7995899" cy="332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260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smallest_so_far</a:t>
            </a:r>
            <a:r>
              <a:rPr lang="en-US" sz="26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= -1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'Before', </a:t>
            </a:r>
            <a:r>
              <a:rPr lang="en-US" sz="260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smallest_so_far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th</a:t>
            </a:r>
            <a:r>
              <a:rPr lang="en-US" sz="2600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e_num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[9, 41, 12, 3, 74, 15]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  if </a:t>
            </a:r>
            <a:r>
              <a:rPr lang="en-US" sz="2600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the_num</a:t>
            </a:r>
            <a:r>
              <a:rPr lang="en-US" sz="2600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&lt; </a:t>
            </a:r>
            <a:r>
              <a:rPr lang="en-US" sz="260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smallest_so_far</a:t>
            </a:r>
            <a:r>
              <a:rPr lang="en-US" sz="2600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     </a:t>
            </a:r>
            <a:r>
              <a:rPr lang="en-US" sz="260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smallest_so_far</a:t>
            </a:r>
            <a:r>
              <a:rPr lang="en-US" sz="26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600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the_num</a:t>
            </a:r>
            <a:endParaRPr lang="en-US" sz="2600" dirty="0">
              <a:solidFill>
                <a:srgbClr val="FF00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 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smallest_so_far</a:t>
            </a:r>
            <a:r>
              <a:rPr lang="en-US" sz="2600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,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dirty="0" err="1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the_num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Font typeface="Cabin"/>
              <a:buNone/>
            </a:pPr>
            <a:endParaRPr sz="2600" dirty="0">
              <a:solidFill>
                <a:srgbClr val="FF00FF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'After', </a:t>
            </a:r>
            <a:r>
              <a:rPr lang="en-US" sz="2600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smallest_so_far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sp>
        <p:nvSpPr>
          <p:cNvPr id="730" name="Shape 730"/>
          <p:cNvSpPr txBox="1"/>
          <p:nvPr/>
        </p:nvSpPr>
        <p:spPr>
          <a:xfrm>
            <a:off x="906525" y="7194551"/>
            <a:ext cx="14757599" cy="9921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switched the variable name to </a:t>
            </a:r>
            <a:r>
              <a:rPr lang="en-US" sz="3200" dirty="0" err="1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smallest_so_far</a:t>
            </a:r>
            <a:r>
              <a:rPr lang="en-US" sz="32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switched the </a:t>
            </a:r>
            <a:r>
              <a:rPr lang="en-US" sz="3200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&gt;</a:t>
            </a:r>
            <a:r>
              <a:rPr lang="en-US" sz="32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to </a:t>
            </a:r>
            <a:r>
              <a:rPr lang="en-US" sz="3200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&lt;</a:t>
            </a:r>
          </a:p>
        </p:txBody>
      </p:sp>
      <p:sp>
        <p:nvSpPr>
          <p:cNvPr id="5" name="Shape 737"/>
          <p:cNvSpPr txBox="1"/>
          <p:nvPr/>
        </p:nvSpPr>
        <p:spPr>
          <a:xfrm>
            <a:off x="10261600" y="2286000"/>
            <a:ext cx="4219499" cy="4986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$</a:t>
            </a:r>
            <a:r>
              <a:rPr lang="en-US" sz="30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python </a:t>
            </a:r>
            <a:r>
              <a:rPr lang="en-US" sz="300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smallbad</a:t>
            </a:r>
            <a:r>
              <a:rPr lang="en-US" sz="30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.py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Before </a:t>
            </a:r>
            <a:r>
              <a:rPr lang="en-US" sz="300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-1</a:t>
            </a: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 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9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-1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 41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-1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12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-1</a:t>
            </a: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 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-1</a:t>
            </a: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 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74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-1</a:t>
            </a:r>
            <a:r>
              <a:rPr lang="en-US" sz="30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 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15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After </a:t>
            </a:r>
            <a:r>
              <a:rPr lang="en-US" sz="300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1657758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Shape 743"/>
          <p:cNvSpPr txBox="1"/>
          <p:nvPr/>
        </p:nvSpPr>
        <p:spPr>
          <a:xfrm>
            <a:off x="1459175" y="2133500"/>
            <a:ext cx="7748399" cy="4984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smallest =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None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'Before</a:t>
            </a:r>
            <a:r>
              <a:rPr lang="en-US" sz="2600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value 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[9, 41, 12, 3, 74, 15]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smallest </a:t>
            </a:r>
            <a:r>
              <a:rPr lang="en-US" sz="260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is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None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    smallest 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= value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6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elif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value &lt; 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smallest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        smallest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= value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smallest, </a:t>
            </a:r>
            <a:r>
              <a:rPr lang="en-US" sz="26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value</a:t>
            </a:r>
            <a:r>
              <a:rPr lang="en-US" sz="26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'After', 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smallest</a:t>
            </a:r>
            <a:r>
              <a:rPr lang="en-US" sz="26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sp>
        <p:nvSpPr>
          <p:cNvPr id="744" name="Shape 744"/>
          <p:cNvSpPr txBox="1"/>
          <p:nvPr/>
        </p:nvSpPr>
        <p:spPr>
          <a:xfrm>
            <a:off x="10225086" y="2327275"/>
            <a:ext cx="3797399" cy="4984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$</a:t>
            </a:r>
            <a:r>
              <a:rPr lang="en-US" sz="30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python smallest.py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Before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9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9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9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41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9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12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74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  <a:r>
              <a:rPr lang="en-US" sz="30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15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0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After </a:t>
            </a:r>
            <a:r>
              <a:rPr lang="en-US" sz="30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3</a:t>
            </a:r>
          </a:p>
        </p:txBody>
      </p:sp>
      <p:sp>
        <p:nvSpPr>
          <p:cNvPr id="745" name="Shape 745"/>
          <p:cNvSpPr txBox="1"/>
          <p:nvPr/>
        </p:nvSpPr>
        <p:spPr>
          <a:xfrm>
            <a:off x="695325" y="7118299"/>
            <a:ext cx="14859000" cy="11684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still have a variable that is the </a:t>
            </a:r>
            <a:r>
              <a:rPr lang="en-US" sz="32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smallest</a:t>
            </a:r>
            <a:r>
              <a:rPr lang="en-US" sz="32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so far.  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first time through the loop 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smallest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is </a:t>
            </a:r>
            <a:r>
              <a:rPr lang="en-US" sz="32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None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, so we take the first </a:t>
            </a:r>
            <a:r>
              <a:rPr lang="en-US" sz="32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value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to be the </a:t>
            </a:r>
            <a:r>
              <a:rPr lang="en-US" sz="32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smallest</a:t>
            </a:r>
            <a:r>
              <a:rPr lang="en-US" sz="32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.</a:t>
            </a:r>
          </a:p>
        </p:txBody>
      </p:sp>
      <p:sp>
        <p:nvSpPr>
          <p:cNvPr id="746" name="Shape 74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Finding the Smallest Value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Shape 75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</a:t>
            </a:r>
            <a:r>
              <a:rPr lang="en-US" sz="7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76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is</a:t>
            </a: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</a:t>
            </a:r>
            <a:r>
              <a:rPr lang="en-US" sz="7600" u="none" strike="noStrike" cap="none">
                <a:solidFill>
                  <a:srgbClr val="FF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is not</a:t>
            </a: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Operators</a:t>
            </a:r>
          </a:p>
        </p:txBody>
      </p:sp>
      <p:sp>
        <p:nvSpPr>
          <p:cNvPr id="752" name="Shape 752"/>
          <p:cNvSpPr txBox="1">
            <a:spLocks noGrp="1"/>
          </p:cNvSpPr>
          <p:nvPr>
            <p:ph type="body" idx="1"/>
          </p:nvPr>
        </p:nvSpPr>
        <p:spPr>
          <a:xfrm>
            <a:off x="8616824" y="2603500"/>
            <a:ext cx="6470875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583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Python has an</a:t>
            </a:r>
            <a:r>
              <a:rPr lang="en-US" sz="34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400" u="none" strike="noStrike" cap="none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is</a:t>
            </a:r>
            <a:r>
              <a:rPr lang="en-US" sz="34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opera</a:t>
            </a:r>
            <a:r>
              <a:rPr lang="en-US" sz="34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</a:t>
            </a:r>
            <a:r>
              <a:rPr lang="en-US" sz="34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or that can be used in logical expressions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Implies </a:t>
            </a:r>
            <a:r>
              <a:rPr lang="en-US" sz="34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“</a:t>
            </a:r>
            <a:r>
              <a:rPr lang="en-US" sz="34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is the same as</a:t>
            </a:r>
            <a:r>
              <a:rPr lang="en-US" sz="34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”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Similar to, but stronger than </a:t>
            </a:r>
            <a:r>
              <a:rPr lang="en-US" sz="3400" u="none" strike="noStrike" cap="none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==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is not</a:t>
            </a:r>
            <a:r>
              <a:rPr lang="en-US" sz="34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  <a:r>
              <a:rPr lang="en-US" sz="34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also is a logical operator</a:t>
            </a:r>
          </a:p>
        </p:txBody>
      </p:sp>
      <p:sp>
        <p:nvSpPr>
          <p:cNvPr id="753" name="Shape 753"/>
          <p:cNvSpPr txBox="1"/>
          <p:nvPr/>
        </p:nvSpPr>
        <p:spPr>
          <a:xfrm>
            <a:off x="874425" y="2962250"/>
            <a:ext cx="7742400" cy="4984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smallest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None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('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Before</a:t>
            </a:r>
            <a:r>
              <a:rPr lang="en-US" sz="26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value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[3, 41, 12, 9, 74, 15]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smallest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is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None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   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smallest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value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6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elif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value &lt; 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smallest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   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smallest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value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smallest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, value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endParaRPr lang="en-US" sz="26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'After', 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smallest</a:t>
            </a:r>
            <a:r>
              <a:rPr lang="en-US" sz="26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Shape 76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Summary</a:t>
            </a:r>
          </a:p>
        </p:txBody>
      </p:sp>
      <p:sp>
        <p:nvSpPr>
          <p:cNvPr id="758" name="Shape 758"/>
          <p:cNvSpPr txBox="1">
            <a:spLocks noGrp="1"/>
          </p:cNvSpPr>
          <p:nvPr>
            <p:ph type="body" idx="1"/>
          </p:nvPr>
        </p:nvSpPr>
        <p:spPr>
          <a:xfrm>
            <a:off x="1809750" y="2603500"/>
            <a:ext cx="6826250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685800" marR="0" lvl="0" indent="-3944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While loops (indefinite)</a:t>
            </a:r>
          </a:p>
          <a:p>
            <a:pPr marL="685800" marR="0" lvl="0" indent="-394461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Infinite loops</a:t>
            </a:r>
          </a:p>
          <a:p>
            <a:pPr marL="685800" marR="0" lvl="0" indent="-394461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Using break</a:t>
            </a:r>
          </a:p>
          <a:p>
            <a:pPr marL="685800" marR="0" lvl="0" indent="-394462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Using continue</a:t>
            </a:r>
          </a:p>
          <a:p>
            <a:pPr marL="685800" marR="0" lvl="0" indent="-394462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None constants and variables</a:t>
            </a:r>
            <a:endParaRPr lang="en-US" sz="3600" u="none" strike="noStrike" cap="none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759" name="Shape 759"/>
          <p:cNvSpPr txBox="1">
            <a:spLocks noGrp="1"/>
          </p:cNvSpPr>
          <p:nvPr>
            <p:ph type="body" idx="4294967295"/>
          </p:nvPr>
        </p:nvSpPr>
        <p:spPr>
          <a:xfrm>
            <a:off x="9036050" y="2755900"/>
            <a:ext cx="6051650" cy="57023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685800" marR="0" lvl="0" indent="-394462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For loops (definite)</a:t>
            </a:r>
          </a:p>
          <a:p>
            <a:pPr marL="685800" marR="0" lvl="0" indent="-394462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Iteration variables</a:t>
            </a:r>
          </a:p>
          <a:p>
            <a:pPr marL="685800" marR="0" lvl="0" indent="-394462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Loop idioms</a:t>
            </a:r>
          </a:p>
          <a:p>
            <a:pPr marL="685800" marR="0" lvl="0" indent="-394462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Largest or smallest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Shape 5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3600" dirty="0">
                <a:solidFill>
                  <a:srgbClr val="FFFF00"/>
                </a:solidFill>
              </a:rPr>
              <a:t>Acknowledgements / Contributions</a:t>
            </a:r>
          </a:p>
        </p:txBody>
      </p:sp>
      <p:sp>
        <p:nvSpPr>
          <p:cNvPr id="549" name="Shape 549"/>
          <p:cNvSpPr txBox="1"/>
          <p:nvPr/>
        </p:nvSpPr>
        <p:spPr>
          <a:xfrm>
            <a:off x="1155700" y="2171403"/>
            <a:ext cx="6797699" cy="594389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>
                <a:solidFill>
                  <a:srgbClr val="FFFFFF"/>
                </a:solidFill>
              </a:rPr>
              <a:t>These slides are Copyright 2010-  Charles R. Severance (</a:t>
            </a:r>
            <a:r>
              <a:rPr lang="en-US" sz="1800" u="sng" dirty="0">
                <a:solidFill>
                  <a:srgbClr val="FFFF00"/>
                </a:solidFill>
                <a:hlinkClick r:id="rId3"/>
              </a:rPr>
              <a:t>www.dr-chuck.com</a:t>
            </a:r>
            <a:r>
              <a:rPr lang="en-US" sz="1800" dirty="0">
                <a:solidFill>
                  <a:srgbClr val="FFFFFF"/>
                </a:solidFill>
              </a:rPr>
              <a:t>) of the University of Michigan School of Information and made available under a Creative Commons Attribution 4.0 License.  Please maintain this last slide in all copies of the document to comply with the attribution requirements of the license.  If you make a change, feel free to add your name and organization to the list of contributors on this page as you republish the materials.</a:t>
            </a:r>
          </a:p>
          <a:p>
            <a:pPr lvl="0" rtl="0">
              <a:spcBef>
                <a:spcPts val="0"/>
              </a:spcBef>
              <a:buNone/>
            </a:pPr>
            <a:endParaRPr sz="1800" dirty="0">
              <a:solidFill>
                <a:srgbClr val="FFFFFF"/>
              </a:solidFill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-US" sz="1800" dirty="0">
                <a:solidFill>
                  <a:srgbClr val="FFFFFF"/>
                </a:solidFill>
              </a:rPr>
              <a:t>Initial Development: Charles Severance, University of Michigan School of Information</a:t>
            </a:r>
          </a:p>
          <a:p>
            <a:pPr lvl="0" rtl="0">
              <a:spcBef>
                <a:spcPts val="0"/>
              </a:spcBef>
              <a:buNone/>
            </a:pPr>
            <a:endParaRPr sz="1800" dirty="0">
              <a:solidFill>
                <a:srgbClr val="FFFFFF"/>
              </a:solidFill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-US" sz="1800" dirty="0">
                <a:solidFill>
                  <a:srgbClr val="FFFFFF"/>
                </a:solidFill>
              </a:rPr>
              <a:t>Slides condensed into an 8 deck series aimed at younger learners in China by Jeremy Pedersen.</a:t>
            </a:r>
            <a:endParaRPr sz="1800" dirty="0">
              <a:solidFill>
                <a:srgbClr val="FFFFFF"/>
              </a:solidFill>
            </a:endParaRPr>
          </a:p>
        </p:txBody>
      </p:sp>
      <p:pic>
        <p:nvPicPr>
          <p:cNvPr id="551" name="Shape 551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897687" y="1170103"/>
            <a:ext cx="1968599" cy="668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51382963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&amp; Subtitle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</TotalTime>
  <Words>2793</Words>
  <Application>Microsoft Macintosh PowerPoint</Application>
  <PresentationFormat>Custom</PresentationFormat>
  <Paragraphs>547</Paragraphs>
  <Slides>58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6" baseType="lpstr">
      <vt:lpstr>Cabin</vt:lpstr>
      <vt:lpstr>ヒラギノ角ゴ ProN W3</vt:lpstr>
      <vt:lpstr>Arial</vt:lpstr>
      <vt:lpstr>Comic Sans MS</vt:lpstr>
      <vt:lpstr>Courier</vt:lpstr>
      <vt:lpstr>Courier New</vt:lpstr>
      <vt:lpstr>Gill Sans</vt:lpstr>
      <vt:lpstr>Title &amp; Subtitle</vt:lpstr>
      <vt:lpstr>Loops and Iteration</vt:lpstr>
      <vt:lpstr>But First! A Quick Review</vt:lpstr>
      <vt:lpstr>Try/Except</vt:lpstr>
      <vt:lpstr>One Way Decisions</vt:lpstr>
      <vt:lpstr>Nested Decisions</vt:lpstr>
      <vt:lpstr>Two Way Decisions</vt:lpstr>
      <vt:lpstr>Multi-Way Decisions</vt:lpstr>
      <vt:lpstr>Loops</vt:lpstr>
      <vt:lpstr>Repeated Steps</vt:lpstr>
      <vt:lpstr>An Infinite Loop</vt:lpstr>
      <vt:lpstr>Another Loop</vt:lpstr>
      <vt:lpstr>Breaking Out of a Loop</vt:lpstr>
      <vt:lpstr>Breaking Out of a Loop</vt:lpstr>
      <vt:lpstr>Finishing an Iteration with continue</vt:lpstr>
      <vt:lpstr>Finishing an Iteration with continue</vt:lpstr>
      <vt:lpstr>Indefinite Loops</vt:lpstr>
      <vt:lpstr>Definite Loops</vt:lpstr>
      <vt:lpstr>Definite Loops</vt:lpstr>
      <vt:lpstr>A Simple Definite Loop</vt:lpstr>
      <vt:lpstr>A Definite Loop with Strings</vt:lpstr>
      <vt:lpstr>A Simple Definite Loop</vt:lpstr>
      <vt:lpstr>Looking at “in”...</vt:lpstr>
      <vt:lpstr>PowerPoint Presentation</vt:lpstr>
      <vt:lpstr>PowerPoint Presentation</vt:lpstr>
      <vt:lpstr>Loop Idioms: What We Do in Loops  Note:   Even though these examples are simple, the patterns apply to all kinds of loops</vt:lpstr>
      <vt:lpstr>Making “smart” loops</vt:lpstr>
      <vt:lpstr>Looping Through a Set</vt:lpstr>
      <vt:lpstr>What is the Largest Number?</vt:lpstr>
      <vt:lpstr>What is the Largest Number?</vt:lpstr>
      <vt:lpstr>What is the Largest Number?</vt:lpstr>
      <vt:lpstr>What is the Largest Number?</vt:lpstr>
      <vt:lpstr>What is the Largest Number?</vt:lpstr>
      <vt:lpstr>What is the Largest Number?</vt:lpstr>
      <vt:lpstr>What is the Largest Number?</vt:lpstr>
      <vt:lpstr>What is the Largest Number?</vt:lpstr>
      <vt:lpstr>What is the Largest Number?</vt:lpstr>
      <vt:lpstr>What is the Largest Number?</vt:lpstr>
      <vt:lpstr>What is the Largest Number?</vt:lpstr>
      <vt:lpstr>What is the Largest Number?</vt:lpstr>
      <vt:lpstr>What is the Largest Number?</vt:lpstr>
      <vt:lpstr>What is the Largest Number?</vt:lpstr>
      <vt:lpstr>What is the Largest Number?</vt:lpstr>
      <vt:lpstr>What is the Largest Number?</vt:lpstr>
      <vt:lpstr>What is the Largest Number?</vt:lpstr>
      <vt:lpstr>Finding the Largest Value</vt:lpstr>
      <vt:lpstr>More Loop Patterns…</vt:lpstr>
      <vt:lpstr>Counting in a Loop</vt:lpstr>
      <vt:lpstr>Summing in a Loop</vt:lpstr>
      <vt:lpstr>Finding the Average in a Loop</vt:lpstr>
      <vt:lpstr>Filtering in a Loop</vt:lpstr>
      <vt:lpstr>Search Using a Boolean Variable</vt:lpstr>
      <vt:lpstr>How to Find the Smallest Value</vt:lpstr>
      <vt:lpstr>Finding the Smallest Value</vt:lpstr>
      <vt:lpstr>Finding the Smallest Value</vt:lpstr>
      <vt:lpstr>Finding the Smallest Value</vt:lpstr>
      <vt:lpstr>The is and is not Operators</vt:lpstr>
      <vt:lpstr>Summary</vt:lpstr>
      <vt:lpstr>Acknowledgements / Contributions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Loops and Iteration</dc:title>
  <cp:lastModifiedBy>Microsoft Office User</cp:lastModifiedBy>
  <cp:revision>69</cp:revision>
  <dcterms:modified xsi:type="dcterms:W3CDTF">2018-12-01T11:38:34Z</dcterms:modified>
</cp:coreProperties>
</file>