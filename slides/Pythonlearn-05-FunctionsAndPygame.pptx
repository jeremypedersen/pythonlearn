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44"/>
  </p:notesMasterIdLst>
  <p:sldIdLst>
    <p:sldId id="256" r:id="rId2"/>
    <p:sldId id="282" r:id="rId3"/>
    <p:sldId id="258" r:id="rId4"/>
    <p:sldId id="259" r:id="rId5"/>
    <p:sldId id="261" r:id="rId6"/>
    <p:sldId id="280" r:id="rId7"/>
    <p:sldId id="281" r:id="rId8"/>
    <p:sldId id="266" r:id="rId9"/>
    <p:sldId id="267" r:id="rId10"/>
    <p:sldId id="268" r:id="rId11"/>
    <p:sldId id="284" r:id="rId12"/>
    <p:sldId id="269" r:id="rId13"/>
    <p:sldId id="270" r:id="rId14"/>
    <p:sldId id="271" r:id="rId15"/>
    <p:sldId id="265" r:id="rId16"/>
    <p:sldId id="283" r:id="rId17"/>
    <p:sldId id="276" r:id="rId18"/>
    <p:sldId id="285" r:id="rId19"/>
    <p:sldId id="286" r:id="rId20"/>
    <p:sldId id="287" r:id="rId21"/>
    <p:sldId id="288" r:id="rId22"/>
    <p:sldId id="289" r:id="rId23"/>
    <p:sldId id="299" r:id="rId24"/>
    <p:sldId id="296" r:id="rId25"/>
    <p:sldId id="292" r:id="rId26"/>
    <p:sldId id="293" r:id="rId27"/>
    <p:sldId id="294" r:id="rId28"/>
    <p:sldId id="295" r:id="rId29"/>
    <p:sldId id="298" r:id="rId30"/>
    <p:sldId id="329" r:id="rId31"/>
    <p:sldId id="300" r:id="rId32"/>
    <p:sldId id="290" r:id="rId33"/>
    <p:sldId id="291" r:id="rId34"/>
    <p:sldId id="301" r:id="rId35"/>
    <p:sldId id="302" r:id="rId36"/>
    <p:sldId id="303" r:id="rId37"/>
    <p:sldId id="304" r:id="rId38"/>
    <p:sldId id="305" r:id="rId39"/>
    <p:sldId id="306" r:id="rId40"/>
    <p:sldId id="308" r:id="rId41"/>
    <p:sldId id="330" r:id="rId42"/>
    <p:sldId id="331" r:id="rId43"/>
  </p:sldIdLst>
  <p:sldSz cx="16256000" cy="9144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7F23"/>
    <a:srgbClr val="FF40FF"/>
    <a:srgbClr val="00FF00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34"/>
    <p:restoredTop sz="94479"/>
  </p:normalViewPr>
  <p:slideViewPr>
    <p:cSldViewPr snapToGrid="0" snapToObjects="1">
      <p:cViewPr varScale="1">
        <p:scale>
          <a:sx n="77" d="100"/>
          <a:sy n="77" d="100"/>
        </p:scale>
        <p:origin x="1120" y="192"/>
      </p:cViewPr>
      <p:guideLst>
        <p:guide orient="horz" pos="2880"/>
        <p:guide pos="5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0417696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074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>
                <a:solidFill>
                  <a:schemeClr val="dk2"/>
                </a:solidFill>
              </a:rPr>
              <a:t>Note from Chuck.  If you are using these materials, you can remove the UM logo and replace it with your own, but please retain the CC-BY logo on the first page as well as retain the entire last page.</a:t>
            </a:r>
          </a:p>
        </p:txBody>
      </p:sp>
      <p:sp>
        <p:nvSpPr>
          <p:cNvPr id="202" name="Shape 202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615348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Shape 2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3" name="Shape 23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5387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Shape 23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39" name="Shape 2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57912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7551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59" name="Shape 25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662304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06" name="Shape 30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1506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4" name="Shape 3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84697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31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0" name="Shape 320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453172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4" name="Shape 3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91890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Shape 32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27" name="Shape 32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92187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3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36" name="Shape 33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7975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Shape 3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43" name="Shape 34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01522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9" name="Shape 2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37412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Shape 2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299" name="Shape 2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9933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96977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Shape 31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14" name="Shape 31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61322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9649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8718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522736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11002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022591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93476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3345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387500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92301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96926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53065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53300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70158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09933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445782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93215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992589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48987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680498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902805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8774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956427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Shape 38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  <p:sp>
        <p:nvSpPr>
          <p:cNvPr id="388" name="Shape 38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39818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Shape 54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Shape 54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9435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40" name="Shape 40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932000" cy="17363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196" name="Shape 196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13932000" cy="57023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marL="711200" lvl="0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 sz="4000"/>
            </a:lvl1pPr>
            <a:lvl2pPr marL="1003300" lvl="1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2pPr>
            <a:lvl3pPr marL="1295400" lvl="2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3pPr>
            <a:lvl4pPr marL="1600200" lvl="3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4pPr>
            <a:lvl5pPr marL="1892300" lvl="4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5pPr>
            <a:lvl6pPr marL="2349500" lvl="5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6pPr>
            <a:lvl7pPr marL="2806700" lvl="6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7pPr>
            <a:lvl8pPr marL="3263900" lvl="7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8pPr>
            <a:lvl9pPr marL="3721100" lvl="8" indent="-142494" algn="l" rtl="0"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Font typeface="Cabin"/>
              <a:buChar char="•"/>
              <a:defRPr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hape 195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932000" cy="1736336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9016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30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Shape 156"/>
          <p:cNvSpPr txBox="1">
            <a:spLocks noGrp="1"/>
          </p:cNvSpPr>
          <p:nvPr>
            <p:ph type="title"/>
          </p:nvPr>
        </p:nvSpPr>
        <p:spPr>
          <a:xfrm>
            <a:off x="1155700" y="789709"/>
            <a:ext cx="13931900" cy="175029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57336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1155700" y="1536700"/>
            <a:ext cx="13931900" cy="3086099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1155700" y="4711700"/>
            <a:ext cx="13931900" cy="10541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ctr" rtl="0">
              <a:spcBef>
                <a:spcPts val="0"/>
              </a:spcBef>
              <a:spcAft>
                <a:spcPts val="0"/>
              </a:spcAft>
              <a:defRPr/>
            </a:lvl1pPr>
            <a:lvl2pPr marL="0" marR="0" lvl="1" indent="0" algn="ctr" rtl="0">
              <a:spcBef>
                <a:spcPts val="0"/>
              </a:spcBef>
              <a:spcAft>
                <a:spcPts val="0"/>
              </a:spcAft>
              <a:defRPr/>
            </a:lvl2pPr>
            <a:lvl3pPr marL="0" marR="0" lvl="2" indent="0" algn="ctr" rtl="0">
              <a:spcBef>
                <a:spcPts val="0"/>
              </a:spcBef>
              <a:spcAft>
                <a:spcPts val="0"/>
              </a:spcAft>
              <a:defRPr/>
            </a:lvl3pPr>
            <a:lvl4pPr marL="0" marR="0" lvl="3" indent="0" algn="ctr" rtl="0">
              <a:spcBef>
                <a:spcPts val="0"/>
              </a:spcBef>
              <a:spcAft>
                <a:spcPts val="0"/>
              </a:spcAft>
              <a:defRPr/>
            </a:lvl4pPr>
            <a:lvl5pPr marL="0" marR="0" lvl="4" indent="0" algn="ctr" rtl="0">
              <a:spcBef>
                <a:spcPts val="0"/>
              </a:spcBef>
              <a:spcAft>
                <a:spcPts val="0"/>
              </a:spcAft>
              <a:defRPr/>
            </a:lvl5pPr>
            <a:lvl6pPr marL="457200" marR="0" lvl="5" indent="0" algn="ctr" rtl="0">
              <a:spcBef>
                <a:spcPts val="0"/>
              </a:spcBef>
              <a:spcAft>
                <a:spcPts val="0"/>
              </a:spcAft>
              <a:defRPr/>
            </a:lvl6pPr>
            <a:lvl7pPr marL="914400" marR="0" lvl="6" indent="0" algn="ctr" rtl="0">
              <a:spcBef>
                <a:spcPts val="0"/>
              </a:spcBef>
              <a:spcAft>
                <a:spcPts val="0"/>
              </a:spcAft>
              <a:defRPr/>
            </a:lvl7pPr>
            <a:lvl8pPr marL="1371600" marR="0" lvl="7" indent="0" algn="ctr" rtl="0">
              <a:spcBef>
                <a:spcPts val="0"/>
              </a:spcBef>
              <a:spcAft>
                <a:spcPts val="0"/>
              </a:spcAft>
              <a:defRPr/>
            </a:lvl8pPr>
            <a:lvl9pPr marL="1828800" marR="0" lvl="8" indent="0" algn="ctr" rtl="0">
              <a:spcBef>
                <a:spcPts val="0"/>
              </a:spcBef>
              <a:spcAft>
                <a:spcPts val="0"/>
              </a:spcAft>
              <a:defRPr/>
            </a:lvl9pPr>
          </a:lstStyle>
          <a:p>
            <a:endParaRPr dirty="0"/>
          </a:p>
        </p:txBody>
      </p:sp>
      <p:sp>
        <p:nvSpPr>
          <p:cNvPr id="5" name="Rectangle 3"/>
          <p:cNvSpPr>
            <a:spLocks noChangeArrowheads="1"/>
          </p:cNvSpPr>
          <p:nvPr userDrawn="1"/>
        </p:nvSpPr>
        <p:spPr bwMode="auto">
          <a:xfrm>
            <a:off x="0" y="0"/>
            <a:ext cx="16256000" cy="768096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  <p:sp>
        <p:nvSpPr>
          <p:cNvPr id="8" name="Rectangle 3"/>
          <p:cNvSpPr>
            <a:spLocks noChangeArrowheads="1"/>
          </p:cNvSpPr>
          <p:nvPr userDrawn="1"/>
        </p:nvSpPr>
        <p:spPr bwMode="auto">
          <a:xfrm>
            <a:off x="0" y="8357616"/>
            <a:ext cx="16256000" cy="786384"/>
          </a:xfrm>
          <a:prstGeom prst="rect">
            <a:avLst/>
          </a:prstGeom>
          <a:solidFill>
            <a:schemeClr val="bg2"/>
          </a:solidFill>
          <a:ln>
            <a:noFill/>
          </a:ln>
          <a:extLst/>
        </p:spPr>
        <p:txBody>
          <a:bodyPr/>
          <a:lstStyle>
            <a:lvl1pPr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1pPr>
            <a:lvl2pPr marL="742950" indent="-28575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2pPr>
            <a:lvl3pPr marL="11430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3pPr>
            <a:lvl4pPr marL="16002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4pPr>
            <a:lvl5pPr marL="2057400" indent="-228600" algn="ctr"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Gill Sans" charset="0"/>
                <a:ea typeface="ヒラギノ角ゴ ProN W3" charset="-128"/>
                <a:sym typeface="Gill Sans" charset="0"/>
              </a:defRPr>
            </a:lvl9pPr>
          </a:lstStyle>
          <a:p>
            <a:pPr eaLnBrk="1" hangingPunct="1">
              <a:defRPr/>
            </a:pPr>
            <a:endParaRPr lang="en-US" altLang="en-US" sz="36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701" r:id="rId2"/>
    <p:sldLayoutId id="2147483704" r:id="rId3"/>
    <p:sldLayoutId id="2147483705" r:id="rId4"/>
    <p:sldLayoutId id="2147483706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72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40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www.pythonlearn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inventwithpython.com/pygame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r-chuck.com/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 and </a:t>
            </a:r>
            <a:r>
              <a:rPr lang="en-US" sz="7600" u="none" strike="noStrike" cap="none" dirty="0" err="1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PyGame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05" name="Shape 20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4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Class 5</a:t>
            </a:r>
          </a:p>
        </p:txBody>
      </p:sp>
      <p:sp>
        <p:nvSpPr>
          <p:cNvPr id="206" name="Shape 206"/>
          <p:cNvSpPr txBox="1"/>
          <p:nvPr/>
        </p:nvSpPr>
        <p:spPr>
          <a:xfrm>
            <a:off x="1940712" y="7251649"/>
            <a:ext cx="4287516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0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for Everybody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000" u="sng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www.py4e.com</a:t>
            </a:r>
          </a:p>
        </p:txBody>
      </p:sp>
      <p:pic>
        <p:nvPicPr>
          <p:cNvPr id="207" name="Shape 207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957824" y="7425500"/>
            <a:ext cx="1968599" cy="66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hape 206">
            <a:extLst>
              <a:ext uri="{FF2B5EF4-FFF2-40B4-BE49-F238E27FC236}">
                <a16:creationId xmlns:a16="http://schemas.microsoft.com/office/drawing/2014/main" id="{26E25BAF-8B81-0A4B-BA07-6B3BCF803A23}"/>
              </a:ext>
            </a:extLst>
          </p:cNvPr>
          <p:cNvSpPr txBox="1"/>
          <p:nvPr/>
        </p:nvSpPr>
        <p:spPr>
          <a:xfrm>
            <a:off x="6741459" y="7251649"/>
            <a:ext cx="5728224" cy="10160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0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Making Games With Python and </a:t>
            </a:r>
            <a:r>
              <a:rPr lang="en-US" sz="20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PyGame</a:t>
            </a:r>
            <a:endParaRPr lang="en-US" sz="20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lvl="0" algn="ctr">
              <a:buClr>
                <a:srgbClr val="FFFF00"/>
              </a:buClr>
              <a:buSzPct val="25000"/>
            </a:pPr>
            <a:r>
              <a:rPr lang="en-US" sz="2000" u="sng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  <a:hlinkClick r:id="rId3"/>
              </a:rPr>
              <a:t>https://inventwithpython.com/pygame/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Shape 20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1477772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Shape 23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Python Functions</a:t>
            </a:r>
          </a:p>
        </p:txBody>
      </p:sp>
      <p:sp>
        <p:nvSpPr>
          <p:cNvPr id="236" name="Shape 23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There are two kinds of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Python.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Built-in functions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are provided as part of Python - </a:t>
            </a:r>
            <a:r>
              <a:rPr lang="en-US" sz="3600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print(), 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input(), type(), float(), </a:t>
            </a:r>
            <a:r>
              <a:rPr lang="en-US" sz="3600" u="none" strike="noStrike" cap="none" dirty="0" err="1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int</a:t>
            </a: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 ...</a:t>
            </a:r>
          </a:p>
          <a:p>
            <a:pPr marL="670306" marR="0" lvl="1" indent="0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rgbClr val="00FF00"/>
              </a:buClr>
              <a:buSzPct val="100000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-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Functions that we define ourselves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then 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Shape 24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 Definition</a:t>
            </a:r>
          </a:p>
        </p:txBody>
      </p:sp>
      <p:sp>
        <p:nvSpPr>
          <p:cNvPr id="242" name="Shape 24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 Python a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some reusable code that takes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(s) as input, does some computation, and then returns a </a:t>
            </a:r>
            <a:r>
              <a:rPr lang="en-US" sz="3600" u="none" strike="noStrike" cap="none" dirty="0">
                <a:solidFill>
                  <a:srgbClr val="FD7F2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result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or results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define a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using the </a:t>
            </a: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reserved word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call/invoke the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by using the function name, parenthes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s, and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an expression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 Function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1200150" y="2616200"/>
            <a:ext cx="71321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6845300" y="4468805"/>
            <a:ext cx="2819400" cy="28194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max()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54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</a:p>
        </p:txBody>
      </p:sp>
      <p:cxnSp>
        <p:nvCxnSpPr>
          <p:cNvPr id="264" name="Shape 264"/>
          <p:cNvCxnSpPr/>
          <p:nvPr/>
        </p:nvCxnSpPr>
        <p:spPr>
          <a:xfrm flipH="1">
            <a:off x="5299074" y="5922955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5" name="Shape 265"/>
          <p:cNvSpPr txBox="1"/>
          <p:nvPr/>
        </p:nvSpPr>
        <p:spPr>
          <a:xfrm>
            <a:off x="2616200" y="5351455"/>
            <a:ext cx="2849562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3F3F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11642725" y="5300655"/>
            <a:ext cx="218757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cxnSp>
        <p:nvCxnSpPr>
          <p:cNvPr id="267" name="Shape 267"/>
          <p:cNvCxnSpPr/>
          <p:nvPr/>
        </p:nvCxnSpPr>
        <p:spPr>
          <a:xfrm flipH="1">
            <a:off x="9680574" y="5872155"/>
            <a:ext cx="1492250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8" name="Shape 268"/>
          <p:cNvSpPr txBox="1"/>
          <p:nvPr/>
        </p:nvSpPr>
        <p:spPr>
          <a:xfrm>
            <a:off x="10474325" y="2265220"/>
            <a:ext cx="4940400" cy="2635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 Function</a:t>
            </a:r>
          </a:p>
        </p:txBody>
      </p:sp>
      <p:sp>
        <p:nvSpPr>
          <p:cNvPr id="262" name="Shape 262"/>
          <p:cNvSpPr txBox="1"/>
          <p:nvPr/>
        </p:nvSpPr>
        <p:spPr>
          <a:xfrm>
            <a:off x="1200150" y="2616200"/>
            <a:ext cx="7132199" cy="166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max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('Hello world')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big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w</a:t>
            </a:r>
          </a:p>
        </p:txBody>
      </p:sp>
      <p:sp>
        <p:nvSpPr>
          <p:cNvPr id="263" name="Shape 263"/>
          <p:cNvSpPr txBox="1"/>
          <p:nvPr/>
        </p:nvSpPr>
        <p:spPr>
          <a:xfrm>
            <a:off x="6669089" y="4462455"/>
            <a:ext cx="3159124" cy="2819400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lvl="0">
              <a:buClr>
                <a:srgbClr val="FFFF00"/>
              </a:buClr>
              <a:buSzPct val="25000"/>
            </a:pPr>
            <a:r>
              <a:rPr lang="en-US" sz="2400" b="1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max(</a:t>
            </a:r>
            <a:r>
              <a:rPr lang="en-US" sz="2400" dirty="0" err="1">
                <a:solidFill>
                  <a:srgbClr val="00FD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for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x </a:t>
            </a:r>
            <a:r>
              <a:rPr lang="en-US" sz="24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in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400" dirty="0" err="1">
                <a:solidFill>
                  <a:srgbClr val="00FDFF"/>
                </a:solidFill>
                <a:latin typeface="Courier"/>
                <a:ea typeface="Courier"/>
                <a:cs typeface="Courier"/>
                <a:sym typeface="Courier New"/>
              </a:rPr>
              <a:t>inp</a:t>
            </a: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: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  <a:p>
            <a:pPr lvl="0">
              <a:buClr>
                <a:schemeClr val="lt1"/>
              </a:buClr>
              <a:buSzPct val="25000"/>
            </a:pPr>
            <a:r>
              <a:rPr lang="en-US" sz="24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  blah</a:t>
            </a:r>
          </a:p>
        </p:txBody>
      </p:sp>
      <p:cxnSp>
        <p:nvCxnSpPr>
          <p:cNvPr id="264" name="Shape 264"/>
          <p:cNvCxnSpPr/>
          <p:nvPr/>
        </p:nvCxnSpPr>
        <p:spPr>
          <a:xfrm flipH="1">
            <a:off x="5299074" y="5922955"/>
            <a:ext cx="1242403" cy="17461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5" name="Shape 265"/>
          <p:cNvSpPr txBox="1"/>
          <p:nvPr/>
        </p:nvSpPr>
        <p:spPr>
          <a:xfrm>
            <a:off x="2616200" y="5351455"/>
            <a:ext cx="2849562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 world</a:t>
            </a:r>
            <a:r>
              <a:rPr lang="en-US" sz="3600">
                <a:solidFill>
                  <a:srgbClr val="FF7F00"/>
                </a:solidFill>
              </a:rPr>
              <a:t>'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3F3F3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sp>
        <p:nvSpPr>
          <p:cNvPr id="266" name="Shape 266"/>
          <p:cNvSpPr txBox="1"/>
          <p:nvPr/>
        </p:nvSpPr>
        <p:spPr>
          <a:xfrm>
            <a:off x="11642725" y="5300655"/>
            <a:ext cx="2187575" cy="1143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Arial"/>
              <a:buNone/>
            </a:pPr>
            <a:r>
              <a:rPr lang="en-US" sz="3600">
                <a:solidFill>
                  <a:srgbClr val="00FF00"/>
                </a:solidFill>
              </a:rPr>
              <a:t>'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</a:t>
            </a:r>
            <a:r>
              <a:rPr lang="en-US" sz="3600">
                <a:solidFill>
                  <a:srgbClr val="00FF00"/>
                </a:solidFill>
              </a:rPr>
              <a:t>'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(a string)</a:t>
            </a:r>
          </a:p>
        </p:txBody>
      </p:sp>
      <p:cxnSp>
        <p:nvCxnSpPr>
          <p:cNvPr id="267" name="Shape 267"/>
          <p:cNvCxnSpPr/>
          <p:nvPr/>
        </p:nvCxnSpPr>
        <p:spPr>
          <a:xfrm flipH="1">
            <a:off x="10093569" y="5872155"/>
            <a:ext cx="1079255" cy="0"/>
          </a:xfrm>
          <a:prstGeom prst="straightConnector1">
            <a:avLst/>
          </a:prstGeom>
          <a:noFill/>
          <a:ln w="88900" cap="rnd" cmpd="sng">
            <a:solidFill>
              <a:schemeClr val="lt1"/>
            </a:solidFill>
            <a:prstDash val="solid"/>
            <a:miter/>
            <a:headEnd type="stealth" w="med" len="med"/>
            <a:tailEnd type="none" w="med" len="med"/>
          </a:ln>
        </p:spPr>
      </p:cxnSp>
      <p:sp>
        <p:nvSpPr>
          <p:cNvPr id="268" name="Shape 268"/>
          <p:cNvSpPr txBox="1"/>
          <p:nvPr/>
        </p:nvSpPr>
        <p:spPr>
          <a:xfrm>
            <a:off x="10474325" y="2265218"/>
            <a:ext cx="4940400" cy="263515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some stored code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we use. A function takes some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produces an </a:t>
            </a: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output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090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72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Functions of Our Own</a:t>
            </a:r>
            <a:r>
              <a:rPr lang="is-IS" sz="72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…</a:t>
            </a:r>
            <a:endParaRPr lang="en-US" sz="7200" dirty="0">
              <a:solidFill>
                <a:srgbClr val="FFD96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290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Shape 308"/>
          <p:cNvSpPr txBox="1"/>
          <p:nvPr/>
        </p:nvSpPr>
        <p:spPr>
          <a:xfrm>
            <a:off x="1061599" y="1935150"/>
            <a:ext cx="10739875" cy="55403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print_lyrics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"I'm a lumberjack, and I'm okay.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'I sleep all night and I work all day.')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8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Yo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8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28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28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8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8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28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309" name="Shape 309"/>
          <p:cNvSpPr txBox="1"/>
          <p:nvPr/>
        </p:nvSpPr>
        <p:spPr>
          <a:xfrm>
            <a:off x="13681075" y="4229901"/>
            <a:ext cx="1119187" cy="1663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</a:t>
            </a:r>
            <a:endParaRPr lang="en-US" sz="3600" u="none" strike="noStrike" cap="none" dirty="0">
              <a:solidFill>
                <a:srgbClr val="00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sp>
        <p:nvSpPr>
          <p:cNvPr id="310" name="Shape 310"/>
          <p:cNvSpPr txBox="1"/>
          <p:nvPr/>
        </p:nvSpPr>
        <p:spPr>
          <a:xfrm>
            <a:off x="9626600" y="1174754"/>
            <a:ext cx="6218238" cy="1473199"/>
          </a:xfrm>
          <a:prstGeom prst="rect">
            <a:avLst/>
          </a:prstGeom>
          <a:noFill/>
          <a:ln w="76200" cap="flat" cmpd="sng">
            <a:solidFill>
              <a:srgbClr val="00FFFF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"I'm a lumberjack, and I'm okay."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   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print(</a:t>
            </a:r>
            <a:r>
              <a:rPr lang="en-US" sz="25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'I sleep all night and I work all day.'</a:t>
            </a:r>
            <a:r>
              <a:rPr lang="en-US" sz="25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311" name="Shape 311"/>
          <p:cNvSpPr txBox="1"/>
          <p:nvPr/>
        </p:nvSpPr>
        <p:spPr>
          <a:xfrm>
            <a:off x="7416799" y="1657354"/>
            <a:ext cx="2180091" cy="508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2800" u="none" strike="noStrike" cap="none" dirty="0" err="1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print_lyrics</a:t>
            </a:r>
            <a:r>
              <a:rPr lang="en-US" sz="28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():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Definitions and Uses</a:t>
            </a:r>
          </a:p>
        </p:txBody>
      </p:sp>
      <p:sp>
        <p:nvSpPr>
          <p:cNvPr id="317" name="Shape 317"/>
          <p:cNvSpPr txBox="1">
            <a:spLocks noGrp="1"/>
          </p:cNvSpPr>
          <p:nvPr>
            <p:ph type="body" idx="1"/>
          </p:nvPr>
        </p:nvSpPr>
        <p:spPr>
          <a:xfrm>
            <a:off x="1155700" y="2482253"/>
            <a:ext cx="13932000" cy="3916538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Once we have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defined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 function, we can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call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(or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invoke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 it </a:t>
            </a:r>
            <a:b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</a:b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as many times as we like</a:t>
            </a:r>
          </a:p>
          <a:p>
            <a:pPr marL="749300" marR="0" lvl="0" indent="-371094" algn="l" rtl="0">
              <a:lnSpc>
                <a:spcPct val="115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This is the </a:t>
            </a: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store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and </a:t>
            </a:r>
            <a:r>
              <a:rPr lang="en-US" sz="36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reuse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pattern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322"/>
          <p:cNvSpPr txBox="1"/>
          <p:nvPr/>
        </p:nvSpPr>
        <p:spPr>
          <a:xfrm>
            <a:off x="1078375" y="985825"/>
            <a:ext cx="11715899" cy="60927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5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print_lyrics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():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"I'm a lumberjack, and I'm okay.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</a:t>
            </a: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'I sleep all night and I work all day.')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30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Yo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 err="1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print_lyrics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 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000" i="0" u="none" strike="noStrike" cap="none" dirty="0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+</a:t>
            </a:r>
            <a:r>
              <a:rPr lang="en-US" sz="30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2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0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30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30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x</a:t>
            </a:r>
            <a:r>
              <a:rPr lang="en-US" sz="3000" i="0" u="none" strike="noStrike" cap="none" dirty="0">
                <a:solidFill>
                  <a:schemeClr val="bg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</p:txBody>
      </p:sp>
      <p:sp>
        <p:nvSpPr>
          <p:cNvPr id="323" name="Shape 323"/>
          <p:cNvSpPr txBox="1"/>
          <p:nvPr/>
        </p:nvSpPr>
        <p:spPr>
          <a:xfrm>
            <a:off x="8877300" y="5327650"/>
            <a:ext cx="6913685" cy="27051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 err="1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Yo</a:t>
            </a:r>
            <a:endParaRPr lang="en-US" sz="3600" u="none" strike="noStrike" cap="none" dirty="0">
              <a:solidFill>
                <a:srgbClr val="FFFF00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I'm a lumberjack, and I'm okay.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 sleep all night and I work all day.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abin"/>
              <a:buNone/>
            </a:pPr>
            <a:r>
              <a:rPr lang="en-US" sz="3600" u="none" strike="noStrike" cap="none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7</a:t>
            </a:r>
          </a:p>
        </p:txBody>
      </p:sp>
      <p:cxnSp>
        <p:nvCxnSpPr>
          <p:cNvPr id="324" name="Shape 324"/>
          <p:cNvCxnSpPr/>
          <p:nvPr/>
        </p:nvCxnSpPr>
        <p:spPr>
          <a:xfrm rot="10800000">
            <a:off x="4334486" y="5532361"/>
            <a:ext cx="4353900" cy="1343099"/>
          </a:xfrm>
          <a:prstGeom prst="straightConnector1">
            <a:avLst/>
          </a:prstGeom>
          <a:noFill/>
          <a:ln w="88900" cap="rnd" cmpd="sng">
            <a:solidFill>
              <a:srgbClr val="00F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xfrm>
            <a:off x="1039322" y="3413760"/>
            <a:ext cx="13932000" cy="235527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Arguments, Parameters, and Return Values</a:t>
            </a:r>
          </a:p>
        </p:txBody>
      </p:sp>
    </p:spTree>
    <p:extLst>
      <p:ext uri="{BB962C8B-B14F-4D97-AF65-F5344CB8AC3E}">
        <p14:creationId xmlns:p14="http://schemas.microsoft.com/office/powerpoint/2010/main" val="22528791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Shape 329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627100" cy="173633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</a:p>
        </p:txBody>
      </p:sp>
      <p:sp>
        <p:nvSpPr>
          <p:cNvPr id="330" name="Shape 330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391160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value we pass into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as its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input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when we call the function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use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so we can direct the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do different kinds of work when we call it at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different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times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We put the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 parenthes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 after the </a:t>
            </a:r>
            <a:r>
              <a:rPr lang="en-US" sz="3600" u="none" strike="noStrike" cap="none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of the function</a:t>
            </a:r>
          </a:p>
        </p:txBody>
      </p:sp>
      <p:sp>
        <p:nvSpPr>
          <p:cNvPr id="331" name="Shape 331"/>
          <p:cNvSpPr txBox="1"/>
          <p:nvPr/>
        </p:nvSpPr>
        <p:spPr>
          <a:xfrm>
            <a:off x="4635500" y="6718296"/>
            <a:ext cx="7580313" cy="8127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4900" u="none" strike="noStrike" cap="none">
                <a:solidFill>
                  <a:srgbClr val="00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big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= </a:t>
            </a:r>
            <a:r>
              <a:rPr lang="en-US" sz="49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max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(</a:t>
            </a:r>
            <a:r>
              <a:rPr lang="en-US" sz="49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'Hello world'</a:t>
            </a:r>
            <a:r>
              <a:rPr lang="en-US" sz="49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)</a:t>
            </a:r>
          </a:p>
        </p:txBody>
      </p:sp>
      <p:sp>
        <p:nvSpPr>
          <p:cNvPr id="332" name="Shape 332"/>
          <p:cNvSpPr txBox="1"/>
          <p:nvPr/>
        </p:nvSpPr>
        <p:spPr>
          <a:xfrm>
            <a:off x="11498261" y="7823196"/>
            <a:ext cx="2446339" cy="622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</a:t>
            </a:r>
          </a:p>
        </p:txBody>
      </p:sp>
      <p:cxnSp>
        <p:nvCxnSpPr>
          <p:cNvPr id="333" name="Shape 333"/>
          <p:cNvCxnSpPr/>
          <p:nvPr/>
        </p:nvCxnSpPr>
        <p:spPr>
          <a:xfrm>
            <a:off x="10014325" y="7538196"/>
            <a:ext cx="1288800" cy="638999"/>
          </a:xfrm>
          <a:prstGeom prst="straightConnector1">
            <a:avLst/>
          </a:prstGeom>
          <a:noFill/>
          <a:ln w="76200" cap="rnd" cmpd="sng">
            <a:solidFill>
              <a:srgbClr val="FF7F00"/>
            </a:solidFill>
            <a:prstDash val="solid"/>
            <a:miter/>
            <a:headEnd type="stealth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Shape 338"/>
          <p:cNvSpPr txBox="1">
            <a:spLocks noGrp="1"/>
          </p:cNvSpPr>
          <p:nvPr>
            <p:ph type="title"/>
          </p:nvPr>
        </p:nvSpPr>
        <p:spPr>
          <a:xfrm>
            <a:off x="1155700" y="803564"/>
            <a:ext cx="13203767" cy="173633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Parameters</a:t>
            </a:r>
          </a:p>
        </p:txBody>
      </p:sp>
      <p:sp>
        <p:nvSpPr>
          <p:cNvPr id="339" name="Shape 339"/>
          <p:cNvSpPr txBox="1">
            <a:spLocks noGrp="1"/>
          </p:cNvSpPr>
          <p:nvPr>
            <p:ph type="body" idx="1"/>
          </p:nvPr>
        </p:nvSpPr>
        <p:spPr>
          <a:xfrm>
            <a:off x="1155700" y="2603500"/>
            <a:ext cx="6988175" cy="5050367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  <a:p>
            <a:pPr marL="215900" indent="0">
              <a:lnSpc>
                <a:spcPct val="115000"/>
              </a:lnSpc>
              <a:spcBef>
                <a:spcPts val="0"/>
              </a:spcBef>
              <a:buSzPct val="171000"/>
              <a:buNone/>
            </a:pP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</a:t>
            </a:r>
            <a:r>
              <a:rPr lang="en-US" sz="3600" dirty="0">
                <a:solidFill>
                  <a:srgbClr val="00FF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parameter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is a variable which we use </a:t>
            </a:r>
            <a:r>
              <a:rPr lang="en-US" sz="3600" dirty="0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the function </a:t>
            </a:r>
            <a:r>
              <a:rPr lang="en-US" sz="3600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definition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 It is a </a:t>
            </a:r>
            <a:r>
              <a:rPr lang="en-US" sz="3600" dirty="0">
                <a:solidFill>
                  <a:schemeClr val="lt1"/>
                </a:solidFill>
              </a:rPr>
              <a:t>“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handle</a:t>
            </a:r>
            <a:r>
              <a:rPr lang="en-US" sz="3600" dirty="0">
                <a:solidFill>
                  <a:schemeClr val="lt1"/>
                </a:solidFill>
              </a:rPr>
              <a:t>”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that allows the code in the </a:t>
            </a:r>
            <a:r>
              <a:rPr lang="en-US" sz="3600" dirty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to access the </a:t>
            </a:r>
            <a:r>
              <a:rPr lang="en-US" sz="3600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arguments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for a particular </a:t>
            </a:r>
            <a:r>
              <a:rPr lang="en-US" sz="3600" dirty="0">
                <a:solidFill>
                  <a:schemeClr val="accen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function</a:t>
            </a:r>
            <a:r>
              <a:rPr lang="en-US" sz="3600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invocation.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chemeClr val="lt1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40" name="Shape 340"/>
          <p:cNvSpPr txBox="1"/>
          <p:nvPr/>
        </p:nvSpPr>
        <p:spPr>
          <a:xfrm>
            <a:off x="9867323" y="2188908"/>
            <a:ext cx="5713800" cy="66482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if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== 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es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Hola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6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elif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2600" i="0" u="none" strike="noStrike" cap="none" dirty="0" err="1">
                <a:solidFill>
                  <a:srgbClr val="00FFFF"/>
                </a:solidFill>
                <a:latin typeface="Courier"/>
                <a:ea typeface="Courier"/>
                <a:cs typeface="Courier"/>
                <a:sym typeface="Courier New"/>
              </a:rPr>
              <a:t>lang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 == '</a:t>
            </a: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fr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'Bonjour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else: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    </a:t>
            </a:r>
            <a:r>
              <a:rPr lang="en-US" sz="26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print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'Hello</a:t>
            </a:r>
            <a:r>
              <a:rPr lang="en-US" sz="2600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')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...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en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Hello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es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 err="1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Hola</a:t>
            </a:r>
            <a:endParaRPr lang="en-US" sz="2600" i="0" u="none" strike="noStrike" cap="none" dirty="0">
              <a:solidFill>
                <a:schemeClr val="lt1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  <a:r>
              <a:rPr lang="en-US" sz="2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(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i="0" u="none" strike="noStrike" cap="none" dirty="0" err="1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fr</a:t>
            </a:r>
            <a:r>
              <a:rPr lang="en-US" sz="26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'</a:t>
            </a: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Bonjour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25000"/>
              <a:buFont typeface="Cabin"/>
              <a:buNone/>
            </a:pPr>
            <a:r>
              <a:rPr lang="en-US" sz="2600" i="0" u="none" strike="noStrike" cap="none" dirty="0">
                <a:solidFill>
                  <a:schemeClr val="lt1"/>
                </a:solidFill>
                <a:latin typeface="Courier"/>
                <a:ea typeface="Courier"/>
                <a:cs typeface="Courier"/>
                <a:sym typeface="Courier New"/>
              </a:rPr>
              <a:t>&gt;&gt;&gt;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Shape 3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 Values</a:t>
            </a:r>
          </a:p>
        </p:txBody>
      </p:sp>
      <p:sp>
        <p:nvSpPr>
          <p:cNvPr id="346" name="Shape 346"/>
          <p:cNvSpPr txBox="1">
            <a:spLocks noGrp="1"/>
          </p:cNvSpPr>
          <p:nvPr>
            <p:ph type="body" idx="1"/>
          </p:nvPr>
        </p:nvSpPr>
        <p:spPr>
          <a:xfrm>
            <a:off x="1155700" y="2603501"/>
            <a:ext cx="13932000" cy="225425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Often a function will take its arguments, do some computation, and </a:t>
            </a:r>
            <a:r>
              <a:rPr lang="en-US" sz="3600" u="none" strike="noStrike" cap="none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a value to be used as the value of the function call in the </a:t>
            </a:r>
            <a:r>
              <a:rPr lang="en-US" sz="3600" u="none" strike="noStrike" cap="none">
                <a:solidFill>
                  <a:srgbClr val="FF00FF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calling expression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.  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</a:t>
            </a:r>
            <a:r>
              <a:rPr lang="en-US" sz="3600" u="none" strike="noStrike" cap="none" dirty="0">
                <a:solidFill>
                  <a:srgbClr val="FF7F00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return</a:t>
            </a:r>
            <a:r>
              <a:rPr lang="en-US" sz="3600" u="none" strike="noStrike" cap="none" dirty="0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keyword is used for this.</a:t>
            </a:r>
          </a:p>
        </p:txBody>
      </p:sp>
      <p:sp>
        <p:nvSpPr>
          <p:cNvPr id="347" name="Shape 347"/>
          <p:cNvSpPr txBox="1"/>
          <p:nvPr/>
        </p:nvSpPr>
        <p:spPr>
          <a:xfrm>
            <a:off x="2911989" y="5370512"/>
            <a:ext cx="6832088" cy="283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i="0" u="none" strike="noStrike" cap="none" dirty="0" err="1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def</a:t>
            </a: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</a:t>
            </a:r>
            <a:r>
              <a:rPr lang="en-US" sz="32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greet</a:t>
            </a: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():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   </a:t>
            </a:r>
            <a:r>
              <a:rPr lang="en-US" sz="3200" i="0" u="none" strike="noStrike" cap="none" dirty="0">
                <a:solidFill>
                  <a:srgbClr val="FF7F00"/>
                </a:solidFill>
                <a:latin typeface="Courier"/>
                <a:ea typeface="Courier"/>
                <a:cs typeface="Courier"/>
                <a:sym typeface="Courier New"/>
              </a:rPr>
              <a:t>return</a:t>
            </a: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 "Hello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"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solidFill>
                <a:srgbClr val="FFFF00"/>
              </a:solidFill>
              <a:latin typeface="Courier"/>
              <a:ea typeface="Courier"/>
              <a:cs typeface="Courier"/>
              <a:sym typeface="Courier New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greet()</a:t>
            </a: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, "Glenn</a:t>
            </a:r>
            <a:r>
              <a:rPr lang="en-US" sz="3200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")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25000"/>
              <a:buFont typeface="Courier New"/>
              <a:buNone/>
            </a:pP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print(</a:t>
            </a:r>
            <a:r>
              <a:rPr lang="en-US" sz="3200" i="0" u="none" strike="noStrike" cap="none" dirty="0">
                <a:solidFill>
                  <a:srgbClr val="FF00FF"/>
                </a:solidFill>
                <a:latin typeface="Courier"/>
                <a:ea typeface="Courier"/>
                <a:cs typeface="Courier"/>
                <a:sym typeface="Courier New"/>
              </a:rPr>
              <a:t>greet()</a:t>
            </a:r>
            <a:r>
              <a:rPr lang="en-US" sz="3200" i="0" u="none" strike="noStrike" cap="none" dirty="0">
                <a:solidFill>
                  <a:srgbClr val="FFFF00"/>
                </a:solidFill>
                <a:latin typeface="Courier"/>
                <a:ea typeface="Courier"/>
                <a:cs typeface="Courier"/>
                <a:sym typeface="Courier New"/>
              </a:rPr>
              <a:t>, "Sally")</a:t>
            </a:r>
          </a:p>
        </p:txBody>
      </p:sp>
      <p:sp>
        <p:nvSpPr>
          <p:cNvPr id="348" name="Shape 348"/>
          <p:cNvSpPr txBox="1"/>
          <p:nvPr/>
        </p:nvSpPr>
        <p:spPr>
          <a:xfrm>
            <a:off x="10894613" y="5947162"/>
            <a:ext cx="4000500" cy="1193699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i="0" u="none" strike="noStrike" cap="none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Hello Glenn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ourier New"/>
              <a:buNone/>
            </a:pPr>
            <a:r>
              <a:rPr lang="en-US" sz="3600" i="0" u="none" strike="noStrike" cap="none" dirty="0">
                <a:solidFill>
                  <a:srgbClr val="00FF00"/>
                </a:solidFill>
                <a:latin typeface="Courier"/>
                <a:ea typeface="Courier"/>
                <a:cs typeface="Courier"/>
                <a:sym typeface="Courier New"/>
              </a:rPr>
              <a:t>Hello Sally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610EF-6FEA-B44B-A17F-8B4412322194}"/>
              </a:ext>
            </a:extLst>
          </p:cNvPr>
          <p:cNvSpPr txBox="1"/>
          <p:nvPr/>
        </p:nvSpPr>
        <p:spPr>
          <a:xfrm>
            <a:off x="793981" y="2759825"/>
            <a:ext cx="1465543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Write your own function called </a:t>
            </a:r>
            <a:r>
              <a:rPr lang="en-US" sz="3000" dirty="0" err="1">
                <a:solidFill>
                  <a:srgbClr val="00FF00"/>
                </a:solidFill>
              </a:rPr>
              <a:t>inputNumber</a:t>
            </a:r>
            <a:r>
              <a:rPr lang="en-US" sz="3000" dirty="0">
                <a:solidFill>
                  <a:schemeClr val="bg1"/>
                </a:solidFill>
              </a:rPr>
              <a:t>. The function should ask the user to input a number. If the user does not enter a number, the code should repeat and ask them again and again until they finally enter a number. The code should look something like this: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  <a:latin typeface="Courier" pitchFamily="2" charset="0"/>
              </a:rPr>
              <a:t>def</a:t>
            </a:r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 </a:t>
            </a:r>
            <a:r>
              <a:rPr lang="en-US" sz="3000" dirty="0" err="1">
                <a:solidFill>
                  <a:srgbClr val="00FF00"/>
                </a:solidFill>
                <a:latin typeface="Courier" pitchFamily="2" charset="0"/>
              </a:rPr>
              <a:t>inputNumber</a:t>
            </a:r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(</a:t>
            </a:r>
            <a:r>
              <a:rPr lang="en-US" sz="3000" dirty="0">
                <a:solidFill>
                  <a:srgbClr val="FD7F23"/>
                </a:solidFill>
                <a:latin typeface="Courier" pitchFamily="2" charset="0"/>
              </a:rPr>
              <a:t>question</a:t>
            </a:r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):</a:t>
            </a:r>
          </a:p>
          <a:p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	</a:t>
            </a:r>
          </a:p>
          <a:p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	</a:t>
            </a:r>
            <a:r>
              <a:rPr lang="en-US" sz="3000" dirty="0">
                <a:solidFill>
                  <a:srgbClr val="00FDFF"/>
                </a:solidFill>
                <a:latin typeface="Courier" pitchFamily="2" charset="0"/>
              </a:rPr>
              <a:t># Your code here</a:t>
            </a:r>
          </a:p>
          <a:p>
            <a:endParaRPr lang="en-US" sz="3000" dirty="0">
              <a:solidFill>
                <a:srgbClr val="00FF00"/>
              </a:solidFill>
              <a:latin typeface="Courier" pitchFamily="2" charset="0"/>
            </a:endParaRPr>
          </a:p>
          <a:p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	</a:t>
            </a:r>
            <a:r>
              <a:rPr lang="en-US" sz="3000" dirty="0">
                <a:solidFill>
                  <a:schemeClr val="bg1"/>
                </a:solidFill>
                <a:latin typeface="Courier" pitchFamily="2" charset="0"/>
              </a:rPr>
              <a:t>return</a:t>
            </a:r>
            <a:r>
              <a:rPr lang="en-US" sz="3000" dirty="0">
                <a:solidFill>
                  <a:srgbClr val="00FF00"/>
                </a:solidFill>
                <a:latin typeface="Courier" pitchFamily="2" charset="0"/>
              </a:rPr>
              <a:t> </a:t>
            </a:r>
            <a:r>
              <a:rPr lang="en-US" sz="3000" dirty="0">
                <a:solidFill>
                  <a:srgbClr val="FD7F23"/>
                </a:solidFill>
                <a:latin typeface="Courier" pitchFamily="2" charset="0"/>
              </a:rPr>
              <a:t>number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Shape 30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610EF-6FEA-B44B-A17F-8B4412322194}"/>
              </a:ext>
            </a:extLst>
          </p:cNvPr>
          <p:cNvSpPr txBox="1"/>
          <p:nvPr/>
        </p:nvSpPr>
        <p:spPr>
          <a:xfrm>
            <a:off x="793981" y="2727168"/>
            <a:ext cx="1465543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Write a program which uses your </a:t>
            </a:r>
            <a:r>
              <a:rPr lang="en-US" sz="3000" dirty="0" err="1">
                <a:solidFill>
                  <a:srgbClr val="00FF00"/>
                </a:solidFill>
              </a:rPr>
              <a:t>inputNumber</a:t>
            </a:r>
            <a:r>
              <a:rPr lang="en-US" sz="3000" dirty="0">
                <a:solidFill>
                  <a:schemeClr val="bg1"/>
                </a:solidFill>
              </a:rPr>
              <a:t> function: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age = </a:t>
            </a:r>
            <a:r>
              <a:rPr lang="en-US" sz="3000" dirty="0" err="1">
                <a:solidFill>
                  <a:srgbClr val="00FF00"/>
                </a:solidFill>
              </a:rPr>
              <a:t>inputNumber</a:t>
            </a:r>
            <a:r>
              <a:rPr lang="en-US" sz="3000" dirty="0">
                <a:solidFill>
                  <a:schemeClr val="bg1"/>
                </a:solidFill>
              </a:rPr>
              <a:t>(</a:t>
            </a:r>
            <a:r>
              <a:rPr lang="en-US" sz="3000" dirty="0">
                <a:solidFill>
                  <a:srgbClr val="FD7F23"/>
                </a:solidFill>
              </a:rPr>
              <a:t>“Enter your age: ”</a:t>
            </a:r>
            <a:r>
              <a:rPr lang="en-US" sz="3000" dirty="0">
                <a:solidFill>
                  <a:schemeClr val="bg1"/>
                </a:solidFill>
              </a:rPr>
              <a:t>)</a:t>
            </a:r>
          </a:p>
          <a:p>
            <a:r>
              <a:rPr lang="en-US" sz="3000" dirty="0">
                <a:solidFill>
                  <a:schemeClr val="bg1"/>
                </a:solidFill>
              </a:rPr>
              <a:t>print(“In 100 years you will be”, age+100)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When the program runs, something like this should happen: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rgbClr val="FD7F23"/>
                </a:solidFill>
                <a:latin typeface="Courier" pitchFamily="2" charset="0"/>
              </a:rPr>
              <a:t>Enter your age: </a:t>
            </a:r>
            <a:r>
              <a:rPr lang="en-US" sz="3000" dirty="0">
                <a:solidFill>
                  <a:schemeClr val="bg1"/>
                </a:solidFill>
                <a:latin typeface="Courier" pitchFamily="2" charset="0"/>
              </a:rPr>
              <a:t>banana</a:t>
            </a:r>
          </a:p>
          <a:p>
            <a:r>
              <a:rPr lang="en-US" sz="3000" dirty="0">
                <a:solidFill>
                  <a:schemeClr val="bg1"/>
                </a:solidFill>
                <a:latin typeface="Courier" pitchFamily="2" charset="0"/>
              </a:rPr>
              <a:t>Sorry, banana is not a number</a:t>
            </a:r>
          </a:p>
          <a:p>
            <a:r>
              <a:rPr lang="en-US" sz="3000" dirty="0">
                <a:solidFill>
                  <a:srgbClr val="FD7F23"/>
                </a:solidFill>
                <a:latin typeface="Courier" pitchFamily="2" charset="0"/>
              </a:rPr>
              <a:t>Enter your age: </a:t>
            </a:r>
            <a:r>
              <a:rPr lang="en-US" sz="3000" dirty="0">
                <a:solidFill>
                  <a:schemeClr val="bg1"/>
                </a:solidFill>
                <a:latin typeface="Courier" pitchFamily="2" charset="0"/>
              </a:rPr>
              <a:t>25</a:t>
            </a:r>
          </a:p>
          <a:p>
            <a:r>
              <a:rPr lang="en-US" sz="3000" dirty="0">
                <a:solidFill>
                  <a:schemeClr val="bg1"/>
                </a:solidFill>
                <a:latin typeface="Courier" pitchFamily="2" charset="0"/>
              </a:rPr>
              <a:t>In 100 years you will be 125</a:t>
            </a:r>
          </a:p>
        </p:txBody>
      </p:sp>
    </p:spTree>
    <p:extLst>
      <p:ext uri="{BB962C8B-B14F-4D97-AF65-F5344CB8AC3E}">
        <p14:creationId xmlns:p14="http://schemas.microsoft.com/office/powerpoint/2010/main" val="15268897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To function or not to function...</a:t>
            </a:r>
          </a:p>
        </p:txBody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Organize your code into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paragraphs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 - capture a complete thought and 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name it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Don</a:t>
            </a:r>
            <a:r>
              <a:rPr lang="en-US"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 repeat yourself - make it work once and then reuse it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If something gets too long or complex, break it up into logical chunks and put those chunks in functions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35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u="none" strike="noStrike" cap="none">
                <a:solidFill>
                  <a:schemeClr val="lt1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Make a library of common stuff that you do over and over - perhaps share this with your friends...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Shape 316"/>
          <p:cNvSpPr txBox="1">
            <a:spLocks noGrp="1"/>
          </p:cNvSpPr>
          <p:nvPr>
            <p:ph type="title"/>
          </p:nvPr>
        </p:nvSpPr>
        <p:spPr>
          <a:xfrm>
            <a:off x="1039322" y="3413760"/>
            <a:ext cx="13932000" cy="2355272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FF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Let’s Make A Game!</a:t>
            </a:r>
          </a:p>
        </p:txBody>
      </p:sp>
    </p:spTree>
    <p:extLst>
      <p:ext uri="{BB962C8B-B14F-4D97-AF65-F5344CB8AC3E}">
        <p14:creationId xmlns:p14="http://schemas.microsoft.com/office/powerpoint/2010/main" val="30119098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387927"/>
            <a:ext cx="13932000" cy="173633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Installing </a:t>
            </a:r>
            <a:r>
              <a:rPr lang="en-US" sz="7600" u="none" strike="noStrike" cap="none" dirty="0" err="1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PyGame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391" name="Shape 391"/>
          <p:cNvSpPr txBox="1">
            <a:spLocks noGrp="1"/>
          </p:cNvSpPr>
          <p:nvPr>
            <p:ph type="body" idx="1"/>
          </p:nvPr>
        </p:nvSpPr>
        <p:spPr>
          <a:xfrm>
            <a:off x="1155700" y="2909455"/>
            <a:ext cx="13932000" cy="4339244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W</a:t>
            </a:r>
            <a:r>
              <a:rPr lang="en-US" sz="3600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riting games is complicated. We will need to use functions written by other people to help us. In Python, a group of functions is called a </a:t>
            </a:r>
            <a:r>
              <a:rPr lang="en-US" sz="3600" dirty="0">
                <a:solidFill>
                  <a:srgbClr val="FD7F23"/>
                </a:solidFill>
                <a:latin typeface="Arial" charset="0"/>
                <a:cs typeface="Arial" charset="0"/>
                <a:sym typeface="Cabin"/>
              </a:rPr>
              <a:t>module</a:t>
            </a:r>
            <a:r>
              <a:rPr lang="en-US" sz="3600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. We need to install a module called “</a:t>
            </a:r>
            <a:r>
              <a:rPr lang="en-US" sz="3600" dirty="0" err="1">
                <a:solidFill>
                  <a:srgbClr val="FD7F23"/>
                </a:solidFill>
                <a:latin typeface="Arial" charset="0"/>
                <a:cs typeface="Arial" charset="0"/>
                <a:sym typeface="Cabin"/>
              </a:rPr>
              <a:t>pygame</a:t>
            </a:r>
            <a:r>
              <a:rPr lang="en-US" sz="3600" dirty="0">
                <a:solidFill>
                  <a:schemeClr val="lt1"/>
                </a:solidFill>
                <a:latin typeface="Arial" charset="0"/>
                <a:cs typeface="Arial" charset="0"/>
                <a:sym typeface="Cabin"/>
              </a:rPr>
              <a:t>” to help us write games. </a:t>
            </a:r>
          </a:p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endParaRPr lang="en-US" sz="3600" b="0" i="0" u="none" strike="noStrike" cap="none" dirty="0">
              <a:solidFill>
                <a:schemeClr val="lt1"/>
              </a:solidFill>
              <a:latin typeface="Arial" charset="0"/>
              <a:ea typeface="Arial"/>
              <a:cs typeface="Arial" charset="0"/>
              <a:sym typeface="Cabin"/>
            </a:endParaRPr>
          </a:p>
          <a:p>
            <a:pPr marL="749300" marR="0" lvl="0" indent="-3710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bin"/>
              <a:buChar char="•"/>
            </a:pPr>
            <a:r>
              <a:rPr lang="en-US" sz="3600" b="0" i="0" u="none" strike="noStrike" cap="none" dirty="0">
                <a:solidFill>
                  <a:schemeClr val="lt1"/>
                </a:solidFill>
                <a:latin typeface="Arial" charset="0"/>
                <a:ea typeface="Arial"/>
                <a:cs typeface="Arial" charset="0"/>
                <a:sym typeface="Cabin"/>
              </a:rPr>
              <a:t>You can install new modules into Python using “pip”. See the next slide to learn how. </a:t>
            </a:r>
            <a:endParaRPr lang="en-US" sz="36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65846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F4CD7FF-D0B5-0944-AB1E-4AEB4D7BE911}"/>
              </a:ext>
            </a:extLst>
          </p:cNvPr>
          <p:cNvSpPr/>
          <p:nvPr/>
        </p:nvSpPr>
        <p:spPr>
          <a:xfrm>
            <a:off x="2560484" y="2105869"/>
            <a:ext cx="11122429" cy="6737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387927"/>
            <a:ext cx="13932000" cy="1736336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Installing </a:t>
            </a:r>
            <a:r>
              <a:rPr lang="en-US" sz="7600" u="none" strike="noStrike" cap="none" dirty="0" err="1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PyGame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6F803-F313-3B43-9FCB-0626CE7600E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19184" y="2477562"/>
            <a:ext cx="10205027" cy="6365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624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Writing Our First Game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D54C7-C74D-AA46-A26E-F0FB7123A94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9108" y="4190524"/>
            <a:ext cx="6891482" cy="38081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D866FE-339D-5F40-9769-A29C08EFB825}"/>
              </a:ext>
            </a:extLst>
          </p:cNvPr>
          <p:cNvSpPr txBox="1"/>
          <p:nvPr/>
        </p:nvSpPr>
        <p:spPr>
          <a:xfrm>
            <a:off x="714897" y="1829317"/>
            <a:ext cx="666680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Open up VS Code and then download and open the file “</a:t>
            </a:r>
            <a:r>
              <a:rPr lang="en-US" sz="3000" dirty="0" err="1">
                <a:solidFill>
                  <a:schemeClr val="bg1"/>
                </a:solidFill>
              </a:rPr>
              <a:t>blankgame.py</a:t>
            </a:r>
            <a:r>
              <a:rPr lang="en-US" sz="3000" dirty="0">
                <a:solidFill>
                  <a:schemeClr val="bg1"/>
                </a:solidFill>
              </a:rPr>
              <a:t>. You should see some code that looks like this: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8914016" y="1829317"/>
            <a:ext cx="66668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When you run this code. You should see a little window open, like this one. This is the start of your first game!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8914016" y="3935027"/>
            <a:ext cx="6173684" cy="437072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2913" y="3935027"/>
            <a:ext cx="5915889" cy="501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999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70373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 What Does This Code Do?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D54C7-C74D-AA46-A26E-F0FB7123A94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15870" y="2079090"/>
            <a:ext cx="12011660" cy="6637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9636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039322" y="3828220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u="none" strike="noStrike" cap="none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The Screen</a:t>
            </a:r>
          </a:p>
        </p:txBody>
      </p:sp>
    </p:spTree>
    <p:extLst>
      <p:ext uri="{BB962C8B-B14F-4D97-AF65-F5344CB8AC3E}">
        <p14:creationId xmlns:p14="http://schemas.microsoft.com/office/powerpoint/2010/main" val="25402421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Understanding The Screen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1026951" y="1884582"/>
            <a:ext cx="666680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Our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program has a line of code that says “</a:t>
            </a:r>
            <a:r>
              <a:rPr lang="en-US" sz="3000" dirty="0" err="1">
                <a:solidFill>
                  <a:schemeClr val="bg1"/>
                </a:solidFill>
              </a:rPr>
              <a:t>set_mode</a:t>
            </a:r>
            <a:r>
              <a:rPr lang="en-US" sz="3000" dirty="0">
                <a:solidFill>
                  <a:schemeClr val="bg1"/>
                </a:solidFill>
              </a:rPr>
              <a:t>((400, 300)). What does it mean?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computer screen is made up of tiny boxes called “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”. The (400,300) tells the computer how many 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  wide and tall our window should be. We asked for a window 400 pixels wide and 300 pixels tall!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When we start drawing things inside our game window, we will do it by telling the computer which pixel or group of pixels we want to draw to.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7884571" y="2370186"/>
            <a:ext cx="8204762" cy="6245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4571" y="2370186"/>
            <a:ext cx="8266827" cy="6773814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8D9083B-A502-FB4E-AB75-3D2132528978}"/>
              </a:ext>
            </a:extLst>
          </p:cNvPr>
          <p:cNvSpPr/>
          <p:nvPr/>
        </p:nvSpPr>
        <p:spPr>
          <a:xfrm>
            <a:off x="8794865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4ACBD7A1-2E71-C243-AF8D-B1BCCCAB30B1}"/>
              </a:ext>
            </a:extLst>
          </p:cNvPr>
          <p:cNvSpPr/>
          <p:nvPr/>
        </p:nvSpPr>
        <p:spPr>
          <a:xfrm>
            <a:off x="14979634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87DC0DA-FA6F-274B-A181-4A34C126ACA6}"/>
              </a:ext>
            </a:extLst>
          </p:cNvPr>
          <p:cNvSpPr/>
          <p:nvPr/>
        </p:nvSpPr>
        <p:spPr>
          <a:xfrm>
            <a:off x="8794865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D11A4B9-CF61-BC40-90DC-9E5B24C3A34E}"/>
              </a:ext>
            </a:extLst>
          </p:cNvPr>
          <p:cNvSpPr/>
          <p:nvPr/>
        </p:nvSpPr>
        <p:spPr>
          <a:xfrm>
            <a:off x="14979634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A4FF382D-92B9-4B41-950A-FBD513974478}"/>
              </a:ext>
            </a:extLst>
          </p:cNvPr>
          <p:cNvSpPr/>
          <p:nvPr/>
        </p:nvSpPr>
        <p:spPr>
          <a:xfrm>
            <a:off x="11909918" y="5393235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6D352-DAD4-AB46-9F51-F53A96757E7A}"/>
              </a:ext>
            </a:extLst>
          </p:cNvPr>
          <p:cNvSpPr txBox="1"/>
          <p:nvPr/>
        </p:nvSpPr>
        <p:spPr>
          <a:xfrm>
            <a:off x="11518487" y="50301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(200, 150)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E9F64-BF4F-5F4C-9046-C49625E2001A}"/>
              </a:ext>
            </a:extLst>
          </p:cNvPr>
          <p:cNvCxnSpPr/>
          <p:nvPr/>
        </p:nvCxnSpPr>
        <p:spPr>
          <a:xfrm>
            <a:off x="8902930" y="2693324"/>
            <a:ext cx="6184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52F41-5FA7-E84C-9293-3BFF2D9C7E2D}"/>
              </a:ext>
            </a:extLst>
          </p:cNvPr>
          <p:cNvCxnSpPr/>
          <p:nvPr/>
        </p:nvCxnSpPr>
        <p:spPr>
          <a:xfrm>
            <a:off x="8495607" y="2975956"/>
            <a:ext cx="0" cy="4907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AFD2BE-3123-CE4F-B0AF-B7341A4E2BD3}"/>
              </a:ext>
            </a:extLst>
          </p:cNvPr>
          <p:cNvSpPr txBox="1"/>
          <p:nvPr/>
        </p:nvSpPr>
        <p:spPr>
          <a:xfrm>
            <a:off x="11127058" y="238554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X-axis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160B-17FB-2844-A817-7F4A1F842242}"/>
              </a:ext>
            </a:extLst>
          </p:cNvPr>
          <p:cNvSpPr txBox="1"/>
          <p:nvPr/>
        </p:nvSpPr>
        <p:spPr>
          <a:xfrm rot="5400000">
            <a:off x="7923914" y="520575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Y-axis</a:t>
            </a:r>
          </a:p>
        </p:txBody>
      </p:sp>
    </p:spTree>
    <p:extLst>
      <p:ext uri="{BB962C8B-B14F-4D97-AF65-F5344CB8AC3E}">
        <p14:creationId xmlns:p14="http://schemas.microsoft.com/office/powerpoint/2010/main" val="955547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Understanding The Screen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1026951" y="1884582"/>
            <a:ext cx="666680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Our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program has a line of code that says “</a:t>
            </a:r>
            <a:r>
              <a:rPr lang="en-US" sz="3000" dirty="0" err="1">
                <a:solidFill>
                  <a:schemeClr val="bg1"/>
                </a:solidFill>
              </a:rPr>
              <a:t>set_mode</a:t>
            </a:r>
            <a:r>
              <a:rPr lang="en-US" sz="3000" dirty="0">
                <a:solidFill>
                  <a:schemeClr val="bg1"/>
                </a:solidFill>
              </a:rPr>
              <a:t>((400, 300)). What does it mean?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computer screen is made up of tiny boxes called “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”. The (400,300) tells the computer how many 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  wide and tall our window should be. We asked for a window 400 pixels wide and 300 pixels tall!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When we start drawing things inside our game window, we will do it by telling the computer which pixel or group of pixels we want to draw to.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7884571" y="2370186"/>
            <a:ext cx="8204762" cy="6245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4571" y="2370186"/>
            <a:ext cx="8266827" cy="6773814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8D9083B-A502-FB4E-AB75-3D2132528978}"/>
              </a:ext>
            </a:extLst>
          </p:cNvPr>
          <p:cNvSpPr/>
          <p:nvPr/>
        </p:nvSpPr>
        <p:spPr>
          <a:xfrm>
            <a:off x="8794865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4ACBD7A1-2E71-C243-AF8D-B1BCCCAB30B1}"/>
              </a:ext>
            </a:extLst>
          </p:cNvPr>
          <p:cNvSpPr/>
          <p:nvPr/>
        </p:nvSpPr>
        <p:spPr>
          <a:xfrm>
            <a:off x="14979634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87DC0DA-FA6F-274B-A181-4A34C126ACA6}"/>
              </a:ext>
            </a:extLst>
          </p:cNvPr>
          <p:cNvSpPr/>
          <p:nvPr/>
        </p:nvSpPr>
        <p:spPr>
          <a:xfrm>
            <a:off x="8794865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D11A4B9-CF61-BC40-90DC-9E5B24C3A34E}"/>
              </a:ext>
            </a:extLst>
          </p:cNvPr>
          <p:cNvSpPr/>
          <p:nvPr/>
        </p:nvSpPr>
        <p:spPr>
          <a:xfrm>
            <a:off x="14979634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A4FF382D-92B9-4B41-950A-FBD513974478}"/>
              </a:ext>
            </a:extLst>
          </p:cNvPr>
          <p:cNvSpPr/>
          <p:nvPr/>
        </p:nvSpPr>
        <p:spPr>
          <a:xfrm>
            <a:off x="11909918" y="5393235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6D352-DAD4-AB46-9F51-F53A96757E7A}"/>
              </a:ext>
            </a:extLst>
          </p:cNvPr>
          <p:cNvSpPr txBox="1"/>
          <p:nvPr/>
        </p:nvSpPr>
        <p:spPr>
          <a:xfrm>
            <a:off x="11518487" y="50301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(200, 150)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49C41-8BAB-8E43-876B-0CFCF437D6E5}"/>
              </a:ext>
            </a:extLst>
          </p:cNvPr>
          <p:cNvSpPr txBox="1"/>
          <p:nvPr/>
        </p:nvSpPr>
        <p:spPr>
          <a:xfrm>
            <a:off x="8794865" y="352502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E9F64-BF4F-5F4C-9046-C49625E2001A}"/>
              </a:ext>
            </a:extLst>
          </p:cNvPr>
          <p:cNvCxnSpPr/>
          <p:nvPr/>
        </p:nvCxnSpPr>
        <p:spPr>
          <a:xfrm>
            <a:off x="8902930" y="2693324"/>
            <a:ext cx="6184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52F41-5FA7-E84C-9293-3BFF2D9C7E2D}"/>
              </a:ext>
            </a:extLst>
          </p:cNvPr>
          <p:cNvCxnSpPr/>
          <p:nvPr/>
        </p:nvCxnSpPr>
        <p:spPr>
          <a:xfrm>
            <a:off x="8495607" y="2975956"/>
            <a:ext cx="0" cy="4907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AFD2BE-3123-CE4F-B0AF-B7341A4E2BD3}"/>
              </a:ext>
            </a:extLst>
          </p:cNvPr>
          <p:cNvSpPr txBox="1"/>
          <p:nvPr/>
        </p:nvSpPr>
        <p:spPr>
          <a:xfrm>
            <a:off x="11127058" y="238554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X-axis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160B-17FB-2844-A817-7F4A1F842242}"/>
              </a:ext>
            </a:extLst>
          </p:cNvPr>
          <p:cNvSpPr txBox="1"/>
          <p:nvPr/>
        </p:nvSpPr>
        <p:spPr>
          <a:xfrm rot="5400000">
            <a:off x="7923914" y="520575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Y-axis</a:t>
            </a:r>
          </a:p>
        </p:txBody>
      </p:sp>
    </p:spTree>
    <p:extLst>
      <p:ext uri="{BB962C8B-B14F-4D97-AF65-F5344CB8AC3E}">
        <p14:creationId xmlns:p14="http://schemas.microsoft.com/office/powerpoint/2010/main" val="35729944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Understanding The Screen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1026951" y="1884582"/>
            <a:ext cx="666680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Our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program has a line of code that says “</a:t>
            </a:r>
            <a:r>
              <a:rPr lang="en-US" sz="3000" dirty="0" err="1">
                <a:solidFill>
                  <a:schemeClr val="bg1"/>
                </a:solidFill>
              </a:rPr>
              <a:t>set_mode</a:t>
            </a:r>
            <a:r>
              <a:rPr lang="en-US" sz="3000" dirty="0">
                <a:solidFill>
                  <a:schemeClr val="bg1"/>
                </a:solidFill>
              </a:rPr>
              <a:t>((400, 300)). What does it mean?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computer screen is made up of tiny boxes called “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”. The (400,300) tells the computer how many 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  wide and tall our window should be. We asked for a window 400 pixels wide and 300 pixels tall!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When we start drawing things inside our game window, we will do it by telling the computer which pixel or group of pixels we want to draw to.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7884571" y="2370186"/>
            <a:ext cx="8204762" cy="6245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4571" y="2370186"/>
            <a:ext cx="8266827" cy="6773814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8D9083B-A502-FB4E-AB75-3D2132528978}"/>
              </a:ext>
            </a:extLst>
          </p:cNvPr>
          <p:cNvSpPr/>
          <p:nvPr/>
        </p:nvSpPr>
        <p:spPr>
          <a:xfrm>
            <a:off x="8794865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4ACBD7A1-2E71-C243-AF8D-B1BCCCAB30B1}"/>
              </a:ext>
            </a:extLst>
          </p:cNvPr>
          <p:cNvSpPr/>
          <p:nvPr/>
        </p:nvSpPr>
        <p:spPr>
          <a:xfrm>
            <a:off x="14979634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87DC0DA-FA6F-274B-A181-4A34C126ACA6}"/>
              </a:ext>
            </a:extLst>
          </p:cNvPr>
          <p:cNvSpPr/>
          <p:nvPr/>
        </p:nvSpPr>
        <p:spPr>
          <a:xfrm>
            <a:off x="8794865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D11A4B9-CF61-BC40-90DC-9E5B24C3A34E}"/>
              </a:ext>
            </a:extLst>
          </p:cNvPr>
          <p:cNvSpPr/>
          <p:nvPr/>
        </p:nvSpPr>
        <p:spPr>
          <a:xfrm>
            <a:off x="14979634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A4FF382D-92B9-4B41-950A-FBD513974478}"/>
              </a:ext>
            </a:extLst>
          </p:cNvPr>
          <p:cNvSpPr/>
          <p:nvPr/>
        </p:nvSpPr>
        <p:spPr>
          <a:xfrm>
            <a:off x="11909918" y="5393235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6D352-DAD4-AB46-9F51-F53A96757E7A}"/>
              </a:ext>
            </a:extLst>
          </p:cNvPr>
          <p:cNvSpPr txBox="1"/>
          <p:nvPr/>
        </p:nvSpPr>
        <p:spPr>
          <a:xfrm>
            <a:off x="11518487" y="50301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(200, 150)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49C41-8BAB-8E43-876B-0CFCF437D6E5}"/>
              </a:ext>
            </a:extLst>
          </p:cNvPr>
          <p:cNvSpPr txBox="1"/>
          <p:nvPr/>
        </p:nvSpPr>
        <p:spPr>
          <a:xfrm>
            <a:off x="8794865" y="352502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C7AC4-91CC-DA47-8D22-587C493EA7AF}"/>
              </a:ext>
            </a:extLst>
          </p:cNvPr>
          <p:cNvSpPr txBox="1"/>
          <p:nvPr/>
        </p:nvSpPr>
        <p:spPr>
          <a:xfrm>
            <a:off x="14395546" y="353506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E9F64-BF4F-5F4C-9046-C49625E2001A}"/>
              </a:ext>
            </a:extLst>
          </p:cNvPr>
          <p:cNvCxnSpPr/>
          <p:nvPr/>
        </p:nvCxnSpPr>
        <p:spPr>
          <a:xfrm>
            <a:off x="8902930" y="2693324"/>
            <a:ext cx="6184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52F41-5FA7-E84C-9293-3BFF2D9C7E2D}"/>
              </a:ext>
            </a:extLst>
          </p:cNvPr>
          <p:cNvCxnSpPr/>
          <p:nvPr/>
        </p:nvCxnSpPr>
        <p:spPr>
          <a:xfrm>
            <a:off x="8495607" y="2975956"/>
            <a:ext cx="0" cy="4907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AFD2BE-3123-CE4F-B0AF-B7341A4E2BD3}"/>
              </a:ext>
            </a:extLst>
          </p:cNvPr>
          <p:cNvSpPr txBox="1"/>
          <p:nvPr/>
        </p:nvSpPr>
        <p:spPr>
          <a:xfrm>
            <a:off x="11127058" y="238554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X-axis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160B-17FB-2844-A817-7F4A1F842242}"/>
              </a:ext>
            </a:extLst>
          </p:cNvPr>
          <p:cNvSpPr txBox="1"/>
          <p:nvPr/>
        </p:nvSpPr>
        <p:spPr>
          <a:xfrm rot="5400000">
            <a:off x="7923914" y="520575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Y-axis</a:t>
            </a:r>
          </a:p>
        </p:txBody>
      </p:sp>
    </p:spTree>
    <p:extLst>
      <p:ext uri="{BB962C8B-B14F-4D97-AF65-F5344CB8AC3E}">
        <p14:creationId xmlns:p14="http://schemas.microsoft.com/office/powerpoint/2010/main" val="34082249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Understanding The Screen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1026951" y="1884582"/>
            <a:ext cx="666680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Our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program has a line of code that says “</a:t>
            </a:r>
            <a:r>
              <a:rPr lang="en-US" sz="3000" dirty="0" err="1">
                <a:solidFill>
                  <a:schemeClr val="bg1"/>
                </a:solidFill>
              </a:rPr>
              <a:t>set_mode</a:t>
            </a:r>
            <a:r>
              <a:rPr lang="en-US" sz="3000" dirty="0">
                <a:solidFill>
                  <a:schemeClr val="bg1"/>
                </a:solidFill>
              </a:rPr>
              <a:t>((400, 300)). What does it mean?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computer screen is made up of tiny boxes called “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”. The (400,300) tells the computer how many 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  wide and tall our window should be. We asked for a window 400 pixels wide and 300 pixels tall!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When we start drawing things inside our game window, we will do it by telling the computer which pixel or group of pixels we want to draw to.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7884571" y="2370186"/>
            <a:ext cx="8204762" cy="6245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4571" y="2370186"/>
            <a:ext cx="8266827" cy="6773814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8D9083B-A502-FB4E-AB75-3D2132528978}"/>
              </a:ext>
            </a:extLst>
          </p:cNvPr>
          <p:cNvSpPr/>
          <p:nvPr/>
        </p:nvSpPr>
        <p:spPr>
          <a:xfrm>
            <a:off x="8794865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4ACBD7A1-2E71-C243-AF8D-B1BCCCAB30B1}"/>
              </a:ext>
            </a:extLst>
          </p:cNvPr>
          <p:cNvSpPr/>
          <p:nvPr/>
        </p:nvSpPr>
        <p:spPr>
          <a:xfrm>
            <a:off x="14979634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87DC0DA-FA6F-274B-A181-4A34C126ACA6}"/>
              </a:ext>
            </a:extLst>
          </p:cNvPr>
          <p:cNvSpPr/>
          <p:nvPr/>
        </p:nvSpPr>
        <p:spPr>
          <a:xfrm>
            <a:off x="8794865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D11A4B9-CF61-BC40-90DC-9E5B24C3A34E}"/>
              </a:ext>
            </a:extLst>
          </p:cNvPr>
          <p:cNvSpPr/>
          <p:nvPr/>
        </p:nvSpPr>
        <p:spPr>
          <a:xfrm>
            <a:off x="14979634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A4FF382D-92B9-4B41-950A-FBD513974478}"/>
              </a:ext>
            </a:extLst>
          </p:cNvPr>
          <p:cNvSpPr/>
          <p:nvPr/>
        </p:nvSpPr>
        <p:spPr>
          <a:xfrm>
            <a:off x="11909918" y="5393235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6D352-DAD4-AB46-9F51-F53A96757E7A}"/>
              </a:ext>
            </a:extLst>
          </p:cNvPr>
          <p:cNvSpPr txBox="1"/>
          <p:nvPr/>
        </p:nvSpPr>
        <p:spPr>
          <a:xfrm>
            <a:off x="11518487" y="50301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(200, 150)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49C41-8BAB-8E43-876B-0CFCF437D6E5}"/>
              </a:ext>
            </a:extLst>
          </p:cNvPr>
          <p:cNvSpPr txBox="1"/>
          <p:nvPr/>
        </p:nvSpPr>
        <p:spPr>
          <a:xfrm>
            <a:off x="8794865" y="352502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26600-F10F-4E4B-9BC9-3F5E076DF346}"/>
              </a:ext>
            </a:extLst>
          </p:cNvPr>
          <p:cNvSpPr txBox="1"/>
          <p:nvPr/>
        </p:nvSpPr>
        <p:spPr>
          <a:xfrm>
            <a:off x="8834208" y="7265738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(0, 300)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C7AC4-91CC-DA47-8D22-587C493EA7AF}"/>
              </a:ext>
            </a:extLst>
          </p:cNvPr>
          <p:cNvSpPr txBox="1"/>
          <p:nvPr/>
        </p:nvSpPr>
        <p:spPr>
          <a:xfrm>
            <a:off x="14395546" y="353506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E9F64-BF4F-5F4C-9046-C49625E2001A}"/>
              </a:ext>
            </a:extLst>
          </p:cNvPr>
          <p:cNvCxnSpPr/>
          <p:nvPr/>
        </p:nvCxnSpPr>
        <p:spPr>
          <a:xfrm>
            <a:off x="8902930" y="2693324"/>
            <a:ext cx="6184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52F41-5FA7-E84C-9293-3BFF2D9C7E2D}"/>
              </a:ext>
            </a:extLst>
          </p:cNvPr>
          <p:cNvCxnSpPr/>
          <p:nvPr/>
        </p:nvCxnSpPr>
        <p:spPr>
          <a:xfrm>
            <a:off x="8495607" y="2975956"/>
            <a:ext cx="0" cy="4907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AFD2BE-3123-CE4F-B0AF-B7341A4E2BD3}"/>
              </a:ext>
            </a:extLst>
          </p:cNvPr>
          <p:cNvSpPr txBox="1"/>
          <p:nvPr/>
        </p:nvSpPr>
        <p:spPr>
          <a:xfrm>
            <a:off x="11127058" y="238554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X-axis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160B-17FB-2844-A817-7F4A1F842242}"/>
              </a:ext>
            </a:extLst>
          </p:cNvPr>
          <p:cNvSpPr txBox="1"/>
          <p:nvPr/>
        </p:nvSpPr>
        <p:spPr>
          <a:xfrm rot="5400000">
            <a:off x="7923914" y="520575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Y-axis</a:t>
            </a:r>
          </a:p>
        </p:txBody>
      </p:sp>
    </p:spTree>
    <p:extLst>
      <p:ext uri="{BB962C8B-B14F-4D97-AF65-F5344CB8AC3E}">
        <p14:creationId xmlns:p14="http://schemas.microsoft.com/office/powerpoint/2010/main" val="3232567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Understanding The Screen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1026951" y="1884582"/>
            <a:ext cx="6666806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Our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program has a line of code that says “</a:t>
            </a:r>
            <a:r>
              <a:rPr lang="en-US" sz="3000" dirty="0" err="1">
                <a:solidFill>
                  <a:schemeClr val="bg1"/>
                </a:solidFill>
              </a:rPr>
              <a:t>set_mode</a:t>
            </a:r>
            <a:r>
              <a:rPr lang="en-US" sz="3000" dirty="0">
                <a:solidFill>
                  <a:schemeClr val="bg1"/>
                </a:solidFill>
              </a:rPr>
              <a:t>((400, 300)). What does it mean?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computer screen is made up of tiny boxes called “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”. The (400,300) tells the computer how many </a:t>
            </a:r>
            <a:r>
              <a:rPr lang="en-US" sz="3000" dirty="0">
                <a:solidFill>
                  <a:srgbClr val="FD7F23"/>
                </a:solidFill>
              </a:rPr>
              <a:t>pixels</a:t>
            </a:r>
            <a:r>
              <a:rPr lang="en-US" sz="3000" dirty="0">
                <a:solidFill>
                  <a:schemeClr val="bg1"/>
                </a:solidFill>
              </a:rPr>
              <a:t>  wide and tall our window should be. We asked for a window 400 pixels wide and 300 pixels tall!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When we start drawing things inside our game window, we will do it by telling the computer which pixel or group of pixels we want to draw to. 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7884571" y="2370186"/>
            <a:ext cx="8204762" cy="6245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4571" y="2370186"/>
            <a:ext cx="8266827" cy="6773814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8D9083B-A502-FB4E-AB75-3D2132528978}"/>
              </a:ext>
            </a:extLst>
          </p:cNvPr>
          <p:cNvSpPr/>
          <p:nvPr/>
        </p:nvSpPr>
        <p:spPr>
          <a:xfrm>
            <a:off x="8794865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4ACBD7A1-2E71-C243-AF8D-B1BCCCAB30B1}"/>
              </a:ext>
            </a:extLst>
          </p:cNvPr>
          <p:cNvSpPr/>
          <p:nvPr/>
        </p:nvSpPr>
        <p:spPr>
          <a:xfrm>
            <a:off x="14979634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87DC0DA-FA6F-274B-A181-4A34C126ACA6}"/>
              </a:ext>
            </a:extLst>
          </p:cNvPr>
          <p:cNvSpPr/>
          <p:nvPr/>
        </p:nvSpPr>
        <p:spPr>
          <a:xfrm>
            <a:off x="8794865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D11A4B9-CF61-BC40-90DC-9E5B24C3A34E}"/>
              </a:ext>
            </a:extLst>
          </p:cNvPr>
          <p:cNvSpPr/>
          <p:nvPr/>
        </p:nvSpPr>
        <p:spPr>
          <a:xfrm>
            <a:off x="14979634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A4FF382D-92B9-4B41-950A-FBD513974478}"/>
              </a:ext>
            </a:extLst>
          </p:cNvPr>
          <p:cNvSpPr/>
          <p:nvPr/>
        </p:nvSpPr>
        <p:spPr>
          <a:xfrm>
            <a:off x="11909918" y="5393235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6D352-DAD4-AB46-9F51-F53A96757E7A}"/>
              </a:ext>
            </a:extLst>
          </p:cNvPr>
          <p:cNvSpPr txBox="1"/>
          <p:nvPr/>
        </p:nvSpPr>
        <p:spPr>
          <a:xfrm>
            <a:off x="11518487" y="50301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(200, 150)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49C41-8BAB-8E43-876B-0CFCF437D6E5}"/>
              </a:ext>
            </a:extLst>
          </p:cNvPr>
          <p:cNvSpPr txBox="1"/>
          <p:nvPr/>
        </p:nvSpPr>
        <p:spPr>
          <a:xfrm>
            <a:off x="8794865" y="352502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26600-F10F-4E4B-9BC9-3F5E076DF346}"/>
              </a:ext>
            </a:extLst>
          </p:cNvPr>
          <p:cNvSpPr txBox="1"/>
          <p:nvPr/>
        </p:nvSpPr>
        <p:spPr>
          <a:xfrm>
            <a:off x="8834208" y="7265738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(0, 300)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6030D6-3987-2E48-B10E-748A6BB6D6D3}"/>
              </a:ext>
            </a:extLst>
          </p:cNvPr>
          <p:cNvSpPr txBox="1"/>
          <p:nvPr/>
        </p:nvSpPr>
        <p:spPr>
          <a:xfrm>
            <a:off x="14196774" y="7375954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(400, 300)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C7AC4-91CC-DA47-8D22-587C493EA7AF}"/>
              </a:ext>
            </a:extLst>
          </p:cNvPr>
          <p:cNvSpPr txBox="1"/>
          <p:nvPr/>
        </p:nvSpPr>
        <p:spPr>
          <a:xfrm>
            <a:off x="14395546" y="353506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E9F64-BF4F-5F4C-9046-C49625E2001A}"/>
              </a:ext>
            </a:extLst>
          </p:cNvPr>
          <p:cNvCxnSpPr/>
          <p:nvPr/>
        </p:nvCxnSpPr>
        <p:spPr>
          <a:xfrm>
            <a:off x="8902930" y="2693324"/>
            <a:ext cx="6184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52F41-5FA7-E84C-9293-3BFF2D9C7E2D}"/>
              </a:ext>
            </a:extLst>
          </p:cNvPr>
          <p:cNvCxnSpPr/>
          <p:nvPr/>
        </p:nvCxnSpPr>
        <p:spPr>
          <a:xfrm>
            <a:off x="8495607" y="2975956"/>
            <a:ext cx="0" cy="4907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AFD2BE-3123-CE4F-B0AF-B7341A4E2BD3}"/>
              </a:ext>
            </a:extLst>
          </p:cNvPr>
          <p:cNvSpPr txBox="1"/>
          <p:nvPr/>
        </p:nvSpPr>
        <p:spPr>
          <a:xfrm>
            <a:off x="11127058" y="238554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X-axis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160B-17FB-2844-A817-7F4A1F842242}"/>
              </a:ext>
            </a:extLst>
          </p:cNvPr>
          <p:cNvSpPr txBox="1"/>
          <p:nvPr/>
        </p:nvSpPr>
        <p:spPr>
          <a:xfrm rot="5400000">
            <a:off x="7923914" y="520575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Y-axis</a:t>
            </a:r>
          </a:p>
        </p:txBody>
      </p:sp>
    </p:spTree>
    <p:extLst>
      <p:ext uri="{BB962C8B-B14F-4D97-AF65-F5344CB8AC3E}">
        <p14:creationId xmlns:p14="http://schemas.microsoft.com/office/powerpoint/2010/main" val="9769557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7884571" y="2370186"/>
            <a:ext cx="8204762" cy="6245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4571" y="2370186"/>
            <a:ext cx="8266827" cy="6773814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88D9083B-A502-FB4E-AB75-3D2132528978}"/>
              </a:ext>
            </a:extLst>
          </p:cNvPr>
          <p:cNvSpPr/>
          <p:nvPr/>
        </p:nvSpPr>
        <p:spPr>
          <a:xfrm>
            <a:off x="8794865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4ACBD7A1-2E71-C243-AF8D-B1BCCCAB30B1}"/>
              </a:ext>
            </a:extLst>
          </p:cNvPr>
          <p:cNvSpPr/>
          <p:nvPr/>
        </p:nvSpPr>
        <p:spPr>
          <a:xfrm>
            <a:off x="14979634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87DC0DA-FA6F-274B-A181-4A34C126ACA6}"/>
              </a:ext>
            </a:extLst>
          </p:cNvPr>
          <p:cNvSpPr/>
          <p:nvPr/>
        </p:nvSpPr>
        <p:spPr>
          <a:xfrm>
            <a:off x="8794865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D11A4B9-CF61-BC40-90DC-9E5B24C3A34E}"/>
              </a:ext>
            </a:extLst>
          </p:cNvPr>
          <p:cNvSpPr/>
          <p:nvPr/>
        </p:nvSpPr>
        <p:spPr>
          <a:xfrm>
            <a:off x="14979634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A4FF382D-92B9-4B41-950A-FBD513974478}"/>
              </a:ext>
            </a:extLst>
          </p:cNvPr>
          <p:cNvSpPr/>
          <p:nvPr/>
        </p:nvSpPr>
        <p:spPr>
          <a:xfrm>
            <a:off x="11909918" y="5393235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6D352-DAD4-AB46-9F51-F53A96757E7A}"/>
              </a:ext>
            </a:extLst>
          </p:cNvPr>
          <p:cNvSpPr txBox="1"/>
          <p:nvPr/>
        </p:nvSpPr>
        <p:spPr>
          <a:xfrm>
            <a:off x="11518487" y="50301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(200, 150)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49C41-8BAB-8E43-876B-0CFCF437D6E5}"/>
              </a:ext>
            </a:extLst>
          </p:cNvPr>
          <p:cNvSpPr txBox="1"/>
          <p:nvPr/>
        </p:nvSpPr>
        <p:spPr>
          <a:xfrm>
            <a:off x="8794865" y="352502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26600-F10F-4E4B-9BC9-3F5E076DF346}"/>
              </a:ext>
            </a:extLst>
          </p:cNvPr>
          <p:cNvSpPr txBox="1"/>
          <p:nvPr/>
        </p:nvSpPr>
        <p:spPr>
          <a:xfrm>
            <a:off x="8834208" y="7265738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(0, 300)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6030D6-3987-2E48-B10E-748A6BB6D6D3}"/>
              </a:ext>
            </a:extLst>
          </p:cNvPr>
          <p:cNvSpPr txBox="1"/>
          <p:nvPr/>
        </p:nvSpPr>
        <p:spPr>
          <a:xfrm>
            <a:off x="14196774" y="7375954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(400, 300)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C7AC4-91CC-DA47-8D22-587C493EA7AF}"/>
              </a:ext>
            </a:extLst>
          </p:cNvPr>
          <p:cNvSpPr txBox="1"/>
          <p:nvPr/>
        </p:nvSpPr>
        <p:spPr>
          <a:xfrm>
            <a:off x="14395546" y="353506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E9F64-BF4F-5F4C-9046-C49625E2001A}"/>
              </a:ext>
            </a:extLst>
          </p:cNvPr>
          <p:cNvCxnSpPr/>
          <p:nvPr/>
        </p:nvCxnSpPr>
        <p:spPr>
          <a:xfrm>
            <a:off x="8902930" y="2693324"/>
            <a:ext cx="6184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52F41-5FA7-E84C-9293-3BFF2D9C7E2D}"/>
              </a:ext>
            </a:extLst>
          </p:cNvPr>
          <p:cNvCxnSpPr/>
          <p:nvPr/>
        </p:nvCxnSpPr>
        <p:spPr>
          <a:xfrm>
            <a:off x="8495607" y="2975956"/>
            <a:ext cx="0" cy="4907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AFD2BE-3123-CE4F-B0AF-B7341A4E2BD3}"/>
              </a:ext>
            </a:extLst>
          </p:cNvPr>
          <p:cNvSpPr txBox="1"/>
          <p:nvPr/>
        </p:nvSpPr>
        <p:spPr>
          <a:xfrm>
            <a:off x="11127058" y="238554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X-axis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160B-17FB-2844-A817-7F4A1F842242}"/>
              </a:ext>
            </a:extLst>
          </p:cNvPr>
          <p:cNvSpPr txBox="1"/>
          <p:nvPr/>
        </p:nvSpPr>
        <p:spPr>
          <a:xfrm rot="5400000">
            <a:off x="7923914" y="520575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Y-axis</a:t>
            </a:r>
          </a:p>
        </p:txBody>
      </p:sp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 What?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744318" y="3009207"/>
            <a:ext cx="66668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Later, when we draw things on the screen, we will do it by using these “pixel addresses”. 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For instance, I might want to draw a </a:t>
            </a:r>
            <a:r>
              <a:rPr lang="en-US" sz="3000" dirty="0">
                <a:solidFill>
                  <a:srgbClr val="00FF00"/>
                </a:solidFill>
              </a:rPr>
              <a:t>green rectangle </a:t>
            </a:r>
            <a:r>
              <a:rPr lang="en-US" sz="3000" dirty="0">
                <a:solidFill>
                  <a:schemeClr val="bg1"/>
                </a:solidFill>
              </a:rPr>
              <a:t>that starts at (200, 150) and ends at (400,300)…what would that look like?</a:t>
            </a:r>
          </a:p>
        </p:txBody>
      </p:sp>
    </p:spTree>
    <p:extLst>
      <p:ext uri="{BB962C8B-B14F-4D97-AF65-F5344CB8AC3E}">
        <p14:creationId xmlns:p14="http://schemas.microsoft.com/office/powerpoint/2010/main" val="2708826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CCDEE88-A508-C14E-8CEF-513DCCA3F18C}"/>
              </a:ext>
            </a:extLst>
          </p:cNvPr>
          <p:cNvSpPr/>
          <p:nvPr/>
        </p:nvSpPr>
        <p:spPr>
          <a:xfrm>
            <a:off x="7884571" y="2370186"/>
            <a:ext cx="8204762" cy="62456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B24CC9-4266-0B49-9EAF-86F5C11960D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4571" y="2370186"/>
            <a:ext cx="8266827" cy="67738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DDE7F3-5B9C-574B-9E86-D239DEB5683E}"/>
              </a:ext>
            </a:extLst>
          </p:cNvPr>
          <p:cNvSpPr/>
          <p:nvPr/>
        </p:nvSpPr>
        <p:spPr>
          <a:xfrm>
            <a:off x="11909918" y="5393235"/>
            <a:ext cx="3285847" cy="2490002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Frame 1">
            <a:extLst>
              <a:ext uri="{FF2B5EF4-FFF2-40B4-BE49-F238E27FC236}">
                <a16:creationId xmlns:a16="http://schemas.microsoft.com/office/drawing/2014/main" id="{88D9083B-A502-FB4E-AB75-3D2132528978}"/>
              </a:ext>
            </a:extLst>
          </p:cNvPr>
          <p:cNvSpPr/>
          <p:nvPr/>
        </p:nvSpPr>
        <p:spPr>
          <a:xfrm>
            <a:off x="8794865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ame 10">
            <a:extLst>
              <a:ext uri="{FF2B5EF4-FFF2-40B4-BE49-F238E27FC236}">
                <a16:creationId xmlns:a16="http://schemas.microsoft.com/office/drawing/2014/main" id="{4ACBD7A1-2E71-C243-AF8D-B1BCCCAB30B1}"/>
              </a:ext>
            </a:extLst>
          </p:cNvPr>
          <p:cNvSpPr/>
          <p:nvPr/>
        </p:nvSpPr>
        <p:spPr>
          <a:xfrm>
            <a:off x="14979634" y="3225338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E87DC0DA-FA6F-274B-A181-4A34C126ACA6}"/>
              </a:ext>
            </a:extLst>
          </p:cNvPr>
          <p:cNvSpPr/>
          <p:nvPr/>
        </p:nvSpPr>
        <p:spPr>
          <a:xfrm>
            <a:off x="8794865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ame 12">
            <a:extLst>
              <a:ext uri="{FF2B5EF4-FFF2-40B4-BE49-F238E27FC236}">
                <a16:creationId xmlns:a16="http://schemas.microsoft.com/office/drawing/2014/main" id="{FD11A4B9-CF61-BC40-90DC-9E5B24C3A34E}"/>
              </a:ext>
            </a:extLst>
          </p:cNvPr>
          <p:cNvSpPr/>
          <p:nvPr/>
        </p:nvSpPr>
        <p:spPr>
          <a:xfrm>
            <a:off x="14979634" y="7683731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Frame 13">
            <a:extLst>
              <a:ext uri="{FF2B5EF4-FFF2-40B4-BE49-F238E27FC236}">
                <a16:creationId xmlns:a16="http://schemas.microsoft.com/office/drawing/2014/main" id="{A4FF382D-92B9-4B41-950A-FBD513974478}"/>
              </a:ext>
            </a:extLst>
          </p:cNvPr>
          <p:cNvSpPr/>
          <p:nvPr/>
        </p:nvSpPr>
        <p:spPr>
          <a:xfrm>
            <a:off x="11909918" y="5393235"/>
            <a:ext cx="216131" cy="199506"/>
          </a:xfrm>
          <a:prstGeom prst="fram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86D352-DAD4-AB46-9F51-F53A96757E7A}"/>
              </a:ext>
            </a:extLst>
          </p:cNvPr>
          <p:cNvSpPr txBox="1"/>
          <p:nvPr/>
        </p:nvSpPr>
        <p:spPr>
          <a:xfrm>
            <a:off x="11518487" y="5030192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(200, 150)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849C41-8BAB-8E43-876B-0CFCF437D6E5}"/>
              </a:ext>
            </a:extLst>
          </p:cNvPr>
          <p:cNvSpPr txBox="1"/>
          <p:nvPr/>
        </p:nvSpPr>
        <p:spPr>
          <a:xfrm>
            <a:off x="8794865" y="3525023"/>
            <a:ext cx="6014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(0, 0)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726600-F10F-4E4B-9BC9-3F5E076DF346}"/>
              </a:ext>
            </a:extLst>
          </p:cNvPr>
          <p:cNvSpPr txBox="1"/>
          <p:nvPr/>
        </p:nvSpPr>
        <p:spPr>
          <a:xfrm>
            <a:off x="8834208" y="7265738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(0, 300)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6030D6-3987-2E48-B10E-748A6BB6D6D3}"/>
              </a:ext>
            </a:extLst>
          </p:cNvPr>
          <p:cNvSpPr txBox="1"/>
          <p:nvPr/>
        </p:nvSpPr>
        <p:spPr>
          <a:xfrm>
            <a:off x="14196774" y="7375954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(400, 300)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4C7AC4-91CC-DA47-8D22-587C493EA7AF}"/>
              </a:ext>
            </a:extLst>
          </p:cNvPr>
          <p:cNvSpPr txBox="1"/>
          <p:nvPr/>
        </p:nvSpPr>
        <p:spPr>
          <a:xfrm>
            <a:off x="14395546" y="3535060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(400, 0)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1E9F64-BF4F-5F4C-9046-C49625E2001A}"/>
              </a:ext>
            </a:extLst>
          </p:cNvPr>
          <p:cNvCxnSpPr/>
          <p:nvPr/>
        </p:nvCxnSpPr>
        <p:spPr>
          <a:xfrm>
            <a:off x="8902930" y="2693324"/>
            <a:ext cx="618476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0A52F41-5FA7-E84C-9293-3BFF2D9C7E2D}"/>
              </a:ext>
            </a:extLst>
          </p:cNvPr>
          <p:cNvCxnSpPr/>
          <p:nvPr/>
        </p:nvCxnSpPr>
        <p:spPr>
          <a:xfrm>
            <a:off x="8495607" y="2975956"/>
            <a:ext cx="0" cy="49072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AAFD2BE-3123-CE4F-B0AF-B7341A4E2BD3}"/>
              </a:ext>
            </a:extLst>
          </p:cNvPr>
          <p:cNvSpPr txBox="1"/>
          <p:nvPr/>
        </p:nvSpPr>
        <p:spPr>
          <a:xfrm>
            <a:off x="11127058" y="2385547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X-axis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90160B-17FB-2844-A817-7F4A1F842242}"/>
              </a:ext>
            </a:extLst>
          </p:cNvPr>
          <p:cNvSpPr txBox="1"/>
          <p:nvPr/>
        </p:nvSpPr>
        <p:spPr>
          <a:xfrm rot="5400000">
            <a:off x="7923914" y="5205753"/>
            <a:ext cx="6832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Y-axis</a:t>
            </a:r>
          </a:p>
        </p:txBody>
      </p:sp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69856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So What?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29715E-1F45-D148-B884-DA22C7083088}"/>
              </a:ext>
            </a:extLst>
          </p:cNvPr>
          <p:cNvSpPr txBox="1"/>
          <p:nvPr/>
        </p:nvSpPr>
        <p:spPr>
          <a:xfrm>
            <a:off x="744318" y="3009207"/>
            <a:ext cx="66668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Later, when we draw things on the screen, we will do it by using these “pixel addresses”. 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For instance, I might want to draw a </a:t>
            </a:r>
            <a:r>
              <a:rPr lang="en-US" sz="3000" dirty="0">
                <a:solidFill>
                  <a:srgbClr val="00FF00"/>
                </a:solidFill>
              </a:rPr>
              <a:t>green rectangle </a:t>
            </a:r>
            <a:r>
              <a:rPr lang="en-US" sz="3000" dirty="0">
                <a:solidFill>
                  <a:schemeClr val="bg1"/>
                </a:solidFill>
              </a:rPr>
              <a:t>that starts at (200, 150) and ends at (400,300)…what would that look like?</a:t>
            </a:r>
          </a:p>
        </p:txBody>
      </p:sp>
    </p:spTree>
    <p:extLst>
      <p:ext uri="{BB962C8B-B14F-4D97-AF65-F5344CB8AC3E}">
        <p14:creationId xmlns:p14="http://schemas.microsoft.com/office/powerpoint/2010/main" val="17890057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039322" y="3828220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Colors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28465052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70373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Learning About Color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C0BE8-2413-C042-A401-75FF358FD23B}"/>
              </a:ext>
            </a:extLst>
          </p:cNvPr>
          <p:cNvSpPr txBox="1"/>
          <p:nvPr/>
        </p:nvSpPr>
        <p:spPr>
          <a:xfrm>
            <a:off x="315883" y="2360815"/>
            <a:ext cx="155115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On the computer, colors are represented using the three primary colors: </a:t>
            </a:r>
            <a:r>
              <a:rPr lang="en-US" sz="3000" dirty="0">
                <a:solidFill>
                  <a:srgbClr val="FF0000"/>
                </a:solidFill>
              </a:rPr>
              <a:t>red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>
                <a:solidFill>
                  <a:srgbClr val="00B050"/>
                </a:solidFill>
              </a:rPr>
              <a:t>green</a:t>
            </a:r>
            <a:r>
              <a:rPr lang="en-US" sz="3000" dirty="0">
                <a:solidFill>
                  <a:schemeClr val="bg1"/>
                </a:solidFill>
              </a:rPr>
              <a:t>, and </a:t>
            </a:r>
            <a:r>
              <a:rPr lang="en-US" sz="3000" dirty="0">
                <a:solidFill>
                  <a:srgbClr val="00B0F0"/>
                </a:solidFill>
              </a:rPr>
              <a:t>blue</a:t>
            </a:r>
            <a:r>
              <a:rPr lang="en-US" sz="3000" dirty="0">
                <a:solidFill>
                  <a:schemeClr val="bg1"/>
                </a:solidFill>
              </a:rPr>
              <a:t>. All the colors you see on your computer screen are made by mixing these three colors together. In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, numbers from 0 to 255 represent how much of each color you need to mix to get the color you want. Like this: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RED = (255, 0,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GREEN = (0, 255,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BLUE = (0, 0, 255)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PURPLE = (128, 0, 128)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SILVER = (192, 192, 192)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How would I make black? What about white? </a:t>
            </a:r>
          </a:p>
        </p:txBody>
      </p:sp>
    </p:spTree>
    <p:extLst>
      <p:ext uri="{BB962C8B-B14F-4D97-AF65-F5344CB8AC3E}">
        <p14:creationId xmlns:p14="http://schemas.microsoft.com/office/powerpoint/2010/main" val="21521271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70373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Learning About Color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C0BE8-2413-C042-A401-75FF358FD23B}"/>
              </a:ext>
            </a:extLst>
          </p:cNvPr>
          <p:cNvSpPr txBox="1"/>
          <p:nvPr/>
        </p:nvSpPr>
        <p:spPr>
          <a:xfrm>
            <a:off x="315883" y="2360815"/>
            <a:ext cx="155115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On the computer, colors are represented using the three primary colors: </a:t>
            </a:r>
            <a:r>
              <a:rPr lang="en-US" sz="3000" dirty="0">
                <a:solidFill>
                  <a:srgbClr val="FF0000"/>
                </a:solidFill>
              </a:rPr>
              <a:t>red</a:t>
            </a:r>
            <a:r>
              <a:rPr lang="en-US" sz="3000" dirty="0">
                <a:solidFill>
                  <a:schemeClr val="bg1"/>
                </a:solidFill>
              </a:rPr>
              <a:t>, </a:t>
            </a:r>
            <a:r>
              <a:rPr lang="en-US" sz="3000" dirty="0">
                <a:solidFill>
                  <a:srgbClr val="00B050"/>
                </a:solidFill>
              </a:rPr>
              <a:t>green</a:t>
            </a:r>
            <a:r>
              <a:rPr lang="en-US" sz="3000" dirty="0">
                <a:solidFill>
                  <a:schemeClr val="bg1"/>
                </a:solidFill>
              </a:rPr>
              <a:t>, and </a:t>
            </a:r>
            <a:r>
              <a:rPr lang="en-US" sz="3000" dirty="0">
                <a:solidFill>
                  <a:srgbClr val="00B0F0"/>
                </a:solidFill>
              </a:rPr>
              <a:t>blue</a:t>
            </a:r>
            <a:r>
              <a:rPr lang="en-US" sz="3000" dirty="0">
                <a:solidFill>
                  <a:schemeClr val="bg1"/>
                </a:solidFill>
              </a:rPr>
              <a:t>. All the colors you see on your computer screen are made by mixing these three colors together. In </a:t>
            </a:r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, numbers from 0 to 255 represent how much of each color you need to mix to get the color you want. Like this: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RED = (255, 0,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GREEN = (0, 255,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BLUE = (0, 0, 255)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PURPLE = (128, 0, 128)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SILVER = (192, 192, 192)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How would I make black? What about white?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6EC996-1E5E-9C43-9B05-4F7E855D7130}"/>
              </a:ext>
            </a:extLst>
          </p:cNvPr>
          <p:cNvSpPr txBox="1"/>
          <p:nvPr/>
        </p:nvSpPr>
        <p:spPr>
          <a:xfrm>
            <a:off x="9293629" y="5453150"/>
            <a:ext cx="54938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BLACK = (0, 0,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WHITE = (255, 255, 255)</a:t>
            </a:r>
          </a:p>
        </p:txBody>
      </p:sp>
    </p:spTree>
    <p:extLst>
      <p:ext uri="{BB962C8B-B14F-4D97-AF65-F5344CB8AC3E}">
        <p14:creationId xmlns:p14="http://schemas.microsoft.com/office/powerpoint/2010/main" val="35657079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70373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 Good Use For Dictionaries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C0BE8-2413-C042-A401-75FF358FD23B}"/>
              </a:ext>
            </a:extLst>
          </p:cNvPr>
          <p:cNvSpPr txBox="1"/>
          <p:nvPr/>
        </p:nvSpPr>
        <p:spPr>
          <a:xfrm>
            <a:off x="315883" y="2360815"/>
            <a:ext cx="1551155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Let’s imagine that I am making my own game. I want to use lots of different colors to make the game look cool. Will I have to make a different </a:t>
            </a:r>
            <a:r>
              <a:rPr lang="en-US" sz="3000" dirty="0">
                <a:solidFill>
                  <a:srgbClr val="FD7F23"/>
                </a:solidFill>
              </a:rPr>
              <a:t>variable</a:t>
            </a:r>
            <a:r>
              <a:rPr lang="en-US" sz="3000" dirty="0">
                <a:solidFill>
                  <a:schemeClr val="bg1"/>
                </a:solidFill>
              </a:rPr>
              <a:t> for each one? No! We can use a dictionary! 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 err="1">
                <a:solidFill>
                  <a:srgbClr val="FF40FF"/>
                </a:solidFill>
                <a:latin typeface="Courier" pitchFamily="2" charset="0"/>
              </a:rPr>
              <a:t>my_colors</a:t>
            </a:r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 = {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	“red”: (255, 0,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	“green”: (0, 255,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	“blue”: (0, 0, 255)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	“silver”: (192, 192, 192)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}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Later when I want to use a color in my program, I can simply write something like “</a:t>
            </a:r>
            <a:r>
              <a:rPr lang="en-US" sz="3000" dirty="0" err="1">
                <a:solidFill>
                  <a:schemeClr val="bg1"/>
                </a:solidFill>
              </a:rPr>
              <a:t>my_colors</a:t>
            </a:r>
            <a:r>
              <a:rPr lang="en-US" sz="3000" dirty="0">
                <a:solidFill>
                  <a:schemeClr val="bg1"/>
                </a:solidFill>
              </a:rPr>
              <a:t>[“silver”]” which is much easier to remember than (192, 192, 192)!</a:t>
            </a:r>
          </a:p>
          <a:p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9936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155700" y="270373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Another Way…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9C0BE8-2413-C042-A401-75FF358FD23B}"/>
              </a:ext>
            </a:extLst>
          </p:cNvPr>
          <p:cNvSpPr txBox="1"/>
          <p:nvPr/>
        </p:nvSpPr>
        <p:spPr>
          <a:xfrm>
            <a:off x="315883" y="2360815"/>
            <a:ext cx="155115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also has a special type of “object” called a “Color” object. We haven’t talked about Objects yet, but just remember for now you can also make a color like this: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RED = </a:t>
            </a:r>
            <a:r>
              <a:rPr lang="en-US" sz="3000" dirty="0" err="1">
                <a:solidFill>
                  <a:srgbClr val="FF40FF"/>
                </a:solidFill>
                <a:latin typeface="Courier" pitchFamily="2" charset="0"/>
              </a:rPr>
              <a:t>pygame.Color</a:t>
            </a:r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(255, 0, 0)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Inside your games, </a:t>
            </a:r>
            <a:r>
              <a:rPr lang="en-US" sz="3000" dirty="0" err="1">
                <a:solidFill>
                  <a:schemeClr val="bg1"/>
                </a:solidFill>
              </a:rPr>
              <a:t>pygame.Color</a:t>
            </a:r>
            <a:r>
              <a:rPr lang="en-US" sz="3000" dirty="0">
                <a:solidFill>
                  <a:schemeClr val="bg1"/>
                </a:solidFill>
              </a:rPr>
              <a:t>(255, 0, 0) is the same thing as (255, 0, 0) when you use “==“: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&gt;&gt;&gt; </a:t>
            </a:r>
            <a:r>
              <a:rPr lang="en-US" sz="3000" dirty="0" err="1">
                <a:solidFill>
                  <a:srgbClr val="FF40FF"/>
                </a:solidFill>
                <a:latin typeface="Courier" pitchFamily="2" charset="0"/>
              </a:rPr>
              <a:t>pygame.Color</a:t>
            </a:r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(255, 0, 0) == (255, 0, 0)</a:t>
            </a:r>
          </a:p>
          <a:p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True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That’s all you need to know for now. </a:t>
            </a:r>
            <a:r>
              <a:rPr lang="en-US" sz="3000" dirty="0">
                <a:solidFill>
                  <a:schemeClr val="bg1"/>
                </a:solidFill>
                <a:sym typeface="Wingdings" pitchFamily="2" charset="2"/>
              </a:rPr>
              <a:t> </a:t>
            </a:r>
            <a:endParaRPr 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2521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072573" y="3911347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Drawing Shapes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578565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205577" y="536380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Making Shapes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79112-3481-4F48-8613-72313CBB4B18}"/>
              </a:ext>
            </a:extLst>
          </p:cNvPr>
          <p:cNvSpPr txBox="1"/>
          <p:nvPr/>
        </p:nvSpPr>
        <p:spPr>
          <a:xfrm>
            <a:off x="581892" y="2593569"/>
            <a:ext cx="15195664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err="1">
                <a:solidFill>
                  <a:schemeClr val="bg1"/>
                </a:solidFill>
              </a:rPr>
              <a:t>PyGame</a:t>
            </a:r>
            <a:r>
              <a:rPr lang="en-US" sz="3000" dirty="0">
                <a:solidFill>
                  <a:schemeClr val="bg1"/>
                </a:solidFill>
              </a:rPr>
              <a:t> gives us several “</a:t>
            </a:r>
            <a:r>
              <a:rPr lang="en-US" sz="3000" dirty="0">
                <a:solidFill>
                  <a:srgbClr val="FD7F23"/>
                </a:solidFill>
              </a:rPr>
              <a:t>shape</a:t>
            </a:r>
            <a:r>
              <a:rPr lang="en-US" sz="3000" dirty="0">
                <a:solidFill>
                  <a:schemeClr val="bg1"/>
                </a:solidFill>
              </a:rPr>
              <a:t> </a:t>
            </a:r>
            <a:r>
              <a:rPr lang="en-US" sz="3000" dirty="0">
                <a:solidFill>
                  <a:srgbClr val="FD7F23"/>
                </a:solidFill>
              </a:rPr>
              <a:t>primitives</a:t>
            </a:r>
            <a:r>
              <a:rPr lang="en-US" sz="3000" dirty="0">
                <a:solidFill>
                  <a:schemeClr val="bg1"/>
                </a:solidFill>
              </a:rPr>
              <a:t>” (basic shapes) to work with. These can help us draw things like squares, rectangles, and circles on the screen. 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For each shape, we have to tell the computer:</a:t>
            </a:r>
          </a:p>
          <a:p>
            <a:endParaRPr lang="en-US" sz="3000" dirty="0">
              <a:solidFill>
                <a:schemeClr val="bg1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Where the shape starts and stops (using pixel addresses or pixel width and height)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What color the shape should be</a:t>
            </a:r>
          </a:p>
          <a:p>
            <a:pPr marL="457200" indent="-457200">
              <a:buFontTx/>
              <a:buChar char="-"/>
            </a:pPr>
            <a:r>
              <a:rPr lang="en-US" sz="3000" dirty="0">
                <a:solidFill>
                  <a:schemeClr val="bg1"/>
                </a:solidFill>
              </a:rPr>
              <a:t>What ”surface” the shape should be drawn on (we just have one in our programs so far…we saved it in a variable called </a:t>
            </a:r>
            <a:r>
              <a:rPr lang="en-US" sz="3000" dirty="0">
                <a:solidFill>
                  <a:srgbClr val="FD7F23"/>
                </a:solidFill>
              </a:rPr>
              <a:t>DISPLAYSURF</a:t>
            </a:r>
            <a:r>
              <a:rPr lang="en-US" sz="3000" dirty="0">
                <a:solidFill>
                  <a:schemeClr val="bg1"/>
                </a:solidFill>
              </a:rPr>
              <a:t>)</a:t>
            </a:r>
          </a:p>
          <a:p>
            <a:pPr marL="457200" indent="-457200">
              <a:buFontTx/>
              <a:buChar char="-"/>
            </a:pPr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Here is a red rectangle that covers the top half of our 400x300 pixel screen:</a:t>
            </a:r>
          </a:p>
          <a:p>
            <a:endParaRPr lang="en-US" sz="3000" dirty="0">
              <a:solidFill>
                <a:srgbClr val="FF40FF"/>
              </a:solidFill>
              <a:latin typeface="Courier" pitchFamily="2" charset="0"/>
            </a:endParaRPr>
          </a:p>
          <a:p>
            <a:r>
              <a:rPr lang="en-US" sz="3000" dirty="0" err="1">
                <a:solidFill>
                  <a:srgbClr val="FF40FF"/>
                </a:solidFill>
                <a:latin typeface="Courier" pitchFamily="2" charset="0"/>
              </a:rPr>
              <a:t>pygame.draw.rect</a:t>
            </a:r>
            <a:r>
              <a:rPr lang="en-US" sz="3000" dirty="0">
                <a:solidFill>
                  <a:srgbClr val="FF40FF"/>
                </a:solidFill>
                <a:latin typeface="Courier" pitchFamily="2" charset="0"/>
              </a:rPr>
              <a:t>(DISPLAYSURF, RED, (0, 0, 400, 150))</a:t>
            </a:r>
          </a:p>
        </p:txBody>
      </p:sp>
    </p:spTree>
    <p:extLst>
      <p:ext uri="{BB962C8B-B14F-4D97-AF65-F5344CB8AC3E}">
        <p14:creationId xmlns:p14="http://schemas.microsoft.com/office/powerpoint/2010/main" val="34983982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205577" y="536380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 It Yourself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79112-3481-4F48-8613-72313CBB4B18}"/>
              </a:ext>
            </a:extLst>
          </p:cNvPr>
          <p:cNvSpPr txBox="1"/>
          <p:nvPr/>
        </p:nvSpPr>
        <p:spPr>
          <a:xfrm>
            <a:off x="515390" y="2909451"/>
            <a:ext cx="505413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I have given you a program called “</a:t>
            </a:r>
            <a:r>
              <a:rPr lang="en-US" sz="3000" dirty="0" err="1">
                <a:solidFill>
                  <a:schemeClr val="bg1"/>
                </a:solidFill>
              </a:rPr>
              <a:t>drawing.py</a:t>
            </a:r>
            <a:r>
              <a:rPr lang="en-US" sz="3000" dirty="0">
                <a:solidFill>
                  <a:schemeClr val="bg1"/>
                </a:solidFill>
              </a:rPr>
              <a:t>” which I borrowed from this website: </a:t>
            </a:r>
            <a:r>
              <a:rPr lang="en-US" sz="3000" dirty="0">
                <a:solidFill>
                  <a:schemeClr val="bg1"/>
                </a:solidFill>
                <a:hlinkClick r:id="rId3"/>
              </a:rPr>
              <a:t>https://inventwithpython.com/pygame/</a:t>
            </a:r>
            <a:endParaRPr lang="en-US" sz="3000" dirty="0">
              <a:solidFill>
                <a:schemeClr val="bg1"/>
              </a:solidFill>
            </a:endParaRPr>
          </a:p>
          <a:p>
            <a:endParaRPr lang="en-US" sz="3000" dirty="0">
              <a:solidFill>
                <a:schemeClr val="bg1"/>
              </a:solidFill>
            </a:endParaRPr>
          </a:p>
          <a:p>
            <a:r>
              <a:rPr lang="en-US" sz="3000" dirty="0">
                <a:solidFill>
                  <a:schemeClr val="bg1"/>
                </a:solidFill>
              </a:rPr>
              <a:t>The code looks like this…try running it on your computer!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7AAE14-710E-D849-843A-0607A5BBC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359" y="2909451"/>
            <a:ext cx="9050219" cy="542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856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205577" y="536380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Try It Yourself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79112-3481-4F48-8613-72313CBB4B18}"/>
              </a:ext>
            </a:extLst>
          </p:cNvPr>
          <p:cNvSpPr txBox="1"/>
          <p:nvPr/>
        </p:nvSpPr>
        <p:spPr>
          <a:xfrm>
            <a:off x="515390" y="2909451"/>
            <a:ext cx="50541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You should get a drawing like this one.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8A3484-2E69-3A40-9037-E9F119B65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738" y="2298239"/>
            <a:ext cx="8664734" cy="734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2477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1205577" y="536380"/>
            <a:ext cx="13932000" cy="1392743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Code Break!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779112-3481-4F48-8613-72313CBB4B18}"/>
              </a:ext>
            </a:extLst>
          </p:cNvPr>
          <p:cNvSpPr txBox="1"/>
          <p:nvPr/>
        </p:nvSpPr>
        <p:spPr>
          <a:xfrm>
            <a:off x="515390" y="2909451"/>
            <a:ext cx="50541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chemeClr val="bg1"/>
                </a:solidFill>
              </a:rPr>
              <a:t>Use three rectangles to draw the “Pi” symbol, like this…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CC7FF-C060-2440-AEDC-D79F96729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555" y="2464492"/>
            <a:ext cx="8638937" cy="732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505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Shape 390"/>
          <p:cNvSpPr txBox="1">
            <a:spLocks noGrp="1"/>
          </p:cNvSpPr>
          <p:nvPr>
            <p:ph type="title"/>
          </p:nvPr>
        </p:nvSpPr>
        <p:spPr>
          <a:xfrm>
            <a:off x="972495" y="2885132"/>
            <a:ext cx="13932000" cy="2816420"/>
          </a:xfrm>
          <a:prstGeom prst="rect">
            <a:avLst/>
          </a:prstGeom>
          <a:noFill/>
          <a:ln>
            <a:noFill/>
          </a:ln>
        </p:spPr>
        <p:txBody>
          <a:bodyPr lIns="38100" tIns="38100" rIns="38100" bIns="381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ct val="25000"/>
              <a:buFont typeface="Cabin"/>
              <a:buNone/>
            </a:pPr>
            <a:r>
              <a:rPr lang="en-US" sz="7600" dirty="0">
                <a:solidFill>
                  <a:srgbClr val="FFD966"/>
                </a:solidFill>
                <a:latin typeface="Arial" charset="0"/>
                <a:ea typeface="Arial" charset="0"/>
                <a:cs typeface="Arial" charset="0"/>
                <a:sym typeface="Cabin"/>
              </a:rPr>
              <a:t>That’s it! Please take a look at your homework</a:t>
            </a:r>
            <a:endParaRPr lang="en-US" sz="7600" u="none" strike="noStrike" cap="none" dirty="0">
              <a:solidFill>
                <a:srgbClr val="FFD966"/>
              </a:solidFill>
              <a:latin typeface="Arial" charset="0"/>
              <a:ea typeface="Arial" charset="0"/>
              <a:cs typeface="Arial" charset="0"/>
              <a:sym typeface="Cabin"/>
            </a:endParaRPr>
          </a:p>
        </p:txBody>
      </p:sp>
    </p:spTree>
    <p:extLst>
      <p:ext uri="{BB962C8B-B14F-4D97-AF65-F5344CB8AC3E}">
        <p14:creationId xmlns:p14="http://schemas.microsoft.com/office/powerpoint/2010/main" val="39274749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Shape 54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3600" dirty="0">
                <a:solidFill>
                  <a:srgbClr val="FFFF00"/>
                </a:solidFill>
              </a:rPr>
              <a:t>Acknowledgements / Contributions</a:t>
            </a:r>
          </a:p>
        </p:txBody>
      </p:sp>
      <p:sp>
        <p:nvSpPr>
          <p:cNvPr id="549" name="Shape 549"/>
          <p:cNvSpPr txBox="1"/>
          <p:nvPr/>
        </p:nvSpPr>
        <p:spPr>
          <a:xfrm>
            <a:off x="1155700" y="2171403"/>
            <a:ext cx="6797699" cy="594389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These slides are Copyright 2010-  Charles R. Severance (</a:t>
            </a:r>
            <a:r>
              <a:rPr lang="en-US" sz="1800" u="sng" dirty="0">
                <a:solidFill>
                  <a:srgbClr val="FFFF00"/>
                </a:solidFill>
                <a:hlinkClick r:id="rId3"/>
              </a:rPr>
              <a:t>www.dr-chuck.com</a:t>
            </a:r>
            <a:r>
              <a:rPr lang="en-US" sz="1800" dirty="0">
                <a:solidFill>
                  <a:srgbClr val="FFFFFF"/>
                </a:solidFill>
              </a:rPr>
              <a:t>) of the University of Michigan School of Information and made available under a Creative Commons Attribution 4.0 License.  Please maintain this last slide in all copies of the document to comply with the attribution requirements of the license.  If you make a change, feel free to add your name and organization to the list of contributors on this page as you republish the materials.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Initial Development: Charles Severance, University of Michigan School of Information</a:t>
            </a:r>
          </a:p>
          <a:p>
            <a:pPr lvl="0" rtl="0">
              <a:spcBef>
                <a:spcPts val="0"/>
              </a:spcBef>
              <a:buNone/>
            </a:pPr>
            <a:endParaRPr sz="1800" dirty="0">
              <a:solidFill>
                <a:srgbClr val="FFFFFF"/>
              </a:solidFill>
            </a:endParaRPr>
          </a:p>
          <a:p>
            <a:pPr lvl="0" rtl="0">
              <a:spcBef>
                <a:spcPts val="0"/>
              </a:spcBef>
              <a:buNone/>
            </a:pPr>
            <a:r>
              <a:rPr lang="en-US" sz="1800" dirty="0">
                <a:solidFill>
                  <a:srgbClr val="FFFFFF"/>
                </a:solidFill>
              </a:rPr>
              <a:t>This deck uses the style and formatting of Charles R. Severance’s slides, but some of the content and code is borrowed from the wonderful book </a:t>
            </a:r>
            <a:r>
              <a:rPr lang="en-US" sz="1800" i="1" dirty="0">
                <a:solidFill>
                  <a:srgbClr val="FFFFFF"/>
                </a:solidFill>
              </a:rPr>
              <a:t>Making Games with Python &amp; </a:t>
            </a:r>
            <a:r>
              <a:rPr lang="en-US" sz="1800" i="1" dirty="0" err="1">
                <a:solidFill>
                  <a:srgbClr val="FFFFFF"/>
                </a:solidFill>
              </a:rPr>
              <a:t>Pygame</a:t>
            </a:r>
            <a:r>
              <a:rPr lang="en-US" sz="1800" dirty="0">
                <a:solidFill>
                  <a:srgbClr val="FFFFFF"/>
                </a:solidFill>
              </a:rPr>
              <a:t> by Al </a:t>
            </a:r>
            <a:r>
              <a:rPr lang="en-US" sz="1800" dirty="0" err="1">
                <a:solidFill>
                  <a:srgbClr val="FFFFFF"/>
                </a:solidFill>
              </a:rPr>
              <a:t>Sweigart</a:t>
            </a:r>
            <a:r>
              <a:rPr lang="en-US" sz="1800" dirty="0">
                <a:solidFill>
                  <a:srgbClr val="FFFFFF"/>
                </a:solidFill>
              </a:rPr>
              <a:t>. Like Charles Severance and Al </a:t>
            </a:r>
            <a:r>
              <a:rPr lang="en-US" sz="1800" dirty="0" err="1">
                <a:solidFill>
                  <a:srgbClr val="FFFFFF"/>
                </a:solidFill>
              </a:rPr>
              <a:t>Sweigart</a:t>
            </a:r>
            <a:r>
              <a:rPr lang="en-US" sz="1800" dirty="0">
                <a:solidFill>
                  <a:srgbClr val="FFFFFF"/>
                </a:solidFill>
              </a:rPr>
              <a:t>, I license these slides and all associated content under a CC license. </a:t>
            </a:r>
            <a:endParaRPr sz="1800" dirty="0">
              <a:solidFill>
                <a:srgbClr val="FFFFFF"/>
              </a:solidFill>
            </a:endParaRPr>
          </a:p>
        </p:txBody>
      </p:sp>
      <p:pic>
        <p:nvPicPr>
          <p:cNvPr id="551" name="Shape 551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897687" y="1170103"/>
            <a:ext cx="1968599" cy="668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3787024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&amp; Subtitle">
  <a:themeElements>
    <a:clrScheme name="">
      <a:dk1>
        <a:srgbClr val="808080"/>
      </a:dk1>
      <a:lt1>
        <a:srgbClr val="FFFFFF"/>
      </a:lt1>
      <a:dk2>
        <a:srgbClr val="000000"/>
      </a:dk2>
      <a:lt2>
        <a:srgbClr val="000000"/>
      </a:lt2>
      <a:accent1>
        <a:srgbClr val="BBE0E3"/>
      </a:accent1>
      <a:accent2>
        <a:srgbClr val="333399"/>
      </a:accent2>
      <a:accent3>
        <a:srgbClr val="AAAAAA"/>
      </a:accent3>
      <a:accent4>
        <a:srgbClr val="DADADA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2648</Words>
  <Application>Microsoft Macintosh PowerPoint</Application>
  <PresentationFormat>Custom</PresentationFormat>
  <Paragraphs>299</Paragraphs>
  <Slides>42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Cabin</vt:lpstr>
      <vt:lpstr>ヒラギノ角ゴ ProN W3</vt:lpstr>
      <vt:lpstr>Arial</vt:lpstr>
      <vt:lpstr>Courier</vt:lpstr>
      <vt:lpstr>Courier New</vt:lpstr>
      <vt:lpstr>Gill Sans</vt:lpstr>
      <vt:lpstr>Wingdings</vt:lpstr>
      <vt:lpstr>Title &amp; Subtitle</vt:lpstr>
      <vt:lpstr>Functions and PyGame</vt:lpstr>
      <vt:lpstr>Functions</vt:lpstr>
      <vt:lpstr>Python Functions</vt:lpstr>
      <vt:lpstr>Function Definition</vt:lpstr>
      <vt:lpstr>Max Function</vt:lpstr>
      <vt:lpstr>Max Function</vt:lpstr>
      <vt:lpstr>Functions of Our Own…</vt:lpstr>
      <vt:lpstr>PowerPoint Presentation</vt:lpstr>
      <vt:lpstr>Definitions and Uses</vt:lpstr>
      <vt:lpstr>PowerPoint Presentation</vt:lpstr>
      <vt:lpstr>Arguments, Parameters, and Return Values</vt:lpstr>
      <vt:lpstr>Arguments</vt:lpstr>
      <vt:lpstr>Parameters</vt:lpstr>
      <vt:lpstr>Return Values</vt:lpstr>
      <vt:lpstr>Code Break!</vt:lpstr>
      <vt:lpstr>Code Break!</vt:lpstr>
      <vt:lpstr>To function or not to function...</vt:lpstr>
      <vt:lpstr>Let’s Make A Game!</vt:lpstr>
      <vt:lpstr>Installing PyGame</vt:lpstr>
      <vt:lpstr>Installing PyGame</vt:lpstr>
      <vt:lpstr>Writing Our First Game</vt:lpstr>
      <vt:lpstr>So What Does This Code Do?</vt:lpstr>
      <vt:lpstr>The Screen</vt:lpstr>
      <vt:lpstr>Understanding The Screen</vt:lpstr>
      <vt:lpstr>Understanding The Screen</vt:lpstr>
      <vt:lpstr>Understanding The Screen</vt:lpstr>
      <vt:lpstr>Understanding The Screen</vt:lpstr>
      <vt:lpstr>Understanding The Screen</vt:lpstr>
      <vt:lpstr>So What?</vt:lpstr>
      <vt:lpstr>So What?</vt:lpstr>
      <vt:lpstr>Colors</vt:lpstr>
      <vt:lpstr>Learning About Color</vt:lpstr>
      <vt:lpstr>Learning About Color</vt:lpstr>
      <vt:lpstr>A Good Use For Dictionaries</vt:lpstr>
      <vt:lpstr>Another Way…</vt:lpstr>
      <vt:lpstr>Drawing Shapes</vt:lpstr>
      <vt:lpstr>Making Shapes</vt:lpstr>
      <vt:lpstr>Try It Yourself</vt:lpstr>
      <vt:lpstr>Try It Yourself</vt:lpstr>
      <vt:lpstr>Code Break!</vt:lpstr>
      <vt:lpstr>That’s it! Please take a look at your homework</vt:lpstr>
      <vt:lpstr>Acknowledgements / Contributions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</dc:title>
  <cp:lastModifiedBy>Microsoft Office User</cp:lastModifiedBy>
  <cp:revision>128</cp:revision>
  <dcterms:modified xsi:type="dcterms:W3CDTF">2019-02-16T03:24:29Z</dcterms:modified>
</cp:coreProperties>
</file>