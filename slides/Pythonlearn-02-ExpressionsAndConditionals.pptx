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14" r:id="rId1"/>
  </p:sldMasterIdLst>
  <p:notesMasterIdLst>
    <p:notesMasterId r:id="rId65"/>
  </p:notesMasterIdLst>
  <p:sldIdLst>
    <p:sldId id="256" r:id="rId2"/>
    <p:sldId id="257" r:id="rId3"/>
    <p:sldId id="258" r:id="rId4"/>
    <p:sldId id="291" r:id="rId5"/>
    <p:sldId id="343" r:id="rId6"/>
    <p:sldId id="260" r:id="rId7"/>
    <p:sldId id="296" r:id="rId8"/>
    <p:sldId id="297" r:id="rId9"/>
    <p:sldId id="298" r:id="rId10"/>
    <p:sldId id="299" r:id="rId11"/>
    <p:sldId id="263" r:id="rId12"/>
    <p:sldId id="301" r:id="rId13"/>
    <p:sldId id="266" r:id="rId14"/>
    <p:sldId id="267" r:id="rId15"/>
    <p:sldId id="268" r:id="rId16"/>
    <p:sldId id="269" r:id="rId17"/>
    <p:sldId id="270" r:id="rId18"/>
    <p:sldId id="333" r:id="rId19"/>
    <p:sldId id="329" r:id="rId20"/>
    <p:sldId id="330" r:id="rId21"/>
    <p:sldId id="274" r:id="rId22"/>
    <p:sldId id="331" r:id="rId23"/>
    <p:sldId id="275" r:id="rId24"/>
    <p:sldId id="277" r:id="rId25"/>
    <p:sldId id="332" r:id="rId26"/>
    <p:sldId id="279" r:id="rId27"/>
    <p:sldId id="280" r:id="rId28"/>
    <p:sldId id="334" r:id="rId29"/>
    <p:sldId id="335" r:id="rId30"/>
    <p:sldId id="281" r:id="rId31"/>
    <p:sldId id="336" r:id="rId32"/>
    <p:sldId id="305" r:id="rId33"/>
    <p:sldId id="306" r:id="rId34"/>
    <p:sldId id="259" r:id="rId35"/>
    <p:sldId id="307" r:id="rId36"/>
    <p:sldId id="261" r:id="rId37"/>
    <p:sldId id="309" r:id="rId38"/>
    <p:sldId id="310" r:id="rId39"/>
    <p:sldId id="337" r:id="rId40"/>
    <p:sldId id="311" r:id="rId41"/>
    <p:sldId id="312" r:id="rId42"/>
    <p:sldId id="290" r:id="rId43"/>
    <p:sldId id="313" r:id="rId44"/>
    <p:sldId id="314" r:id="rId45"/>
    <p:sldId id="315" r:id="rId46"/>
    <p:sldId id="292" r:id="rId47"/>
    <p:sldId id="316" r:id="rId48"/>
    <p:sldId id="317" r:id="rId49"/>
    <p:sldId id="318" r:id="rId50"/>
    <p:sldId id="319" r:id="rId51"/>
    <p:sldId id="339" r:id="rId52"/>
    <p:sldId id="338" r:id="rId53"/>
    <p:sldId id="320" r:id="rId54"/>
    <p:sldId id="321" r:id="rId55"/>
    <p:sldId id="322" r:id="rId56"/>
    <p:sldId id="325" r:id="rId57"/>
    <p:sldId id="326" r:id="rId58"/>
    <p:sldId id="327" r:id="rId59"/>
    <p:sldId id="342" r:id="rId60"/>
    <p:sldId id="285" r:id="rId61"/>
    <p:sldId id="340" r:id="rId62"/>
    <p:sldId id="341" r:id="rId63"/>
    <p:sldId id="328" r:id="rId64"/>
  </p:sldIdLst>
  <p:sldSz cx="16256000" cy="9144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5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29FD2F"/>
    <a:srgbClr val="FFFB4E"/>
    <a:srgbClr val="FFFD38"/>
    <a:srgbClr val="FED86F"/>
    <a:srgbClr val="2DFFFE"/>
    <a:srgbClr val="00FA00"/>
    <a:srgbClr val="FF40FF"/>
    <a:srgbClr val="FF545A"/>
    <a:srgbClr val="FF898B"/>
    <a:srgbClr val="00F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4014B03-8F40-49A2-A0EB-D18ED94CC971}">
  <a:tblStyle styleId="{54014B03-8F40-49A2-A0EB-D18ED94CC971}" styleName="Table_0"/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282"/>
    <p:restoredTop sz="93533"/>
  </p:normalViewPr>
  <p:slideViewPr>
    <p:cSldViewPr snapToGrid="0" snapToObjects="1">
      <p:cViewPr varScale="1">
        <p:scale>
          <a:sx n="76" d="100"/>
          <a:sy n="76" d="100"/>
        </p:scale>
        <p:origin x="1480" y="208"/>
      </p:cViewPr>
      <p:guideLst>
        <p:guide orient="horz" pos="2880"/>
        <p:guide pos="5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rnd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36063135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Shape 23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lang="en-US" dirty="0"/>
          </a:p>
        </p:txBody>
      </p:sp>
      <p:sp>
        <p:nvSpPr>
          <p:cNvPr id="239" name="Shape 23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294024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Shape 24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48" name="Shape 24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796026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Shape 25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55" name="Shape 25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83518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Shape 25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55" name="Shape 25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029256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Shape 25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55" name="Shape 25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296583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Shape 28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83" name="Shape 28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28699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Shape 50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04" name="Shape 50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960597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Shape 51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511" name="Shape 51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996784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Shape 51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517" name="Shape 5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972338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Shape 52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24" name="Shape 52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31983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Shape 3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10" name="Shape 31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518228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Shape 35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52" name="Shape 35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218887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Shape 3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59" name="Shape 35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42581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Shape 37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75" name="Shape 37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891699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Shape 38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82" name="Shape 38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2209095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Shape 39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91" name="Shape 39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936836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Shape 39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91" name="Shape 39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0826717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Shape 39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91" name="Shape 39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6903744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Shape 43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433" name="Shape 43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550020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Shape 43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433" name="Shape 43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9374305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Shape 44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441" name="Shape 44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5871501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Shape 45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455" name="Shape 45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655166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Shape 43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433" name="Shape 43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5341916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Shape 46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469" name="Shape 46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534115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Shape 47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477" name="Shape 47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13010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Shape 47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477" name="Shape 47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8402535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Shape 48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486" name="Shape 48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6947256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Shape 56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65" name="Shape 56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1327095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Shape 27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79" name="Shape 27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4699097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Shape 28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88" name="Shape 28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9331768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Shape 29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96" name="Shape 29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0946947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Shape 3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19" name="Shape 31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8621693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Shape 34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41" name="Shape 34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268561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Shape 34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41" name="Shape 34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773814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Shape 28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88" name="Shape 28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9385822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Shape 36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67" name="Shape 36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4957939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Shape 39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92" name="Shape 39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0857795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Shape 39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92" name="Shape 39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3222756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Shape 39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92" name="Shape 39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9945774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Shape 46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463" name="Shape 46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9940646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Shape 46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463" name="Shape 46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3933691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Shape 46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463" name="Shape 46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641711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Shape 46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463" name="Shape 46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56989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Shape 57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72" name="Shape 57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654936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Shape 57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79" name="Shape 57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7036755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Shape 57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79" name="Shape 57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7830598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Shape 28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88" name="Shape 28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2287435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Shape 5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87" name="Shape 58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25146319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Shape 59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93" name="Shape 59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83488389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Shape 59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93" name="Shape 59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36231680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Shape 63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32" name="Shape 63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9199475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Shape 64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44" name="Shape 64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571241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Shape 66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66" name="Shape 66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0375284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Shape 66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66" name="Shape 66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12554075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Shape 68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86" name="Shape 68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66599694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Shape 68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86" name="Shape 68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33755048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Shape 68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86" name="Shape 68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8716768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Shape 54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Shape 54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268483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39"/>
          <p:cNvSpPr txBox="1">
            <a:spLocks noGrp="1"/>
          </p:cNvSpPr>
          <p:nvPr>
            <p:ph type="title"/>
          </p:nvPr>
        </p:nvSpPr>
        <p:spPr>
          <a:xfrm>
            <a:off x="1155700" y="1536700"/>
            <a:ext cx="13931900" cy="3086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 dirty="0"/>
          </a:p>
        </p:txBody>
      </p:sp>
      <p:sp>
        <p:nvSpPr>
          <p:cNvPr id="40" name="Shape 40"/>
          <p:cNvSpPr txBox="1">
            <a:spLocks noGrp="1"/>
          </p:cNvSpPr>
          <p:nvPr>
            <p:ph type="body" idx="1"/>
          </p:nvPr>
        </p:nvSpPr>
        <p:spPr>
          <a:xfrm>
            <a:off x="1155700" y="4711700"/>
            <a:ext cx="13931900" cy="1054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Shape 154"/>
          <p:cNvSpPr txBox="1">
            <a:spLocks noGrp="1"/>
          </p:cNvSpPr>
          <p:nvPr>
            <p:ph type="title"/>
          </p:nvPr>
        </p:nvSpPr>
        <p:spPr>
          <a:xfrm>
            <a:off x="812800" y="785812"/>
            <a:ext cx="14630400" cy="11048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155" name="Shape 155"/>
          <p:cNvSpPr txBox="1">
            <a:spLocks noGrp="1"/>
          </p:cNvSpPr>
          <p:nvPr>
            <p:ph type="body" idx="1"/>
          </p:nvPr>
        </p:nvSpPr>
        <p:spPr>
          <a:xfrm>
            <a:off x="812800" y="2133600"/>
            <a:ext cx="14630400" cy="603408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749300" lvl="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1pPr>
            <a:lvl2pPr marL="1041400" lvl="1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2pPr>
            <a:lvl3pPr marL="1333500" lvl="2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3pPr>
            <a:lvl4pPr marL="1638300" lvl="3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4pPr>
            <a:lvl5pPr marL="1930400" lvl="4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5pPr>
            <a:lvl6pPr marL="2387600" lvl="5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6pPr>
            <a:lvl7pPr marL="2844800" lvl="6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7pPr>
            <a:lvl8pPr marL="3302000" lvl="7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8pPr>
            <a:lvl9pPr marL="3759200" lvl="8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Shape 154"/>
          <p:cNvSpPr txBox="1">
            <a:spLocks noGrp="1"/>
          </p:cNvSpPr>
          <p:nvPr>
            <p:ph type="title"/>
          </p:nvPr>
        </p:nvSpPr>
        <p:spPr>
          <a:xfrm>
            <a:off x="812800" y="785812"/>
            <a:ext cx="14630400" cy="11048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82740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88667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>
            <a:spLocks noGrp="1"/>
          </p:cNvSpPr>
          <p:nvPr>
            <p:ph type="title"/>
          </p:nvPr>
        </p:nvSpPr>
        <p:spPr>
          <a:xfrm>
            <a:off x="1155700" y="1536700"/>
            <a:ext cx="13931900" cy="3086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defRPr/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defRPr/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defRPr/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defRPr/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 dirty="0"/>
          </a:p>
        </p:txBody>
      </p:sp>
      <p:sp>
        <p:nvSpPr>
          <p:cNvPr id="7" name="Shape 7"/>
          <p:cNvSpPr txBox="1">
            <a:spLocks noGrp="1"/>
          </p:cNvSpPr>
          <p:nvPr>
            <p:ph type="body" idx="1"/>
          </p:nvPr>
        </p:nvSpPr>
        <p:spPr>
          <a:xfrm>
            <a:off x="1155700" y="4711700"/>
            <a:ext cx="13931900" cy="1054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defRPr/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defRPr/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defRPr/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defRPr/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 dirty="0"/>
          </a:p>
        </p:txBody>
      </p:sp>
      <p:sp>
        <p:nvSpPr>
          <p:cNvPr id="4" name="Rectangle 3"/>
          <p:cNvSpPr>
            <a:spLocks noChangeArrowheads="1"/>
          </p:cNvSpPr>
          <p:nvPr userDrawn="1"/>
        </p:nvSpPr>
        <p:spPr bwMode="auto">
          <a:xfrm>
            <a:off x="0" y="0"/>
            <a:ext cx="16256000" cy="768096"/>
          </a:xfrm>
          <a:prstGeom prst="rect">
            <a:avLst/>
          </a:prstGeom>
          <a:solidFill>
            <a:schemeClr val="bg2"/>
          </a:solidFill>
          <a:ln>
            <a:noFill/>
          </a:ln>
          <a:extLst/>
        </p:spPr>
        <p:txBody>
          <a:bodyPr/>
          <a:lstStyle>
            <a:lvl1pPr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1pPr>
            <a:lvl2pPr marL="742950" indent="-285750"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2pPr>
            <a:lvl3pPr marL="1143000" indent="-228600"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3pPr>
            <a:lvl4pPr marL="1600200" indent="-228600"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4pPr>
            <a:lvl5pPr marL="2057400" indent="-228600"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9pPr>
          </a:lstStyle>
          <a:p>
            <a:pPr eaLnBrk="1" hangingPunct="1">
              <a:defRPr/>
            </a:pPr>
            <a:endParaRPr lang="en-US" altLang="en-US" sz="3600"/>
          </a:p>
        </p:txBody>
      </p:sp>
      <p:sp>
        <p:nvSpPr>
          <p:cNvPr id="5" name="Rectangle 3"/>
          <p:cNvSpPr>
            <a:spLocks noChangeArrowheads="1"/>
          </p:cNvSpPr>
          <p:nvPr userDrawn="1"/>
        </p:nvSpPr>
        <p:spPr bwMode="auto">
          <a:xfrm>
            <a:off x="0" y="8357616"/>
            <a:ext cx="16256000" cy="786384"/>
          </a:xfrm>
          <a:prstGeom prst="rect">
            <a:avLst/>
          </a:prstGeom>
          <a:solidFill>
            <a:schemeClr val="bg2"/>
          </a:solidFill>
          <a:ln>
            <a:noFill/>
          </a:ln>
          <a:extLst/>
        </p:spPr>
        <p:txBody>
          <a:bodyPr/>
          <a:lstStyle>
            <a:lvl1pPr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1pPr>
            <a:lvl2pPr marL="742950" indent="-285750"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2pPr>
            <a:lvl3pPr marL="1143000" indent="-228600"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3pPr>
            <a:lvl4pPr marL="1600200" indent="-228600"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4pPr>
            <a:lvl5pPr marL="2057400" indent="-228600"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9pPr>
          </a:lstStyle>
          <a:p>
            <a:pPr eaLnBrk="1" hangingPunct="1">
              <a:defRPr/>
            </a:pPr>
            <a:endParaRPr lang="en-US" altLang="en-US" sz="360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7" r:id="rId1"/>
    <p:sldLayoutId id="2147483690" r:id="rId2"/>
    <p:sldLayoutId id="2147483715" r:id="rId3"/>
    <p:sldLayoutId id="2147483716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5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40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www.pythonlearn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Mnemonic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George_Boole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r-chuck.com/" TargetMode="External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Shape 24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Constants, Variables, and Conditionals</a:t>
            </a:r>
            <a:endParaRPr lang="en-US" sz="7600" u="none" strike="noStrike" cap="none" dirty="0">
              <a:solidFill>
                <a:srgbClr val="FFD966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  <p:sp>
        <p:nvSpPr>
          <p:cNvPr id="242" name="Shape 24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8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Class 2</a:t>
            </a:r>
          </a:p>
        </p:txBody>
      </p:sp>
      <p:sp>
        <p:nvSpPr>
          <p:cNvPr id="243" name="Shape 243"/>
          <p:cNvSpPr txBox="1"/>
          <p:nvPr/>
        </p:nvSpPr>
        <p:spPr>
          <a:xfrm>
            <a:off x="4081448" y="7131044"/>
            <a:ext cx="8328600" cy="10160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Python for Everybody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200" u="sng" strike="noStrike" cap="none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  <a:hlinkClick r:id="rId3"/>
              </a:rPr>
              <a:t>www.py4e.com</a:t>
            </a:r>
            <a:endParaRPr lang="en-US" sz="3200" u="sng" strike="noStrike" cap="none" dirty="0">
              <a:solidFill>
                <a:srgbClr val="FFFF00"/>
              </a:solidFill>
              <a:latin typeface="Arial" charset="0"/>
              <a:ea typeface="Arial" charset="0"/>
              <a:cs typeface="Arial" charset="0"/>
              <a:sym typeface="Cabin"/>
              <a:hlinkClick r:id="rId3"/>
            </a:endParaRPr>
          </a:p>
        </p:txBody>
      </p:sp>
      <p:pic>
        <p:nvPicPr>
          <p:cNvPr id="244" name="Shape 244"/>
          <p:cNvPicPr preferRelativeResize="0"/>
          <p:nvPr/>
        </p:nvPicPr>
        <p:blipFill rotWithShape="1"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800662" y="7435344"/>
            <a:ext cx="1968599" cy="66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Shape 250"/>
          <p:cNvSpPr txBox="1">
            <a:spLocks noGrp="1"/>
          </p:cNvSpPr>
          <p:nvPr>
            <p:ph type="title"/>
          </p:nvPr>
        </p:nvSpPr>
        <p:spPr>
          <a:xfrm>
            <a:off x="812800" y="785812"/>
            <a:ext cx="14070626" cy="1104899"/>
          </a:xfrm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78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Constants</a:t>
            </a:r>
          </a:p>
        </p:txBody>
      </p:sp>
      <p:sp>
        <p:nvSpPr>
          <p:cNvPr id="251" name="Shape 25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ctr" anchorCtr="0">
            <a:noAutofit/>
          </a:bodyPr>
          <a:lstStyle/>
          <a:p>
            <a:pPr marL="1104900" marR="0" lvl="0" indent="-60337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ct val="100000"/>
              <a:buFont typeface="Cabin"/>
              <a:buChar char="•"/>
            </a:pPr>
            <a:r>
              <a:rPr lang="en-US" sz="3600" u="none" strike="noStrike" cap="none" dirty="0">
                <a:solidFill>
                  <a:srgbClr val="FF99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Fixed values </a:t>
            </a:r>
            <a:r>
              <a:rPr lang="en-US" sz="3600" u="none" strike="noStrike" cap="none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such as numbers, letters, and strings, are called </a:t>
            </a:r>
            <a:r>
              <a:rPr lang="en-US" sz="3600" b="0" i="0" u="none" strike="noStrike" cap="none" dirty="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3600" u="none" strike="noStrike" cap="none" dirty="0">
                <a:solidFill>
                  <a:srgbClr val="FF99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constants</a:t>
            </a:r>
            <a:r>
              <a:rPr lang="en-US" sz="3600" b="0" i="0" u="none" strike="noStrike" cap="none" dirty="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3600" u="none" strike="noStrike" cap="none" dirty="0">
                <a:solidFill>
                  <a:srgbClr val="FF99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3600" u="none" strike="noStrike" cap="none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because their value does not change</a:t>
            </a:r>
          </a:p>
          <a:p>
            <a:pPr marL="501523" marR="0" lvl="0" indent="0" algn="l" rtl="0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b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</a:br>
            <a:endParaRPr lang="en-US" sz="3600" u="none" strike="noStrike" cap="none" dirty="0">
              <a:solidFill>
                <a:schemeClr val="lt1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  <p:sp>
        <p:nvSpPr>
          <p:cNvPr id="252" name="Shape 252"/>
          <p:cNvSpPr txBox="1"/>
          <p:nvPr/>
        </p:nvSpPr>
        <p:spPr>
          <a:xfrm>
            <a:off x="10115550" y="5041900"/>
            <a:ext cx="5986463" cy="31257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123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123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98.6</a:t>
            </a:r>
            <a:r>
              <a:rPr lang="en-US" sz="30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i="0" u="none" strike="noStrike" cap="none" dirty="0">
              <a:solidFill>
                <a:srgbClr val="FF99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98.6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print(</a:t>
            </a: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'Hello world'</a:t>
            </a:r>
            <a:r>
              <a:rPr lang="en-US" sz="30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i="0" u="none" strike="noStrike" cap="none" dirty="0">
              <a:solidFill>
                <a:srgbClr val="FF99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Hello world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Shape 25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Variables</a:t>
            </a:r>
          </a:p>
        </p:txBody>
      </p:sp>
      <p:sp>
        <p:nvSpPr>
          <p:cNvPr id="258" name="Shape 258"/>
          <p:cNvSpPr txBox="1">
            <a:spLocks noGrp="1"/>
          </p:cNvSpPr>
          <p:nvPr>
            <p:ph type="body" idx="1"/>
          </p:nvPr>
        </p:nvSpPr>
        <p:spPr>
          <a:xfrm>
            <a:off x="812800" y="2133601"/>
            <a:ext cx="14630400" cy="2674938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3710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 </a:t>
            </a:r>
            <a:r>
              <a:rPr lang="en-US" sz="32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variable</a:t>
            </a: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is a named place in the memory where a programmer can store data and later retrieve the data using the </a:t>
            </a:r>
            <a:r>
              <a:rPr lang="en-US" sz="32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variable’s</a:t>
            </a: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3200" b="0" i="0" u="none" strike="noStrike" cap="none" dirty="0">
                <a:solidFill>
                  <a:schemeClr val="lt1"/>
                </a:solidFill>
                <a:sym typeface="Arial"/>
              </a:rPr>
              <a:t>“</a:t>
            </a: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name</a:t>
            </a:r>
            <a:r>
              <a:rPr lang="en-US" sz="3200" b="0" i="0" u="none" strike="noStrike" cap="none" dirty="0">
                <a:solidFill>
                  <a:schemeClr val="lt1"/>
                </a:solidFill>
                <a:sym typeface="Arial"/>
              </a:rPr>
              <a:t>”</a:t>
            </a:r>
          </a:p>
          <a:p>
            <a:pPr marL="749300" marR="0" lvl="0" indent="-3710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Programmers get to choose the names of the </a:t>
            </a:r>
            <a:r>
              <a:rPr lang="en-US" sz="32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variables</a:t>
            </a:r>
          </a:p>
          <a:p>
            <a:pPr marL="749300" marR="0" lvl="0" indent="-3710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You can change the contents of a </a:t>
            </a:r>
            <a:r>
              <a:rPr lang="en-US" sz="32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variable </a:t>
            </a: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 a later statement</a:t>
            </a:r>
          </a:p>
        </p:txBody>
      </p:sp>
      <p:sp>
        <p:nvSpPr>
          <p:cNvPr id="259" name="Shape 259"/>
          <p:cNvSpPr txBox="1"/>
          <p:nvPr/>
        </p:nvSpPr>
        <p:spPr>
          <a:xfrm>
            <a:off x="10388600" y="5083164"/>
            <a:ext cx="5016500" cy="1270000"/>
          </a:xfrm>
          <a:prstGeom prst="rect">
            <a:avLst/>
          </a:prstGeom>
          <a:noFill/>
          <a:ln w="76200" cap="flat" cmpd="sng">
            <a:solidFill>
              <a:srgbClr val="00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490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49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12.2</a:t>
            </a:r>
          </a:p>
        </p:txBody>
      </p:sp>
      <p:sp>
        <p:nvSpPr>
          <p:cNvPr id="260" name="Shape 260"/>
          <p:cNvSpPr txBox="1"/>
          <p:nvPr/>
        </p:nvSpPr>
        <p:spPr>
          <a:xfrm>
            <a:off x="9534525" y="5280014"/>
            <a:ext cx="444500" cy="863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52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x</a:t>
            </a:r>
          </a:p>
        </p:txBody>
      </p:sp>
      <p:sp>
        <p:nvSpPr>
          <p:cNvPr id="261" name="Shape 261"/>
          <p:cNvSpPr txBox="1"/>
          <p:nvPr/>
        </p:nvSpPr>
        <p:spPr>
          <a:xfrm>
            <a:off x="10350500" y="6721464"/>
            <a:ext cx="5016500" cy="1270000"/>
          </a:xfrm>
          <a:prstGeom prst="rect">
            <a:avLst/>
          </a:prstGeom>
          <a:noFill/>
          <a:ln w="76200" cap="flat" cmpd="sng">
            <a:solidFill>
              <a:srgbClr val="00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490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49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14               </a:t>
            </a:r>
          </a:p>
        </p:txBody>
      </p:sp>
      <p:sp>
        <p:nvSpPr>
          <p:cNvPr id="262" name="Shape 262"/>
          <p:cNvSpPr txBox="1"/>
          <p:nvPr/>
        </p:nvSpPr>
        <p:spPr>
          <a:xfrm>
            <a:off x="9518650" y="6924664"/>
            <a:ext cx="404811" cy="863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52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y</a:t>
            </a:r>
          </a:p>
        </p:txBody>
      </p:sp>
      <p:sp>
        <p:nvSpPr>
          <p:cNvPr id="263" name="Shape 263"/>
          <p:cNvSpPr txBox="1"/>
          <p:nvPr/>
        </p:nvSpPr>
        <p:spPr>
          <a:xfrm>
            <a:off x="2624125" y="5314827"/>
            <a:ext cx="4038900" cy="23876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48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x </a:t>
            </a:r>
            <a:r>
              <a:rPr lang="en-US" sz="4800" i="0" u="none" strike="noStrike" cap="none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=</a:t>
            </a:r>
            <a:r>
              <a:rPr lang="en-US" sz="48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48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12.2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48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y</a:t>
            </a:r>
            <a:r>
              <a:rPr lang="en-US" sz="48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4800" i="0" u="none" strike="noStrike" cap="none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=</a:t>
            </a:r>
            <a:r>
              <a:rPr lang="en-US" sz="48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48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14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800" b="1" dirty="0">
              <a:latin typeface="Courier"/>
              <a:ea typeface="Courier"/>
              <a:cs typeface="Courier"/>
              <a:sym typeface="Courier New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Shape 25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Variables</a:t>
            </a:r>
          </a:p>
        </p:txBody>
      </p:sp>
      <p:sp>
        <p:nvSpPr>
          <p:cNvPr id="258" name="Shape 258"/>
          <p:cNvSpPr txBox="1">
            <a:spLocks noGrp="1"/>
          </p:cNvSpPr>
          <p:nvPr>
            <p:ph type="body" idx="1"/>
          </p:nvPr>
        </p:nvSpPr>
        <p:spPr>
          <a:xfrm>
            <a:off x="812800" y="2133601"/>
            <a:ext cx="14630400" cy="2674938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3710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 </a:t>
            </a:r>
            <a:r>
              <a:rPr lang="en-US" sz="32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variable</a:t>
            </a: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is a named place in the memory where a programmer can store data and later retrieve the data using the </a:t>
            </a:r>
            <a:r>
              <a:rPr lang="en-US" sz="32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variable</a:t>
            </a: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3200" b="0" i="0" u="none" strike="noStrike" cap="none" dirty="0">
                <a:solidFill>
                  <a:schemeClr val="lt1"/>
                </a:solidFill>
                <a:sym typeface="Arial"/>
              </a:rPr>
              <a:t>“</a:t>
            </a: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name</a:t>
            </a:r>
            <a:r>
              <a:rPr lang="en-US" sz="3200" b="0" i="0" u="none" strike="noStrike" cap="none" dirty="0">
                <a:solidFill>
                  <a:schemeClr val="lt1"/>
                </a:solidFill>
                <a:sym typeface="Arial"/>
              </a:rPr>
              <a:t>”</a:t>
            </a:r>
          </a:p>
          <a:p>
            <a:pPr marL="749300" marR="0" lvl="0" indent="-3710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Programmers get to choose the names of the </a:t>
            </a:r>
            <a:r>
              <a:rPr lang="en-US" sz="32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variables</a:t>
            </a:r>
          </a:p>
          <a:p>
            <a:pPr marL="749300" marR="0" lvl="0" indent="-3710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You can change the contents of a </a:t>
            </a:r>
            <a:r>
              <a:rPr lang="en-US" sz="32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variable </a:t>
            </a: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 a later statement</a:t>
            </a:r>
          </a:p>
        </p:txBody>
      </p:sp>
      <p:sp>
        <p:nvSpPr>
          <p:cNvPr id="259" name="Shape 259"/>
          <p:cNvSpPr txBox="1"/>
          <p:nvPr/>
        </p:nvSpPr>
        <p:spPr>
          <a:xfrm>
            <a:off x="10388600" y="5083164"/>
            <a:ext cx="5016500" cy="1270000"/>
          </a:xfrm>
          <a:prstGeom prst="rect">
            <a:avLst/>
          </a:prstGeom>
          <a:noFill/>
          <a:ln w="76200" cap="flat" cmpd="sng">
            <a:solidFill>
              <a:srgbClr val="00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490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49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12.2</a:t>
            </a:r>
          </a:p>
        </p:txBody>
      </p:sp>
      <p:sp>
        <p:nvSpPr>
          <p:cNvPr id="260" name="Shape 260"/>
          <p:cNvSpPr txBox="1"/>
          <p:nvPr/>
        </p:nvSpPr>
        <p:spPr>
          <a:xfrm>
            <a:off x="9534525" y="5280014"/>
            <a:ext cx="444500" cy="863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52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x</a:t>
            </a:r>
          </a:p>
        </p:txBody>
      </p:sp>
      <p:sp>
        <p:nvSpPr>
          <p:cNvPr id="261" name="Shape 261"/>
          <p:cNvSpPr txBox="1"/>
          <p:nvPr/>
        </p:nvSpPr>
        <p:spPr>
          <a:xfrm>
            <a:off x="10350500" y="6721464"/>
            <a:ext cx="5016500" cy="1270000"/>
          </a:xfrm>
          <a:prstGeom prst="rect">
            <a:avLst/>
          </a:prstGeom>
          <a:noFill/>
          <a:ln w="76200" cap="flat" cmpd="sng">
            <a:solidFill>
              <a:srgbClr val="00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490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49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14               </a:t>
            </a:r>
          </a:p>
        </p:txBody>
      </p:sp>
      <p:sp>
        <p:nvSpPr>
          <p:cNvPr id="262" name="Shape 262"/>
          <p:cNvSpPr txBox="1"/>
          <p:nvPr/>
        </p:nvSpPr>
        <p:spPr>
          <a:xfrm>
            <a:off x="9518650" y="6924664"/>
            <a:ext cx="404811" cy="863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52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y</a:t>
            </a:r>
          </a:p>
        </p:txBody>
      </p:sp>
      <p:grpSp>
        <p:nvGrpSpPr>
          <p:cNvPr id="10" name="Shape 276"/>
          <p:cNvGrpSpPr/>
          <p:nvPr/>
        </p:nvGrpSpPr>
        <p:grpSpPr>
          <a:xfrm>
            <a:off x="10690224" y="5319702"/>
            <a:ext cx="763600" cy="903398"/>
            <a:chOff x="0" y="0"/>
            <a:chExt cx="762000" cy="901775"/>
          </a:xfrm>
        </p:grpSpPr>
        <p:cxnSp>
          <p:nvCxnSpPr>
            <p:cNvPr id="11" name="Shape 277"/>
            <p:cNvCxnSpPr/>
            <p:nvPr/>
          </p:nvCxnSpPr>
          <p:spPr>
            <a:xfrm flipH="1">
              <a:off x="0" y="15875"/>
              <a:ext cx="762000" cy="885900"/>
            </a:xfrm>
            <a:prstGeom prst="straightConnector1">
              <a:avLst/>
            </a:prstGeom>
            <a:noFill/>
            <a:ln w="63500" cap="rnd" cmpd="sng">
              <a:solidFill>
                <a:srgbClr val="FFFF00"/>
              </a:solidFill>
              <a:prstDash val="solid"/>
              <a:miter/>
              <a:headEnd type="none" w="med" len="med"/>
              <a:tailEnd type="none" w="med" len="med"/>
            </a:ln>
          </p:spPr>
        </p:cxnSp>
        <p:cxnSp>
          <p:nvCxnSpPr>
            <p:cNvPr id="12" name="Shape 278"/>
            <p:cNvCxnSpPr/>
            <p:nvPr/>
          </p:nvCxnSpPr>
          <p:spPr>
            <a:xfrm>
              <a:off x="0" y="0"/>
              <a:ext cx="571500" cy="796799"/>
            </a:xfrm>
            <a:prstGeom prst="straightConnector1">
              <a:avLst/>
            </a:prstGeom>
            <a:noFill/>
            <a:ln w="63500" cap="rnd" cmpd="sng">
              <a:solidFill>
                <a:srgbClr val="FFFF00"/>
              </a:solidFill>
              <a:prstDash val="solid"/>
              <a:miter/>
              <a:headEnd type="none" w="med" len="med"/>
              <a:tailEnd type="none" w="med" len="med"/>
            </a:ln>
          </p:spPr>
        </p:cxnSp>
      </p:grpSp>
      <p:sp>
        <p:nvSpPr>
          <p:cNvPr id="13" name="Shape 279"/>
          <p:cNvSpPr txBox="1"/>
          <p:nvPr/>
        </p:nvSpPr>
        <p:spPr>
          <a:xfrm>
            <a:off x="11852275" y="5256202"/>
            <a:ext cx="1669799" cy="939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58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100</a:t>
            </a:r>
          </a:p>
        </p:txBody>
      </p:sp>
      <p:sp>
        <p:nvSpPr>
          <p:cNvPr id="14" name="Shape 263"/>
          <p:cNvSpPr txBox="1"/>
          <p:nvPr/>
        </p:nvSpPr>
        <p:spPr>
          <a:xfrm>
            <a:off x="2624125" y="5314827"/>
            <a:ext cx="4038900" cy="23876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48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x </a:t>
            </a:r>
            <a:r>
              <a:rPr lang="en-US" sz="4800" i="0" u="none" strike="noStrike" cap="none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=</a:t>
            </a:r>
            <a:r>
              <a:rPr lang="en-US" sz="48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48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12.2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48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y</a:t>
            </a:r>
            <a:r>
              <a:rPr lang="en-US" sz="48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4800" i="0" u="none" strike="noStrike" cap="none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=</a:t>
            </a:r>
            <a:r>
              <a:rPr lang="en-US" sz="48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48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14</a:t>
            </a:r>
          </a:p>
          <a:p>
            <a:r>
              <a:rPr lang="en-US" sz="480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x </a:t>
            </a:r>
            <a:r>
              <a:rPr lang="en-US" sz="4800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=</a:t>
            </a:r>
            <a:r>
              <a:rPr lang="en-US" sz="48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4800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100</a:t>
            </a:r>
          </a:p>
        </p:txBody>
      </p:sp>
    </p:spTree>
    <p:extLst>
      <p:ext uri="{BB962C8B-B14F-4D97-AF65-F5344CB8AC3E}">
        <p14:creationId xmlns:p14="http://schemas.microsoft.com/office/powerpoint/2010/main" val="8049623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Shape 25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Cod</a:t>
            </a:r>
            <a:r>
              <a:rPr lang="en-US" sz="7600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e Break!</a:t>
            </a:r>
            <a:endParaRPr lang="en-US" sz="7600" u="none" strike="noStrike" cap="none" dirty="0">
              <a:solidFill>
                <a:srgbClr val="FFD966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  <p:sp>
        <p:nvSpPr>
          <p:cNvPr id="258" name="Shape 258"/>
          <p:cNvSpPr txBox="1">
            <a:spLocks noGrp="1"/>
          </p:cNvSpPr>
          <p:nvPr>
            <p:ph type="body" idx="1"/>
          </p:nvPr>
        </p:nvSpPr>
        <p:spPr>
          <a:xfrm>
            <a:off x="812800" y="3826934"/>
            <a:ext cx="14630400" cy="2674938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lvl="0" indent="-371094">
              <a:spcBef>
                <a:spcPts val="0"/>
              </a:spcBef>
              <a:buSzPct val="100000"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Start Python and make some </a:t>
            </a:r>
            <a:r>
              <a:rPr lang="en-US" sz="320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variables</a:t>
            </a:r>
          </a:p>
          <a:p>
            <a:pPr lvl="0" indent="-371094">
              <a:spcBef>
                <a:spcPts val="0"/>
              </a:spcBef>
              <a:buSzPct val="100000"/>
            </a:pPr>
            <a:r>
              <a:rPr lang="en-US" sz="32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Try changing the values of your variables, what happens?</a:t>
            </a:r>
            <a:endParaRPr lang="en-US" sz="3200" u="none" strike="noStrike" cap="none" dirty="0">
              <a:solidFill>
                <a:schemeClr val="lt1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</p:spTree>
    <p:extLst>
      <p:ext uri="{BB962C8B-B14F-4D97-AF65-F5344CB8AC3E}">
        <p14:creationId xmlns:p14="http://schemas.microsoft.com/office/powerpoint/2010/main" val="39624154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Shape 28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Python Variable Name Rules</a:t>
            </a:r>
          </a:p>
        </p:txBody>
      </p:sp>
      <p:sp>
        <p:nvSpPr>
          <p:cNvPr id="286" name="Shape 286"/>
          <p:cNvSpPr txBox="1">
            <a:spLocks noGrp="1"/>
          </p:cNvSpPr>
          <p:nvPr>
            <p:ph type="body" idx="1"/>
          </p:nvPr>
        </p:nvSpPr>
        <p:spPr>
          <a:xfrm>
            <a:off x="812800" y="2133601"/>
            <a:ext cx="14630400" cy="31242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949706" indent="-571500">
              <a:spcBef>
                <a:spcPts val="0"/>
              </a:spcBef>
              <a:buSzPct val="100000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Must start with a letter or underscore _ </a:t>
            </a:r>
          </a:p>
          <a:p>
            <a:pPr marL="949706" indent="-571500">
              <a:buSzPct val="100000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Must consist of letters, numbers, and underscores</a:t>
            </a:r>
          </a:p>
          <a:p>
            <a:pPr marL="949706" indent="-571500">
              <a:buSzPct val="100000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Case Sensitive</a:t>
            </a:r>
            <a:br>
              <a:rPr lang="en-US" sz="36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</a:br>
            <a:endParaRPr lang="en-US" sz="3600" dirty="0">
              <a:solidFill>
                <a:schemeClr val="lt1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34291" y="5500691"/>
            <a:ext cx="11551560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00FA00"/>
                </a:solidFill>
                <a:latin typeface="Courier" charset="0"/>
                <a:ea typeface="Courier" charset="0"/>
                <a:cs typeface="Courier" charset="0"/>
              </a:rPr>
              <a:t>Good:    </a:t>
            </a:r>
            <a:r>
              <a:rPr lang="en-US" sz="3600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spam    eggs   spam23    _speed</a:t>
            </a:r>
          </a:p>
          <a:p>
            <a:r>
              <a:rPr lang="en-US" sz="3600" dirty="0">
                <a:solidFill>
                  <a:srgbClr val="FF545A"/>
                </a:solidFill>
                <a:latin typeface="Courier" charset="0"/>
                <a:ea typeface="Courier" charset="0"/>
                <a:cs typeface="Courier" charset="0"/>
              </a:rPr>
              <a:t>Bad:</a:t>
            </a:r>
            <a:r>
              <a:rPr lang="en-US" sz="3600" dirty="0">
                <a:solidFill>
                  <a:srgbClr val="FF0000"/>
                </a:solidFill>
                <a:latin typeface="Courier" charset="0"/>
                <a:ea typeface="Courier" charset="0"/>
                <a:cs typeface="Courier" charset="0"/>
              </a:rPr>
              <a:t>     </a:t>
            </a:r>
            <a:r>
              <a:rPr lang="en-US" sz="3600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23spam     #sign  var.12</a:t>
            </a:r>
          </a:p>
          <a:p>
            <a:r>
              <a:rPr lang="en-US" sz="3600" dirty="0">
                <a:solidFill>
                  <a:srgbClr val="00FDFF"/>
                </a:solidFill>
                <a:latin typeface="Courier" charset="0"/>
                <a:ea typeface="Courier" charset="0"/>
                <a:cs typeface="Courier" charset="0"/>
              </a:rPr>
              <a:t>Different:    </a:t>
            </a:r>
            <a:r>
              <a:rPr lang="en-US" sz="3600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spam   Spam   SPAM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Shape 50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8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Mnemonic Variable Names</a:t>
            </a:r>
          </a:p>
        </p:txBody>
      </p:sp>
      <p:sp>
        <p:nvSpPr>
          <p:cNvPr id="507" name="Shape 507"/>
          <p:cNvSpPr txBox="1">
            <a:spLocks noGrp="1"/>
          </p:cNvSpPr>
          <p:nvPr>
            <p:ph type="body" idx="1"/>
          </p:nvPr>
        </p:nvSpPr>
        <p:spPr>
          <a:xfrm>
            <a:off x="812800" y="2133600"/>
            <a:ext cx="14630400" cy="4995863"/>
          </a:xfrm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ctr" anchorCtr="0">
            <a:noAutofit/>
          </a:bodyPr>
          <a:lstStyle/>
          <a:p>
            <a:pPr marL="1104900" marR="0" lvl="0" indent="-60337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Since we programmers are given a choice in how we choose our variable names, there is a bit of </a:t>
            </a:r>
            <a: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best practice</a:t>
            </a:r>
            <a: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</a:p>
          <a:p>
            <a:pPr marL="1104900" marR="0" lvl="0" indent="-603377" algn="l" rtl="0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We name variables to help us remember what we intend to store in them (</a:t>
            </a:r>
            <a: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36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mnemonic</a:t>
            </a:r>
            <a: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= </a:t>
            </a:r>
            <a: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memory aid</a:t>
            </a:r>
            <a: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)</a:t>
            </a:r>
          </a:p>
        </p:txBody>
      </p:sp>
      <p:sp>
        <p:nvSpPr>
          <p:cNvPr id="508" name="Shape 508"/>
          <p:cNvSpPr txBox="1"/>
          <p:nvPr/>
        </p:nvSpPr>
        <p:spPr>
          <a:xfrm>
            <a:off x="3980350" y="7521575"/>
            <a:ext cx="8295300" cy="660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u="sng" strike="noStrike" cap="none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  <a:hlinkClick r:id="rId3"/>
              </a:rPr>
              <a:t>http://en.wikipedia.org/wiki/Mnemonic </a:t>
            </a:r>
          </a:p>
        </p:txBody>
      </p:sp>
    </p:spTree>
    <p:extLst>
      <p:ext uri="{BB962C8B-B14F-4D97-AF65-F5344CB8AC3E}">
        <p14:creationId xmlns:p14="http://schemas.microsoft.com/office/powerpoint/2010/main" val="13509069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Shape 513"/>
          <p:cNvSpPr txBox="1"/>
          <p:nvPr/>
        </p:nvSpPr>
        <p:spPr>
          <a:xfrm>
            <a:off x="1208073" y="1676400"/>
            <a:ext cx="8341499" cy="2336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x1q3z9ocd = 35.0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x1q3z9afd = 12.50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x1q3p9afd = x1q3z9ocd * x1q3z9afd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print(x1q3p9afd)</a:t>
            </a:r>
          </a:p>
        </p:txBody>
      </p:sp>
      <p:sp>
        <p:nvSpPr>
          <p:cNvPr id="514" name="Shape 514"/>
          <p:cNvSpPr txBox="1"/>
          <p:nvPr/>
        </p:nvSpPr>
        <p:spPr>
          <a:xfrm>
            <a:off x="1536700" y="6057900"/>
            <a:ext cx="3860400" cy="1219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8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What does </a:t>
            </a:r>
            <a:r>
              <a:rPr lang="en-US" sz="3800" u="none" strike="noStrike" cap="none" dirty="0">
                <a:solidFill>
                  <a:srgbClr val="FFFD38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this</a:t>
            </a:r>
            <a:r>
              <a:rPr lang="en-US" sz="38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code do?</a:t>
            </a:r>
          </a:p>
        </p:txBody>
      </p:sp>
    </p:spTree>
    <p:extLst>
      <p:ext uri="{BB962C8B-B14F-4D97-AF65-F5344CB8AC3E}">
        <p14:creationId xmlns:p14="http://schemas.microsoft.com/office/powerpoint/2010/main" val="15384186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Shape 519"/>
          <p:cNvSpPr txBox="1"/>
          <p:nvPr/>
        </p:nvSpPr>
        <p:spPr>
          <a:xfrm>
            <a:off x="1208073" y="1676400"/>
            <a:ext cx="8341499" cy="2336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x1q3z9ocd = 35.0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x1q3z9afd = 12.50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x1q3p9afd = x1q3z9ocd * x1q3z9afd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print(x1q3p9afd)</a:t>
            </a:r>
          </a:p>
        </p:txBody>
      </p:sp>
      <p:sp>
        <p:nvSpPr>
          <p:cNvPr id="520" name="Shape 520"/>
          <p:cNvSpPr txBox="1"/>
          <p:nvPr/>
        </p:nvSpPr>
        <p:spPr>
          <a:xfrm>
            <a:off x="11531600" y="1676400"/>
            <a:ext cx="2109899" cy="2336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a = 35.0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b = 12.50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c = a * b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print(c)</a:t>
            </a:r>
          </a:p>
        </p:txBody>
      </p:sp>
      <p:sp>
        <p:nvSpPr>
          <p:cNvPr id="521" name="Shape 521"/>
          <p:cNvSpPr txBox="1"/>
          <p:nvPr/>
        </p:nvSpPr>
        <p:spPr>
          <a:xfrm>
            <a:off x="1536700" y="6057900"/>
            <a:ext cx="4186416" cy="1219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8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What about </a:t>
            </a:r>
            <a:r>
              <a:rPr lang="en-US" sz="3800" u="none" strike="noStrike" cap="none" dirty="0">
                <a:solidFill>
                  <a:srgbClr val="2DFFFE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that</a:t>
            </a:r>
            <a:r>
              <a:rPr lang="en-US" sz="38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code?</a:t>
            </a:r>
          </a:p>
        </p:txBody>
      </p:sp>
    </p:spTree>
    <p:extLst>
      <p:ext uri="{BB962C8B-B14F-4D97-AF65-F5344CB8AC3E}">
        <p14:creationId xmlns:p14="http://schemas.microsoft.com/office/powerpoint/2010/main" val="14353888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Shape 526"/>
          <p:cNvSpPr txBox="1"/>
          <p:nvPr/>
        </p:nvSpPr>
        <p:spPr>
          <a:xfrm>
            <a:off x="1208073" y="1676400"/>
            <a:ext cx="8341499" cy="2336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x1q3z9ocd = 35.0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x1q3z9afd = 12.50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x1q3p9afd = x1q3z9ocd * x1q3z9afd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print(x1q3p9afd)</a:t>
            </a:r>
          </a:p>
        </p:txBody>
      </p:sp>
      <p:sp>
        <p:nvSpPr>
          <p:cNvPr id="527" name="Shape 527"/>
          <p:cNvSpPr txBox="1"/>
          <p:nvPr/>
        </p:nvSpPr>
        <p:spPr>
          <a:xfrm>
            <a:off x="7137400" y="5499100"/>
            <a:ext cx="5208599" cy="2336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hours = 35.0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rate = 12.50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pay = hours * rate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print(pay)</a:t>
            </a:r>
          </a:p>
        </p:txBody>
      </p:sp>
      <p:sp>
        <p:nvSpPr>
          <p:cNvPr id="528" name="Shape 528"/>
          <p:cNvSpPr txBox="1"/>
          <p:nvPr/>
        </p:nvSpPr>
        <p:spPr>
          <a:xfrm>
            <a:off x="11531600" y="1676400"/>
            <a:ext cx="2109786" cy="2336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a = 35.0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b = 12.50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c = a * b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print(c)</a:t>
            </a:r>
          </a:p>
        </p:txBody>
      </p:sp>
      <p:sp>
        <p:nvSpPr>
          <p:cNvPr id="529" name="Shape 529"/>
          <p:cNvSpPr txBox="1"/>
          <p:nvPr/>
        </p:nvSpPr>
        <p:spPr>
          <a:xfrm>
            <a:off x="1505339" y="6057900"/>
            <a:ext cx="4249136" cy="1219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8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And </a:t>
            </a:r>
            <a:r>
              <a:rPr lang="en-US" sz="3800" u="none" strike="noStrike" cap="none" dirty="0">
                <a:solidFill>
                  <a:srgbClr val="29FD2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this</a:t>
            </a:r>
            <a:r>
              <a:rPr lang="en-US" sz="38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code?</a:t>
            </a:r>
          </a:p>
        </p:txBody>
      </p:sp>
    </p:spTree>
    <p:extLst>
      <p:ext uri="{BB962C8B-B14F-4D97-AF65-F5344CB8AC3E}">
        <p14:creationId xmlns:p14="http://schemas.microsoft.com/office/powerpoint/2010/main" val="9723783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Shape 3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Assignment Statements</a:t>
            </a:r>
          </a:p>
        </p:txBody>
      </p:sp>
      <p:sp>
        <p:nvSpPr>
          <p:cNvPr id="313" name="Shape 313"/>
          <p:cNvSpPr txBox="1">
            <a:spLocks noGrp="1"/>
          </p:cNvSpPr>
          <p:nvPr>
            <p:ph type="body" idx="1"/>
          </p:nvPr>
        </p:nvSpPr>
        <p:spPr>
          <a:xfrm>
            <a:off x="812800" y="2133601"/>
            <a:ext cx="14630400" cy="314324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bin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We assign a value to a variable using the </a:t>
            </a:r>
            <a:r>
              <a:rPr lang="en-US" sz="3600" u="none" strike="noStrike" cap="none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assignment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statement (=)</a:t>
            </a:r>
          </a:p>
          <a:p>
            <a:pPr marL="457200" marR="0" lvl="0" indent="-457200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SzPct val="100000"/>
              <a:buFont typeface="Cabin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An </a:t>
            </a:r>
            <a:r>
              <a:rPr lang="en-US" sz="3600" u="none" strike="noStrike" cap="none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assignment statement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consists of an </a:t>
            </a:r>
            <a:r>
              <a:rPr lang="en-US" sz="36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expression on the </a:t>
            </a:r>
            <a:br>
              <a:rPr lang="en-US" sz="36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</a:br>
            <a:r>
              <a:rPr lang="en-US" sz="36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right</a:t>
            </a:r>
            <a:r>
              <a:rPr lang="en-US" sz="3600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-</a:t>
            </a:r>
            <a:r>
              <a:rPr lang="en-US" sz="36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hand side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and a </a:t>
            </a:r>
            <a:r>
              <a:rPr lang="en-US" sz="36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variable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to store the result</a:t>
            </a:r>
          </a:p>
        </p:txBody>
      </p:sp>
      <p:sp>
        <p:nvSpPr>
          <p:cNvPr id="314" name="Shape 314"/>
          <p:cNvSpPr txBox="1"/>
          <p:nvPr/>
        </p:nvSpPr>
        <p:spPr>
          <a:xfrm>
            <a:off x="4252109" y="6134100"/>
            <a:ext cx="10078835" cy="914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4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x</a:t>
            </a:r>
            <a:r>
              <a:rPr lang="en-US" sz="4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3.9 </a:t>
            </a:r>
            <a:r>
              <a:rPr lang="en-US" sz="40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*</a:t>
            </a:r>
            <a:r>
              <a:rPr lang="en-US" sz="4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4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x </a:t>
            </a:r>
            <a:r>
              <a:rPr lang="en-US" sz="40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*</a:t>
            </a:r>
            <a:r>
              <a:rPr lang="en-US" sz="4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( 1 </a:t>
            </a:r>
            <a:r>
              <a:rPr lang="en-US" sz="40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-</a:t>
            </a:r>
            <a:r>
              <a:rPr lang="en-US" sz="4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4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x</a:t>
            </a:r>
            <a:r>
              <a:rPr lang="en-US" sz="4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)</a:t>
            </a:r>
          </a:p>
        </p:txBody>
      </p:sp>
      <p:sp>
        <p:nvSpPr>
          <p:cNvPr id="315" name="Shape 315"/>
          <p:cNvSpPr txBox="1"/>
          <p:nvPr/>
        </p:nvSpPr>
        <p:spPr>
          <a:xfrm>
            <a:off x="5248625" y="6081811"/>
            <a:ext cx="6324599" cy="1066799"/>
          </a:xfrm>
          <a:prstGeom prst="rect">
            <a:avLst/>
          </a:prstGeom>
          <a:noFill/>
          <a:ln w="50800" cap="rnd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7200" dirty="0">
                <a:solidFill>
                  <a:srgbClr val="FFD966"/>
                </a:solidFill>
              </a:rPr>
              <a:t>Expressions</a:t>
            </a:r>
            <a:r>
              <a:rPr lang="is-IS" sz="7200" dirty="0">
                <a:solidFill>
                  <a:srgbClr val="FFD966"/>
                </a:solidFill>
              </a:rPr>
              <a:t>…</a:t>
            </a:r>
            <a:endParaRPr lang="en-US" sz="7200" dirty="0">
              <a:solidFill>
                <a:srgbClr val="FFD9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9790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Shape 35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Numeric Expressions</a:t>
            </a:r>
          </a:p>
        </p:txBody>
      </p:sp>
      <p:sp>
        <p:nvSpPr>
          <p:cNvPr id="355" name="Shape 355"/>
          <p:cNvSpPr txBox="1">
            <a:spLocks noGrp="1"/>
          </p:cNvSpPr>
          <p:nvPr>
            <p:ph type="body" idx="1"/>
          </p:nvPr>
        </p:nvSpPr>
        <p:spPr>
          <a:xfrm>
            <a:off x="812800" y="2133600"/>
            <a:ext cx="9036050" cy="6034087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3710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Computer keyboards don’t have math symbols, so we do math using the “operators” shown on the right</a:t>
            </a:r>
          </a:p>
          <a:p>
            <a:pPr marL="749300" marR="0" lvl="0" indent="-3710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For instance, ”*” is multiply and “/” is divide</a:t>
            </a:r>
          </a:p>
        </p:txBody>
      </p:sp>
      <p:graphicFrame>
        <p:nvGraphicFramePr>
          <p:cNvPr id="356" name="Shape 356"/>
          <p:cNvGraphicFramePr/>
          <p:nvPr>
            <p:extLst>
              <p:ext uri="{D42A27DB-BD31-4B8C-83A1-F6EECF244321}">
                <p14:modId xmlns:p14="http://schemas.microsoft.com/office/powerpoint/2010/main" val="1444946014"/>
              </p:ext>
            </p:extLst>
          </p:nvPr>
        </p:nvGraphicFramePr>
        <p:xfrm>
          <a:off x="10337800" y="2289175"/>
          <a:ext cx="5025250" cy="5567275"/>
        </p:xfrm>
        <a:graphic>
          <a:graphicData uri="http://schemas.openxmlformats.org/drawingml/2006/table">
            <a:tbl>
              <a:tblPr>
                <a:noFill/>
                <a:tableStyleId>{54014B03-8F40-49A2-A0EB-D18ED94CC971}</a:tableStyleId>
              </a:tblPr>
              <a:tblGrid>
                <a:gridCol w="2398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6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953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FFFF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3200" b="0" i="0" u="none">
                          <a:solidFill>
                            <a:srgbClr val="00FFFF"/>
                          </a:solidFill>
                          <a:latin typeface="Arial" charset="0"/>
                          <a:ea typeface="Arial" charset="0"/>
                          <a:cs typeface="Arial" charset="0"/>
                          <a:sym typeface="Cabin"/>
                        </a:rPr>
                        <a:t>Operator</a:t>
                      </a:r>
                    </a:p>
                  </a:txBody>
                  <a:tcPr marL="38100" marR="38100" marT="38100" marB="381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>
                        <a:alpha val="4941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3200" b="0" i="0" u="none">
                          <a:solidFill>
                            <a:schemeClr val="lt1"/>
                          </a:solidFill>
                          <a:latin typeface="Arial" charset="0"/>
                          <a:ea typeface="Arial" charset="0"/>
                          <a:cs typeface="Arial" charset="0"/>
                          <a:sym typeface="Cabin"/>
                        </a:rPr>
                        <a:t>Operation</a:t>
                      </a:r>
                    </a:p>
                  </a:txBody>
                  <a:tcPr marL="38100" marR="38100" marT="38100" marB="381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>
                        <a:alpha val="4941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53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FFFF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3100" b="0" i="0" u="none">
                          <a:solidFill>
                            <a:srgbClr val="00FFFF"/>
                          </a:solidFill>
                          <a:latin typeface="Arial" charset="0"/>
                          <a:ea typeface="Arial" charset="0"/>
                          <a:cs typeface="Arial" charset="0"/>
                          <a:sym typeface="Cabin"/>
                        </a:rPr>
                        <a:t>+</a:t>
                      </a:r>
                    </a:p>
                  </a:txBody>
                  <a:tcPr marL="38100" marR="38100" marT="38100" marB="381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3100" b="0" i="0" u="none">
                          <a:solidFill>
                            <a:schemeClr val="lt1"/>
                          </a:solidFill>
                          <a:latin typeface="Arial" charset="0"/>
                          <a:ea typeface="Arial" charset="0"/>
                          <a:cs typeface="Arial" charset="0"/>
                          <a:sym typeface="Cabin"/>
                        </a:rPr>
                        <a:t>Addition</a:t>
                      </a:r>
                    </a:p>
                  </a:txBody>
                  <a:tcPr marL="38100" marR="38100" marT="38100" marB="381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53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FFFF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3100" b="0" i="0" u="none">
                          <a:solidFill>
                            <a:srgbClr val="00FFFF"/>
                          </a:solidFill>
                          <a:latin typeface="Arial" charset="0"/>
                          <a:ea typeface="Arial" charset="0"/>
                          <a:cs typeface="Arial" charset="0"/>
                          <a:sym typeface="Cabin"/>
                        </a:rPr>
                        <a:t>-</a:t>
                      </a:r>
                    </a:p>
                  </a:txBody>
                  <a:tcPr marL="38100" marR="38100" marT="38100" marB="381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3100" b="0" i="0" u="none">
                          <a:solidFill>
                            <a:schemeClr val="lt1"/>
                          </a:solidFill>
                          <a:latin typeface="Arial" charset="0"/>
                          <a:ea typeface="Arial" charset="0"/>
                          <a:cs typeface="Arial" charset="0"/>
                          <a:sym typeface="Cabin"/>
                        </a:rPr>
                        <a:t>Subtraction</a:t>
                      </a:r>
                    </a:p>
                  </a:txBody>
                  <a:tcPr marL="38100" marR="38100" marT="38100" marB="381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53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FFFF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3100" b="0" i="0" u="none">
                          <a:solidFill>
                            <a:srgbClr val="00FFFF"/>
                          </a:solidFill>
                          <a:latin typeface="Arial" charset="0"/>
                          <a:ea typeface="Arial" charset="0"/>
                          <a:cs typeface="Arial" charset="0"/>
                          <a:sym typeface="Cabin"/>
                        </a:rPr>
                        <a:t>*</a:t>
                      </a:r>
                    </a:p>
                  </a:txBody>
                  <a:tcPr marL="38100" marR="38100" marT="38100" marB="381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3100" b="0" i="0" u="none">
                          <a:solidFill>
                            <a:schemeClr val="lt1"/>
                          </a:solidFill>
                          <a:latin typeface="Arial" charset="0"/>
                          <a:ea typeface="Arial" charset="0"/>
                          <a:cs typeface="Arial" charset="0"/>
                          <a:sym typeface="Cabin"/>
                        </a:rPr>
                        <a:t>Multiplication</a:t>
                      </a:r>
                    </a:p>
                  </a:txBody>
                  <a:tcPr marL="38100" marR="38100" marT="38100" marB="381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53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FFFF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3100" b="0" i="0" u="none">
                          <a:solidFill>
                            <a:srgbClr val="00FFFF"/>
                          </a:solidFill>
                          <a:latin typeface="Arial" charset="0"/>
                          <a:ea typeface="Arial" charset="0"/>
                          <a:cs typeface="Arial" charset="0"/>
                          <a:sym typeface="Cabin"/>
                        </a:rPr>
                        <a:t>/</a:t>
                      </a:r>
                    </a:p>
                  </a:txBody>
                  <a:tcPr marL="38100" marR="38100" marT="38100" marB="381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3100" b="0" i="0" u="none">
                          <a:solidFill>
                            <a:schemeClr val="lt1"/>
                          </a:solidFill>
                          <a:latin typeface="Arial" charset="0"/>
                          <a:ea typeface="Arial" charset="0"/>
                          <a:cs typeface="Arial" charset="0"/>
                          <a:sym typeface="Cabin"/>
                        </a:rPr>
                        <a:t>Division</a:t>
                      </a:r>
                    </a:p>
                  </a:txBody>
                  <a:tcPr marL="38100" marR="38100" marT="38100" marB="381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53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FFFF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3100" b="0" i="0" u="none">
                          <a:solidFill>
                            <a:srgbClr val="00FFFF"/>
                          </a:solidFill>
                          <a:latin typeface="Arial" charset="0"/>
                          <a:ea typeface="Arial" charset="0"/>
                          <a:cs typeface="Arial" charset="0"/>
                          <a:sym typeface="Cabin"/>
                        </a:rPr>
                        <a:t>**</a:t>
                      </a:r>
                    </a:p>
                  </a:txBody>
                  <a:tcPr marL="38100" marR="38100" marT="38100" marB="381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3100" b="0" i="0" u="none">
                          <a:solidFill>
                            <a:schemeClr val="lt1"/>
                          </a:solidFill>
                          <a:latin typeface="Arial" charset="0"/>
                          <a:ea typeface="Arial" charset="0"/>
                          <a:cs typeface="Arial" charset="0"/>
                          <a:sym typeface="Cabin"/>
                        </a:rPr>
                        <a:t>Power</a:t>
                      </a:r>
                    </a:p>
                  </a:txBody>
                  <a:tcPr marL="38100" marR="38100" marT="38100" marB="381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953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FFFF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3100" b="0" i="0" u="none">
                          <a:solidFill>
                            <a:srgbClr val="00FFFF"/>
                          </a:solidFill>
                          <a:latin typeface="Arial" charset="0"/>
                          <a:ea typeface="Arial" charset="0"/>
                          <a:cs typeface="Arial" charset="0"/>
                          <a:sym typeface="Cabin"/>
                        </a:rPr>
                        <a:t>%</a:t>
                      </a:r>
                    </a:p>
                  </a:txBody>
                  <a:tcPr marL="38100" marR="38100" marT="38100" marB="381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3100" b="0" i="0" u="none" dirty="0">
                          <a:solidFill>
                            <a:schemeClr val="lt1"/>
                          </a:solidFill>
                          <a:latin typeface="Arial" charset="0"/>
                          <a:ea typeface="Arial" charset="0"/>
                          <a:cs typeface="Arial" charset="0"/>
                          <a:sym typeface="Cabin"/>
                        </a:rPr>
                        <a:t>Remainder</a:t>
                      </a:r>
                    </a:p>
                  </a:txBody>
                  <a:tcPr marL="38100" marR="38100" marT="38100" marB="381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Shape 361"/>
          <p:cNvSpPr txBox="1"/>
          <p:nvPr/>
        </p:nvSpPr>
        <p:spPr>
          <a:xfrm>
            <a:off x="1727200" y="2230157"/>
            <a:ext cx="4460999" cy="5308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xx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2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xx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xx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+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2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xx</a:t>
            </a:r>
            <a:r>
              <a:rPr lang="en-US" sz="30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i="0" u="none" strike="noStrike" cap="none" dirty="0">
              <a:solidFill>
                <a:srgbClr val="00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4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yy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440 </a:t>
            </a:r>
            <a:r>
              <a:rPr lang="en-US" sz="30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*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12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30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yy</a:t>
            </a:r>
            <a:r>
              <a:rPr lang="en-US" sz="30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i="0" u="none" strike="noStrike" cap="none" dirty="0">
              <a:solidFill>
                <a:srgbClr val="00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5280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zz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30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yy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/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1000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3000" i="0" u="none" strike="noStrike" cap="none" dirty="0" err="1">
                <a:solidFill>
                  <a:srgbClr val="00FA00"/>
                </a:solidFill>
                <a:latin typeface="Courier"/>
                <a:ea typeface="Courier"/>
                <a:cs typeface="Courier"/>
                <a:sym typeface="Courier New"/>
              </a:rPr>
              <a:t>zz</a:t>
            </a:r>
            <a:r>
              <a:rPr lang="en-US" sz="30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5.28</a:t>
            </a:r>
          </a:p>
        </p:txBody>
      </p:sp>
      <p:sp>
        <p:nvSpPr>
          <p:cNvPr id="362" name="Shape 362"/>
          <p:cNvSpPr txBox="1"/>
          <p:nvPr/>
        </p:nvSpPr>
        <p:spPr>
          <a:xfrm>
            <a:off x="7073900" y="2298700"/>
            <a:ext cx="4026600" cy="32258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jj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23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kk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30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jj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% 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5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30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kk</a:t>
            </a:r>
            <a:r>
              <a:rPr lang="en-US" sz="30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i="0" u="none" strike="noStrike" cap="none" dirty="0">
              <a:solidFill>
                <a:srgbClr val="00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C000"/>
                </a:solidFill>
                <a:latin typeface="Courier"/>
                <a:ea typeface="Courier"/>
                <a:cs typeface="Courier"/>
                <a:sym typeface="Courier New"/>
              </a:rPr>
              <a:t>3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4 </a:t>
            </a:r>
            <a:r>
              <a:rPr lang="en-US" sz="30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**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3</a:t>
            </a:r>
            <a:r>
              <a:rPr lang="en-US" sz="30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64</a:t>
            </a:r>
          </a:p>
        </p:txBody>
      </p:sp>
      <p:graphicFrame>
        <p:nvGraphicFramePr>
          <p:cNvPr id="363" name="Shape 363"/>
          <p:cNvGraphicFramePr/>
          <p:nvPr/>
        </p:nvGraphicFramePr>
        <p:xfrm>
          <a:off x="11783875" y="2965450"/>
          <a:ext cx="3752000" cy="4556125"/>
        </p:xfrm>
        <a:graphic>
          <a:graphicData uri="http://schemas.openxmlformats.org/drawingml/2006/table">
            <a:tbl>
              <a:tblPr>
                <a:noFill/>
                <a:tableStyleId>{54014B03-8F40-49A2-A0EB-D18ED94CC971}</a:tableStyleId>
              </a:tblPr>
              <a:tblGrid>
                <a:gridCol w="187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08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FFFF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2400" b="0" i="0" u="none">
                          <a:solidFill>
                            <a:srgbClr val="00FFFF"/>
                          </a:solidFill>
                          <a:latin typeface="Arial" charset="0"/>
                          <a:ea typeface="Arial" charset="0"/>
                          <a:cs typeface="Arial" charset="0"/>
                          <a:sym typeface="Cabin"/>
                        </a:rPr>
                        <a:t>Operator</a:t>
                      </a:r>
                    </a:p>
                  </a:txBody>
                  <a:tcPr marL="38100" marR="38100" marT="38100" marB="381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>
                        <a:alpha val="4941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2400" b="0" i="0" u="none">
                          <a:solidFill>
                            <a:schemeClr val="lt1"/>
                          </a:solidFill>
                          <a:latin typeface="Arial" charset="0"/>
                          <a:ea typeface="Arial" charset="0"/>
                          <a:cs typeface="Arial" charset="0"/>
                          <a:sym typeface="Cabin"/>
                        </a:rPr>
                        <a:t>Operation</a:t>
                      </a:r>
                    </a:p>
                  </a:txBody>
                  <a:tcPr marL="38100" marR="38100" marT="38100" marB="381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>
                        <a:alpha val="4941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08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FFFF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2300" b="0" i="0" u="none">
                          <a:solidFill>
                            <a:srgbClr val="00FFFF"/>
                          </a:solidFill>
                          <a:latin typeface="Arial" charset="0"/>
                          <a:ea typeface="Arial" charset="0"/>
                          <a:cs typeface="Arial" charset="0"/>
                          <a:sym typeface="Cabin"/>
                        </a:rPr>
                        <a:t>+</a:t>
                      </a:r>
                    </a:p>
                  </a:txBody>
                  <a:tcPr marL="38100" marR="38100" marT="38100" marB="381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2300" b="0" i="0" u="none">
                          <a:solidFill>
                            <a:schemeClr val="lt1"/>
                          </a:solidFill>
                          <a:latin typeface="Arial" charset="0"/>
                          <a:ea typeface="Arial" charset="0"/>
                          <a:cs typeface="Arial" charset="0"/>
                          <a:sym typeface="Cabin"/>
                        </a:rPr>
                        <a:t>Addition</a:t>
                      </a:r>
                    </a:p>
                  </a:txBody>
                  <a:tcPr marL="38100" marR="38100" marT="38100" marB="381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08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FFFF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2300" b="0" i="0" u="none">
                          <a:solidFill>
                            <a:srgbClr val="00FFFF"/>
                          </a:solidFill>
                          <a:latin typeface="Arial" charset="0"/>
                          <a:ea typeface="Arial" charset="0"/>
                          <a:cs typeface="Arial" charset="0"/>
                          <a:sym typeface="Cabin"/>
                        </a:rPr>
                        <a:t>-</a:t>
                      </a:r>
                    </a:p>
                  </a:txBody>
                  <a:tcPr marL="38100" marR="38100" marT="38100" marB="381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2300" b="0" i="0" u="none">
                          <a:solidFill>
                            <a:schemeClr val="lt1"/>
                          </a:solidFill>
                          <a:latin typeface="Arial" charset="0"/>
                          <a:ea typeface="Arial" charset="0"/>
                          <a:cs typeface="Arial" charset="0"/>
                          <a:sym typeface="Cabin"/>
                        </a:rPr>
                        <a:t>Subtraction</a:t>
                      </a:r>
                    </a:p>
                  </a:txBody>
                  <a:tcPr marL="38100" marR="38100" marT="38100" marB="381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08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FFFF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2300" b="0" i="0" u="none">
                          <a:solidFill>
                            <a:srgbClr val="00FFFF"/>
                          </a:solidFill>
                          <a:latin typeface="Arial" charset="0"/>
                          <a:ea typeface="Arial" charset="0"/>
                          <a:cs typeface="Arial" charset="0"/>
                          <a:sym typeface="Cabin"/>
                        </a:rPr>
                        <a:t>*</a:t>
                      </a:r>
                    </a:p>
                  </a:txBody>
                  <a:tcPr marL="38100" marR="38100" marT="38100" marB="381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2300" b="0" i="0" u="none">
                          <a:solidFill>
                            <a:schemeClr val="lt1"/>
                          </a:solidFill>
                          <a:latin typeface="Arial" charset="0"/>
                          <a:ea typeface="Arial" charset="0"/>
                          <a:cs typeface="Arial" charset="0"/>
                          <a:sym typeface="Cabin"/>
                        </a:rPr>
                        <a:t>Multiplication</a:t>
                      </a:r>
                    </a:p>
                  </a:txBody>
                  <a:tcPr marL="38100" marR="38100" marT="38100" marB="381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08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FFFF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2300" b="0" i="0" u="none">
                          <a:solidFill>
                            <a:srgbClr val="00FFFF"/>
                          </a:solidFill>
                          <a:latin typeface="Arial" charset="0"/>
                          <a:ea typeface="Arial" charset="0"/>
                          <a:cs typeface="Arial" charset="0"/>
                          <a:sym typeface="Cabin"/>
                        </a:rPr>
                        <a:t>/</a:t>
                      </a:r>
                    </a:p>
                  </a:txBody>
                  <a:tcPr marL="38100" marR="38100" marT="38100" marB="381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2300" b="0" i="0" u="none">
                          <a:solidFill>
                            <a:schemeClr val="lt1"/>
                          </a:solidFill>
                          <a:latin typeface="Arial" charset="0"/>
                          <a:ea typeface="Arial" charset="0"/>
                          <a:cs typeface="Arial" charset="0"/>
                          <a:sym typeface="Cabin"/>
                        </a:rPr>
                        <a:t>Division</a:t>
                      </a:r>
                    </a:p>
                  </a:txBody>
                  <a:tcPr marL="38100" marR="38100" marT="38100" marB="381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08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FFFF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2300" b="0" i="0" u="none">
                          <a:solidFill>
                            <a:srgbClr val="00FFFF"/>
                          </a:solidFill>
                          <a:latin typeface="Arial" charset="0"/>
                          <a:ea typeface="Arial" charset="0"/>
                          <a:cs typeface="Arial" charset="0"/>
                          <a:sym typeface="Cabin"/>
                        </a:rPr>
                        <a:t>**</a:t>
                      </a:r>
                    </a:p>
                  </a:txBody>
                  <a:tcPr marL="38100" marR="38100" marT="38100" marB="381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2300" b="0" i="0" u="none">
                          <a:solidFill>
                            <a:schemeClr val="lt1"/>
                          </a:solidFill>
                          <a:latin typeface="Arial" charset="0"/>
                          <a:ea typeface="Arial" charset="0"/>
                          <a:cs typeface="Arial" charset="0"/>
                          <a:sym typeface="Cabin"/>
                        </a:rPr>
                        <a:t>Power</a:t>
                      </a:r>
                    </a:p>
                  </a:txBody>
                  <a:tcPr marL="38100" marR="38100" marT="38100" marB="381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08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FFFF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2300" b="0" i="0" u="none">
                          <a:solidFill>
                            <a:srgbClr val="00FFFF"/>
                          </a:solidFill>
                          <a:latin typeface="Arial" charset="0"/>
                          <a:ea typeface="Arial" charset="0"/>
                          <a:cs typeface="Arial" charset="0"/>
                          <a:sym typeface="Cabin"/>
                        </a:rPr>
                        <a:t>%</a:t>
                      </a:r>
                    </a:p>
                  </a:txBody>
                  <a:tcPr marL="38100" marR="38100" marT="38100" marB="381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2300" b="0" i="0" u="none">
                          <a:solidFill>
                            <a:schemeClr val="lt1"/>
                          </a:solidFill>
                          <a:latin typeface="Arial" charset="0"/>
                          <a:ea typeface="Arial" charset="0"/>
                          <a:cs typeface="Arial" charset="0"/>
                          <a:sym typeface="Cabin"/>
                        </a:rPr>
                        <a:t>Remainder</a:t>
                      </a:r>
                    </a:p>
                  </a:txBody>
                  <a:tcPr marL="38100" marR="38100" marT="38100" marB="381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cxnSp>
        <p:nvCxnSpPr>
          <p:cNvPr id="364" name="Shape 364"/>
          <p:cNvCxnSpPr/>
          <p:nvPr/>
        </p:nvCxnSpPr>
        <p:spPr>
          <a:xfrm>
            <a:off x="8432800" y="6225788"/>
            <a:ext cx="12699" cy="595311"/>
          </a:xfrm>
          <a:prstGeom prst="straightConnector1">
            <a:avLst/>
          </a:prstGeom>
          <a:noFill/>
          <a:ln w="25400" cap="rnd" cmpd="sng">
            <a:solidFill>
              <a:schemeClr val="lt1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365" name="Shape 365"/>
          <p:cNvCxnSpPr/>
          <p:nvPr/>
        </p:nvCxnSpPr>
        <p:spPr>
          <a:xfrm rot="10800000" flipH="1">
            <a:off x="8432800" y="6210300"/>
            <a:ext cx="2035175" cy="25399"/>
          </a:xfrm>
          <a:prstGeom prst="straightConnector1">
            <a:avLst/>
          </a:prstGeom>
          <a:noFill/>
          <a:ln w="25400" cap="rnd" cmpd="sng">
            <a:solidFill>
              <a:schemeClr val="lt1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366" name="Shape 366"/>
          <p:cNvSpPr txBox="1"/>
          <p:nvPr/>
        </p:nvSpPr>
        <p:spPr>
          <a:xfrm>
            <a:off x="7807325" y="6273800"/>
            <a:ext cx="342899" cy="6222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5</a:t>
            </a:r>
          </a:p>
        </p:txBody>
      </p:sp>
      <p:sp>
        <p:nvSpPr>
          <p:cNvPr id="367" name="Shape 367"/>
          <p:cNvSpPr txBox="1"/>
          <p:nvPr/>
        </p:nvSpPr>
        <p:spPr>
          <a:xfrm>
            <a:off x="8572500" y="6273800"/>
            <a:ext cx="571500" cy="6222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23</a:t>
            </a:r>
          </a:p>
        </p:txBody>
      </p:sp>
      <p:sp>
        <p:nvSpPr>
          <p:cNvPr id="368" name="Shape 368"/>
          <p:cNvSpPr txBox="1"/>
          <p:nvPr/>
        </p:nvSpPr>
        <p:spPr>
          <a:xfrm>
            <a:off x="8816975" y="5605462"/>
            <a:ext cx="1100136" cy="6222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4 R 3</a:t>
            </a:r>
          </a:p>
        </p:txBody>
      </p:sp>
      <p:sp>
        <p:nvSpPr>
          <p:cNvPr id="369" name="Shape 369"/>
          <p:cNvSpPr txBox="1"/>
          <p:nvPr/>
        </p:nvSpPr>
        <p:spPr>
          <a:xfrm>
            <a:off x="8572500" y="6731000"/>
            <a:ext cx="571500" cy="6222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20</a:t>
            </a:r>
          </a:p>
        </p:txBody>
      </p:sp>
      <p:cxnSp>
        <p:nvCxnSpPr>
          <p:cNvPr id="370" name="Shape 370"/>
          <p:cNvCxnSpPr/>
          <p:nvPr/>
        </p:nvCxnSpPr>
        <p:spPr>
          <a:xfrm>
            <a:off x="8496300" y="7440611"/>
            <a:ext cx="584200" cy="0"/>
          </a:xfrm>
          <a:prstGeom prst="straightConnector1">
            <a:avLst/>
          </a:prstGeom>
          <a:noFill/>
          <a:ln w="25400" cap="rnd" cmpd="sng">
            <a:solidFill>
              <a:schemeClr val="lt1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371" name="Shape 371"/>
          <p:cNvSpPr txBox="1"/>
          <p:nvPr/>
        </p:nvSpPr>
        <p:spPr>
          <a:xfrm>
            <a:off x="8801100" y="7505700"/>
            <a:ext cx="342899" cy="6222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FFC0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3</a:t>
            </a:r>
          </a:p>
        </p:txBody>
      </p:sp>
      <p:sp>
        <p:nvSpPr>
          <p:cNvPr id="372" name="Shape 37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Numeric Expressions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Shape 37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Order of Evaluation</a:t>
            </a:r>
          </a:p>
        </p:txBody>
      </p:sp>
      <p:sp>
        <p:nvSpPr>
          <p:cNvPr id="378" name="Shape 378"/>
          <p:cNvSpPr txBox="1">
            <a:spLocks noGrp="1"/>
          </p:cNvSpPr>
          <p:nvPr>
            <p:ph type="body" idx="1"/>
          </p:nvPr>
        </p:nvSpPr>
        <p:spPr>
          <a:xfrm>
            <a:off x="812800" y="2133600"/>
            <a:ext cx="14630400" cy="40004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3710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When we string operators together - Python must know which one to do first</a:t>
            </a:r>
          </a:p>
          <a:p>
            <a:pPr marL="749300" marR="0" lvl="0" indent="-3710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This is called </a:t>
            </a:r>
            <a: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36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operator precedence</a:t>
            </a:r>
            <a: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</a:p>
          <a:p>
            <a:pPr marL="749300" marR="0" lvl="0" indent="-3710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Which operator </a:t>
            </a:r>
            <a: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takes precedence</a:t>
            </a:r>
            <a: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(comes first) over the others?</a:t>
            </a:r>
          </a:p>
        </p:txBody>
      </p:sp>
      <p:sp>
        <p:nvSpPr>
          <p:cNvPr id="379" name="Shape 379"/>
          <p:cNvSpPr txBox="1"/>
          <p:nvPr/>
        </p:nvSpPr>
        <p:spPr>
          <a:xfrm>
            <a:off x="3756025" y="6640900"/>
            <a:ext cx="8743950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4400" u="none" strike="noStrike" cap="none" dirty="0">
                <a:solidFill>
                  <a:srgbClr val="00F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x</a:t>
            </a:r>
            <a:r>
              <a:rPr lang="en-US" sz="4400" u="none" strike="noStrike" cap="none" dirty="0">
                <a:solidFill>
                  <a:schemeClr val="lt1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 = 1</a:t>
            </a:r>
            <a:r>
              <a:rPr lang="en-US" sz="4400" u="none" strike="noStrike" cap="none" dirty="0">
                <a:solidFill>
                  <a:srgbClr val="00FFFF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 +</a:t>
            </a:r>
            <a:r>
              <a:rPr lang="en-US" sz="4400" u="none" strike="noStrike" cap="none" dirty="0">
                <a:solidFill>
                  <a:schemeClr val="lt1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 2 </a:t>
            </a:r>
            <a:r>
              <a:rPr lang="en-US" sz="4400" u="none" strike="noStrike" cap="none" dirty="0">
                <a:solidFill>
                  <a:srgbClr val="00FFFF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* </a:t>
            </a:r>
            <a:r>
              <a:rPr lang="en-US" sz="4400" u="none" strike="noStrike" cap="none" dirty="0">
                <a:solidFill>
                  <a:schemeClr val="lt1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3 </a:t>
            </a:r>
            <a:r>
              <a:rPr lang="en-US" sz="4400" u="none" strike="noStrike" cap="none" dirty="0">
                <a:solidFill>
                  <a:srgbClr val="00FFFF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- </a:t>
            </a:r>
            <a:r>
              <a:rPr lang="en-US" sz="4400" u="none" strike="noStrike" cap="none" dirty="0">
                <a:solidFill>
                  <a:schemeClr val="lt1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4</a:t>
            </a:r>
            <a:r>
              <a:rPr lang="en-US" sz="4400" u="none" strike="noStrike" cap="none" dirty="0">
                <a:solidFill>
                  <a:srgbClr val="00FFFF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 / </a:t>
            </a:r>
            <a:r>
              <a:rPr lang="en-US" sz="4400" u="none" strike="noStrike" cap="none" dirty="0">
                <a:solidFill>
                  <a:schemeClr val="lt1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5 </a:t>
            </a:r>
            <a:r>
              <a:rPr lang="en-US" sz="4400" u="none" strike="noStrike" cap="none" dirty="0">
                <a:solidFill>
                  <a:srgbClr val="00FFFF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** </a:t>
            </a:r>
            <a:r>
              <a:rPr lang="en-US" sz="4400" u="none" strike="noStrike" cap="none" dirty="0">
                <a:solidFill>
                  <a:schemeClr val="lt1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Shape 38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Operator Precedence Rules</a:t>
            </a:r>
          </a:p>
        </p:txBody>
      </p:sp>
      <p:sp>
        <p:nvSpPr>
          <p:cNvPr id="385" name="Shape 38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Highest precedence rule to lowest precedence rule:</a:t>
            </a:r>
          </a:p>
          <a:p>
            <a:pPr marL="1041400" marR="0" lvl="1" indent="-3456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Parentheses are always respected</a:t>
            </a:r>
          </a:p>
          <a:p>
            <a:pPr marL="1041400" marR="0" lvl="1" indent="-3456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Exponentiation (raise to a power)</a:t>
            </a:r>
          </a:p>
          <a:p>
            <a:pPr marL="1041400" marR="0" lvl="1" indent="-3456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Multiplication, Division, and Remainder</a:t>
            </a:r>
          </a:p>
          <a:p>
            <a:pPr marL="1041400" marR="0" lvl="1" indent="-3456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Addition and Subtraction</a:t>
            </a:r>
          </a:p>
          <a:p>
            <a:pPr marL="1041400" marR="0" lvl="1" indent="-3456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Left to right</a:t>
            </a:r>
          </a:p>
        </p:txBody>
      </p:sp>
      <p:grpSp>
        <p:nvGrpSpPr>
          <p:cNvPr id="386" name="Shape 386"/>
          <p:cNvGrpSpPr/>
          <p:nvPr/>
        </p:nvGrpSpPr>
        <p:grpSpPr>
          <a:xfrm>
            <a:off x="12079286" y="3276578"/>
            <a:ext cx="3338701" cy="3020428"/>
            <a:chOff x="0" y="-349272"/>
            <a:chExt cx="2522536" cy="3020428"/>
          </a:xfrm>
        </p:grpSpPr>
        <p:sp>
          <p:nvSpPr>
            <p:cNvPr id="387" name="Shape 387"/>
            <p:cNvSpPr txBox="1"/>
            <p:nvPr/>
          </p:nvSpPr>
          <p:spPr>
            <a:xfrm>
              <a:off x="0" y="-349272"/>
              <a:ext cx="2262187" cy="3020428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FF"/>
                </a:buClr>
                <a:buSzPct val="25000"/>
                <a:buFont typeface="Cabin"/>
                <a:buNone/>
              </a:pPr>
              <a:r>
                <a:rPr lang="en-US" sz="3600" u="none" strike="noStrike" cap="none" dirty="0">
                  <a:solidFill>
                    <a:srgbClr val="FF00FF"/>
                  </a:solidFill>
                  <a:latin typeface="Arial" charset="0"/>
                  <a:ea typeface="Arial" charset="0"/>
                  <a:cs typeface="Arial" charset="0"/>
                  <a:sym typeface="Cabin"/>
                </a:rPr>
                <a:t>Parenthesis</a:t>
              </a: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ct val="25000"/>
                <a:buFont typeface="Cabin"/>
                <a:buNone/>
              </a:pPr>
              <a:r>
                <a:rPr lang="en-US" sz="3600" u="none" strike="noStrike" cap="none" dirty="0">
                  <a:solidFill>
                    <a:srgbClr val="00FFFF"/>
                  </a:solidFill>
                  <a:latin typeface="Arial" charset="0"/>
                  <a:ea typeface="Arial" charset="0"/>
                  <a:cs typeface="Arial" charset="0"/>
                  <a:sym typeface="Cabin"/>
                </a:rPr>
                <a:t>Power</a:t>
              </a: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FF00"/>
                </a:buClr>
                <a:buSzPct val="25000"/>
                <a:buFont typeface="Cabin"/>
                <a:buNone/>
              </a:pPr>
              <a:r>
                <a:rPr lang="en-US" sz="3600" u="none" strike="noStrike" cap="none" dirty="0">
                  <a:solidFill>
                    <a:srgbClr val="00FF00"/>
                  </a:solidFill>
                  <a:latin typeface="Arial" charset="0"/>
                  <a:ea typeface="Arial" charset="0"/>
                  <a:cs typeface="Arial" charset="0"/>
                  <a:sym typeface="Cabin"/>
                </a:rPr>
                <a:t>Multiplication</a:t>
              </a: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7F00"/>
                </a:buClr>
                <a:buSzPct val="25000"/>
                <a:buFont typeface="Cabin"/>
                <a:buNone/>
              </a:pPr>
              <a:r>
                <a:rPr lang="en-US" sz="3600" u="none" strike="noStrike" cap="none" dirty="0">
                  <a:solidFill>
                    <a:srgbClr val="FF9900"/>
                  </a:solidFill>
                  <a:latin typeface="Arial" charset="0"/>
                  <a:ea typeface="Arial" charset="0"/>
                  <a:cs typeface="Arial" charset="0"/>
                  <a:sym typeface="Cabin"/>
                </a:rPr>
                <a:t>Addition</a:t>
              </a: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ct val="25000"/>
                <a:buFont typeface="Cabin"/>
                <a:buNone/>
              </a:pPr>
              <a:r>
                <a:rPr lang="en-US" sz="3600" u="none" strike="noStrike" cap="none" dirty="0">
                  <a:solidFill>
                    <a:srgbClr val="FFFF00"/>
                  </a:solidFill>
                  <a:latin typeface="Arial" charset="0"/>
                  <a:ea typeface="Arial" charset="0"/>
                  <a:cs typeface="Arial" charset="0"/>
                  <a:sym typeface="Cabin"/>
                </a:rPr>
                <a:t>Left to Right</a:t>
              </a:r>
            </a:p>
          </p:txBody>
        </p:sp>
        <p:cxnSp>
          <p:nvCxnSpPr>
            <p:cNvPr id="388" name="Shape 388"/>
            <p:cNvCxnSpPr/>
            <p:nvPr/>
          </p:nvCxnSpPr>
          <p:spPr>
            <a:xfrm flipV="1">
              <a:off x="2522536" y="134936"/>
              <a:ext cx="0" cy="2051050"/>
            </a:xfrm>
            <a:prstGeom prst="straightConnector1">
              <a:avLst/>
            </a:prstGeom>
            <a:noFill/>
            <a:ln w="88900" cap="rnd" cmpd="sng">
              <a:solidFill>
                <a:schemeClr val="lt1"/>
              </a:solidFill>
              <a:prstDash val="solid"/>
              <a:miter/>
              <a:headEnd type="stealth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Shape 396"/>
          <p:cNvSpPr txBox="1"/>
          <p:nvPr/>
        </p:nvSpPr>
        <p:spPr>
          <a:xfrm>
            <a:off x="10307636" y="990600"/>
            <a:ext cx="4627564" cy="8000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1 + </a:t>
            </a:r>
            <a:r>
              <a:rPr lang="en-US" sz="3200" u="none" strike="noStrike" cap="none" dirty="0">
                <a:solidFill>
                  <a:srgbClr val="00FFFF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2 ** 3</a:t>
            </a:r>
            <a:r>
              <a:rPr lang="en-US" sz="3200" u="none" strike="noStrike" cap="none" dirty="0">
                <a:solidFill>
                  <a:schemeClr val="lt1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 / 4 * 5</a:t>
            </a:r>
          </a:p>
        </p:txBody>
      </p:sp>
      <p:sp>
        <p:nvSpPr>
          <p:cNvPr id="397" name="Shape 397"/>
          <p:cNvSpPr txBox="1"/>
          <p:nvPr/>
        </p:nvSpPr>
        <p:spPr>
          <a:xfrm>
            <a:off x="10891836" y="2540000"/>
            <a:ext cx="4043364" cy="8000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1 + </a:t>
            </a:r>
            <a:r>
              <a:rPr lang="en-US" sz="3200" u="none" strike="noStrike" cap="none" dirty="0">
                <a:solidFill>
                  <a:srgbClr val="00F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8 / 4</a:t>
            </a:r>
            <a:r>
              <a:rPr lang="en-US" sz="3200" u="none" strike="noStrike" cap="none" dirty="0">
                <a:solidFill>
                  <a:schemeClr val="lt1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 * 5</a:t>
            </a:r>
          </a:p>
        </p:txBody>
      </p:sp>
      <p:cxnSp>
        <p:nvCxnSpPr>
          <p:cNvPr id="398" name="Shape 398"/>
          <p:cNvCxnSpPr/>
          <p:nvPr/>
        </p:nvCxnSpPr>
        <p:spPr>
          <a:xfrm rot="10800000">
            <a:off x="11917975" y="1686224"/>
            <a:ext cx="277199" cy="837900"/>
          </a:xfrm>
          <a:prstGeom prst="straightConnector1">
            <a:avLst/>
          </a:prstGeom>
          <a:noFill/>
          <a:ln w="635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399" name="Shape 399"/>
          <p:cNvSpPr txBox="1"/>
          <p:nvPr/>
        </p:nvSpPr>
        <p:spPr>
          <a:xfrm>
            <a:off x="11298236" y="4000500"/>
            <a:ext cx="3217864" cy="8000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1 + </a:t>
            </a:r>
            <a:r>
              <a:rPr lang="en-US" sz="3200" u="none" strike="noStrike" cap="none" dirty="0">
                <a:solidFill>
                  <a:srgbClr val="00F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2 * 5</a:t>
            </a:r>
          </a:p>
        </p:txBody>
      </p:sp>
      <p:cxnSp>
        <p:nvCxnSpPr>
          <p:cNvPr id="400" name="Shape 400"/>
          <p:cNvCxnSpPr/>
          <p:nvPr/>
        </p:nvCxnSpPr>
        <p:spPr>
          <a:xfrm flipV="1">
            <a:off x="12322173" y="3348026"/>
            <a:ext cx="74752" cy="652474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401" name="Shape 401"/>
          <p:cNvSpPr txBox="1"/>
          <p:nvPr/>
        </p:nvSpPr>
        <p:spPr>
          <a:xfrm>
            <a:off x="11590336" y="5638800"/>
            <a:ext cx="2259014" cy="8000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rgbClr val="FF99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1 + 10</a:t>
            </a:r>
          </a:p>
        </p:txBody>
      </p:sp>
      <p:cxnSp>
        <p:nvCxnSpPr>
          <p:cNvPr id="402" name="Shape 402"/>
          <p:cNvCxnSpPr>
            <a:endCxn id="399" idx="2"/>
          </p:cNvCxnSpPr>
          <p:nvPr/>
        </p:nvCxnSpPr>
        <p:spPr>
          <a:xfrm flipV="1">
            <a:off x="12785524" y="4800599"/>
            <a:ext cx="121644" cy="863725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403" name="Shape 403"/>
          <p:cNvSpPr txBox="1"/>
          <p:nvPr/>
        </p:nvSpPr>
        <p:spPr>
          <a:xfrm>
            <a:off x="12085636" y="6934200"/>
            <a:ext cx="723900" cy="8000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rgbClr val="FF99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11</a:t>
            </a:r>
          </a:p>
        </p:txBody>
      </p:sp>
      <p:cxnSp>
        <p:nvCxnSpPr>
          <p:cNvPr id="404" name="Shape 404"/>
          <p:cNvCxnSpPr/>
          <p:nvPr/>
        </p:nvCxnSpPr>
        <p:spPr>
          <a:xfrm rot="10800000">
            <a:off x="12225274" y="6308749"/>
            <a:ext cx="96899" cy="708000"/>
          </a:xfrm>
          <a:prstGeom prst="straightConnector1">
            <a:avLst/>
          </a:prstGeom>
          <a:noFill/>
          <a:ln w="63500" cap="rnd" cmpd="sng">
            <a:solidFill>
              <a:srgbClr val="FF99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405" name="Shape 405"/>
          <p:cNvSpPr txBox="1"/>
          <p:nvPr/>
        </p:nvSpPr>
        <p:spPr>
          <a:xfrm>
            <a:off x="1455723" y="1309675"/>
            <a:ext cx="7351799" cy="2955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x = 1 + 2 ** 3 / 4 * 5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print(x)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11.0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</a:t>
            </a:r>
            <a:r>
              <a:rPr lang="en-US" sz="3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</a:p>
        </p:txBody>
      </p:sp>
      <p:grpSp>
        <p:nvGrpSpPr>
          <p:cNvPr id="18" name="Shape 386"/>
          <p:cNvGrpSpPr/>
          <p:nvPr/>
        </p:nvGrpSpPr>
        <p:grpSpPr>
          <a:xfrm>
            <a:off x="3242938" y="4450596"/>
            <a:ext cx="3338701" cy="3020428"/>
            <a:chOff x="0" y="-349272"/>
            <a:chExt cx="2522536" cy="3020428"/>
          </a:xfrm>
        </p:grpSpPr>
        <p:sp>
          <p:nvSpPr>
            <p:cNvPr id="19" name="Shape 387"/>
            <p:cNvSpPr txBox="1"/>
            <p:nvPr/>
          </p:nvSpPr>
          <p:spPr>
            <a:xfrm>
              <a:off x="0" y="-349272"/>
              <a:ext cx="2262187" cy="3020428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FF"/>
                </a:buClr>
                <a:buSzPct val="25000"/>
                <a:buFont typeface="Cabin"/>
                <a:buNone/>
              </a:pPr>
              <a:r>
                <a:rPr lang="en-US" sz="3600" u="none" strike="noStrike" cap="none" dirty="0">
                  <a:solidFill>
                    <a:srgbClr val="FF00FF"/>
                  </a:solidFill>
                  <a:latin typeface="Arial" charset="0"/>
                  <a:ea typeface="Arial" charset="0"/>
                  <a:cs typeface="Arial" charset="0"/>
                  <a:sym typeface="Cabin"/>
                </a:rPr>
                <a:t>Parenthesis</a:t>
              </a: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ct val="25000"/>
                <a:buFont typeface="Cabin"/>
                <a:buNone/>
              </a:pPr>
              <a:r>
                <a:rPr lang="en-US" sz="3600" u="none" strike="noStrike" cap="none" dirty="0">
                  <a:solidFill>
                    <a:srgbClr val="00FFFF"/>
                  </a:solidFill>
                  <a:latin typeface="Arial" charset="0"/>
                  <a:ea typeface="Arial" charset="0"/>
                  <a:cs typeface="Arial" charset="0"/>
                  <a:sym typeface="Cabin"/>
                </a:rPr>
                <a:t>Power</a:t>
              </a: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FF00"/>
                </a:buClr>
                <a:buSzPct val="25000"/>
                <a:buFont typeface="Cabin"/>
                <a:buNone/>
              </a:pPr>
              <a:r>
                <a:rPr lang="en-US" sz="3600" u="none" strike="noStrike" cap="none" dirty="0">
                  <a:solidFill>
                    <a:srgbClr val="00FF00"/>
                  </a:solidFill>
                  <a:latin typeface="Arial" charset="0"/>
                  <a:ea typeface="Arial" charset="0"/>
                  <a:cs typeface="Arial" charset="0"/>
                  <a:sym typeface="Cabin"/>
                </a:rPr>
                <a:t>Multiplication</a:t>
              </a: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7F00"/>
                </a:buClr>
                <a:buSzPct val="25000"/>
                <a:buFont typeface="Cabin"/>
                <a:buNone/>
              </a:pPr>
              <a:r>
                <a:rPr lang="en-US" sz="3600" u="none" strike="noStrike" cap="none" dirty="0">
                  <a:solidFill>
                    <a:srgbClr val="FF9900"/>
                  </a:solidFill>
                  <a:latin typeface="Arial" charset="0"/>
                  <a:ea typeface="Arial" charset="0"/>
                  <a:cs typeface="Arial" charset="0"/>
                  <a:sym typeface="Cabin"/>
                </a:rPr>
                <a:t>Addition</a:t>
              </a: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ct val="25000"/>
                <a:buFont typeface="Cabin"/>
                <a:buNone/>
              </a:pPr>
              <a:r>
                <a:rPr lang="en-US" sz="3600" u="none" strike="noStrike" cap="none" dirty="0">
                  <a:solidFill>
                    <a:srgbClr val="FFFF00"/>
                  </a:solidFill>
                  <a:latin typeface="Arial" charset="0"/>
                  <a:ea typeface="Arial" charset="0"/>
                  <a:cs typeface="Arial" charset="0"/>
                  <a:sym typeface="Cabin"/>
                </a:rPr>
                <a:t>Left to Right</a:t>
              </a:r>
            </a:p>
          </p:txBody>
        </p:sp>
        <p:cxnSp>
          <p:nvCxnSpPr>
            <p:cNvPr id="20" name="Shape 388"/>
            <p:cNvCxnSpPr/>
            <p:nvPr/>
          </p:nvCxnSpPr>
          <p:spPr>
            <a:xfrm flipV="1">
              <a:off x="2522536" y="134936"/>
              <a:ext cx="0" cy="2051050"/>
            </a:xfrm>
            <a:prstGeom prst="straightConnector1">
              <a:avLst/>
            </a:prstGeom>
            <a:noFill/>
            <a:ln w="88900" cap="rnd" cmpd="sng">
              <a:solidFill>
                <a:schemeClr val="lt1"/>
              </a:solidFill>
              <a:prstDash val="solid"/>
              <a:miter/>
              <a:headEnd type="stealth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384">
            <a:extLst>
              <a:ext uri="{FF2B5EF4-FFF2-40B4-BE49-F238E27FC236}">
                <a16:creationId xmlns:a16="http://schemas.microsoft.com/office/drawing/2014/main" id="{C446EA01-8BAE-E44D-B7F9-2C1EC8ABB17E}"/>
              </a:ext>
            </a:extLst>
          </p:cNvPr>
          <p:cNvSpPr txBox="1">
            <a:spLocks/>
          </p:cNvSpPr>
          <p:nvPr/>
        </p:nvSpPr>
        <p:spPr>
          <a:xfrm>
            <a:off x="812800" y="785812"/>
            <a:ext cx="14630400" cy="11048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ctr"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Brain Games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E9B058-2234-A042-815A-42C7C652E65E}"/>
              </a:ext>
            </a:extLst>
          </p:cNvPr>
          <p:cNvSpPr txBox="1"/>
          <p:nvPr/>
        </p:nvSpPr>
        <p:spPr>
          <a:xfrm>
            <a:off x="1303867" y="3149600"/>
            <a:ext cx="8177239" cy="50167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When I run this program, what will print out?</a:t>
            </a:r>
          </a:p>
          <a:p>
            <a:endParaRPr lang="en-US" sz="3200" b="1" dirty="0">
              <a:solidFill>
                <a:schemeClr val="bg1"/>
              </a:solidFill>
            </a:endParaRPr>
          </a:p>
          <a:p>
            <a:r>
              <a:rPr lang="en-US" sz="3200" dirty="0">
                <a:solidFill>
                  <a:srgbClr val="FFFD38"/>
                </a:solidFill>
              </a:rPr>
              <a:t>x = 100**0 + 10 / 2 – 4</a:t>
            </a:r>
          </a:p>
          <a:p>
            <a:r>
              <a:rPr lang="en-US" sz="3200" dirty="0">
                <a:solidFill>
                  <a:srgbClr val="FFFD38"/>
                </a:solidFill>
              </a:rPr>
              <a:t>print(x)</a:t>
            </a:r>
            <a:endParaRPr lang="en-US" sz="3200" dirty="0">
              <a:solidFill>
                <a:schemeClr val="bg1"/>
              </a:solidFill>
            </a:endParaRPr>
          </a:p>
          <a:p>
            <a:endParaRPr lang="en-US" sz="3200" dirty="0">
              <a:solidFill>
                <a:schemeClr val="bg1"/>
              </a:solidFill>
            </a:endParaRPr>
          </a:p>
          <a:p>
            <a:r>
              <a:rPr lang="en-US" sz="3200" dirty="0">
                <a:solidFill>
                  <a:schemeClr val="bg1"/>
                </a:solidFill>
              </a:rPr>
              <a:t>How about this one? </a:t>
            </a:r>
          </a:p>
          <a:p>
            <a:endParaRPr lang="en-US" sz="3200" dirty="0">
              <a:solidFill>
                <a:srgbClr val="FFFB4E"/>
              </a:solidFill>
            </a:endParaRPr>
          </a:p>
          <a:p>
            <a:r>
              <a:rPr lang="en-US" sz="3200" dirty="0">
                <a:solidFill>
                  <a:srgbClr val="FFFB4E"/>
                </a:solidFill>
              </a:rPr>
              <a:t>x = (8 - 2) * 10 + 4 / (5-4) * 5</a:t>
            </a:r>
          </a:p>
          <a:p>
            <a:r>
              <a:rPr lang="en-US" sz="3200" dirty="0">
                <a:solidFill>
                  <a:srgbClr val="FFFB4E"/>
                </a:solidFill>
              </a:rPr>
              <a:t>print(x)</a:t>
            </a:r>
          </a:p>
          <a:p>
            <a:endParaRPr lang="en-US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31450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384">
            <a:extLst>
              <a:ext uri="{FF2B5EF4-FFF2-40B4-BE49-F238E27FC236}">
                <a16:creationId xmlns:a16="http://schemas.microsoft.com/office/drawing/2014/main" id="{C446EA01-8BAE-E44D-B7F9-2C1EC8ABB17E}"/>
              </a:ext>
            </a:extLst>
          </p:cNvPr>
          <p:cNvSpPr txBox="1">
            <a:spLocks/>
          </p:cNvSpPr>
          <p:nvPr/>
        </p:nvSpPr>
        <p:spPr>
          <a:xfrm>
            <a:off x="812800" y="785812"/>
            <a:ext cx="14630400" cy="11048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ctr"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Code Break!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E9B058-2234-A042-815A-42C7C652E65E}"/>
              </a:ext>
            </a:extLst>
          </p:cNvPr>
          <p:cNvSpPr txBox="1"/>
          <p:nvPr/>
        </p:nvSpPr>
        <p:spPr>
          <a:xfrm>
            <a:off x="1303867" y="3149600"/>
            <a:ext cx="12253676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Using what we have just learned, write this program:</a:t>
            </a:r>
          </a:p>
          <a:p>
            <a:endParaRPr lang="en-US" sz="3200" b="1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bg1"/>
                </a:solidFill>
              </a:rPr>
              <a:t>Save your age into a variable called “age”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bg1"/>
                </a:solidFill>
              </a:rPr>
              <a:t>Add 100 to your age and save it back into the same variable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bg1"/>
                </a:solidFill>
              </a:rPr>
              <a:t>Print out “In 100 years you will be…”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bg1"/>
                </a:solidFill>
              </a:rPr>
              <a:t>Then print out the age variable</a:t>
            </a:r>
          </a:p>
        </p:txBody>
      </p:sp>
    </p:spTree>
    <p:extLst>
      <p:ext uri="{BB962C8B-B14F-4D97-AF65-F5344CB8AC3E}">
        <p14:creationId xmlns:p14="http://schemas.microsoft.com/office/powerpoint/2010/main" val="19168618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7200" dirty="0">
                <a:solidFill>
                  <a:srgbClr val="FFD966"/>
                </a:solidFill>
              </a:rPr>
              <a:t>Variable Types…</a:t>
            </a:r>
          </a:p>
        </p:txBody>
      </p:sp>
    </p:spTree>
    <p:extLst>
      <p:ext uri="{BB962C8B-B14F-4D97-AF65-F5344CB8AC3E}">
        <p14:creationId xmlns:p14="http://schemas.microsoft.com/office/powerpoint/2010/main" val="26616012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Shape 43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What Does </a:t>
            </a:r>
            <a:r>
              <a:rPr lang="en-US" sz="7600" b="0" i="0" u="none" strike="noStrike" cap="none">
                <a:solidFill>
                  <a:srgbClr val="FFD966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Type</a:t>
            </a:r>
            <a:r>
              <a:rPr lang="en-US" sz="7600" b="0" i="0" u="none" strike="noStrike" cap="none">
                <a:solidFill>
                  <a:srgbClr val="FFD966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Mean?</a:t>
            </a:r>
          </a:p>
        </p:txBody>
      </p:sp>
      <p:sp>
        <p:nvSpPr>
          <p:cNvPr id="436" name="Shape 436"/>
          <p:cNvSpPr txBox="1">
            <a:spLocks noGrp="1"/>
          </p:cNvSpPr>
          <p:nvPr>
            <p:ph type="body" idx="1"/>
          </p:nvPr>
        </p:nvSpPr>
        <p:spPr>
          <a:xfrm>
            <a:off x="812800" y="2133600"/>
            <a:ext cx="8540750" cy="6034087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3710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 Python variables, literals, and constants have a </a:t>
            </a:r>
            <a: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36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type</a:t>
            </a:r>
            <a: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</a:p>
          <a:p>
            <a:pPr marL="749300" marR="0" lvl="0" indent="-3710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Python knows the </a:t>
            </a:r>
            <a:r>
              <a:rPr lang="en-US" sz="36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difference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between an integer number and a string</a:t>
            </a:r>
          </a:p>
          <a:p>
            <a:pPr marL="749300" marR="0" lvl="0" indent="-3710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For example </a:t>
            </a:r>
            <a: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36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+</a:t>
            </a:r>
            <a: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means </a:t>
            </a:r>
            <a: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addition</a:t>
            </a:r>
            <a: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if something is a number and </a:t>
            </a:r>
            <a: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concatenate</a:t>
            </a:r>
            <a: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if something is a string </a:t>
            </a:r>
          </a:p>
        </p:txBody>
      </p:sp>
      <p:sp>
        <p:nvSpPr>
          <p:cNvPr id="437" name="Shape 437"/>
          <p:cNvSpPr txBox="1"/>
          <p:nvPr/>
        </p:nvSpPr>
        <p:spPr>
          <a:xfrm>
            <a:off x="9696450" y="3224956"/>
            <a:ext cx="6076799" cy="32258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8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8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ddd</a:t>
            </a:r>
            <a:r>
              <a:rPr lang="en-US" sz="28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= 1 + 4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8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&gt;&gt;&gt; print(</a:t>
            </a:r>
            <a:r>
              <a:rPr lang="en-US" sz="28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ddd</a:t>
            </a:r>
            <a:r>
              <a:rPr lang="en-US" sz="28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8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5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8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8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eee</a:t>
            </a:r>
            <a:r>
              <a:rPr lang="en-US" sz="28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= 'hello ' + 'there'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8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&gt;&gt;&gt; print(</a:t>
            </a:r>
            <a:r>
              <a:rPr lang="en-US" sz="28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eee</a:t>
            </a:r>
            <a:r>
              <a:rPr lang="en-US" sz="28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8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hello there</a:t>
            </a:r>
          </a:p>
        </p:txBody>
      </p:sp>
      <p:sp>
        <p:nvSpPr>
          <p:cNvPr id="438" name="Shape 438"/>
          <p:cNvSpPr txBox="1"/>
          <p:nvPr/>
        </p:nvSpPr>
        <p:spPr>
          <a:xfrm>
            <a:off x="9322576" y="7694909"/>
            <a:ext cx="6214500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00FA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concatenate = put together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Shape 43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Try </a:t>
            </a:r>
            <a:r>
              <a:rPr lang="en-US" sz="7600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It Yourself</a:t>
            </a:r>
            <a:endParaRPr lang="en-US" sz="7600" u="none" strike="noStrike" cap="none" dirty="0">
              <a:solidFill>
                <a:srgbClr val="FFD966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  <p:sp>
        <p:nvSpPr>
          <p:cNvPr id="436" name="Shape 436"/>
          <p:cNvSpPr txBox="1">
            <a:spLocks noGrp="1"/>
          </p:cNvSpPr>
          <p:nvPr>
            <p:ph type="body" idx="1"/>
          </p:nvPr>
        </p:nvSpPr>
        <p:spPr>
          <a:xfrm>
            <a:off x="3857625" y="2438400"/>
            <a:ext cx="8540750" cy="6034087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3710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b="0" i="0" dirty="0">
                <a:solidFill>
                  <a:schemeClr val="lt1"/>
                </a:solidFill>
                <a:latin typeface="Arial" charset="0"/>
                <a:cs typeface="Arial" charset="0"/>
                <a:sym typeface="Cabin"/>
              </a:rPr>
              <a:t>What happens when you type these things into Python?</a:t>
            </a:r>
          </a:p>
          <a:p>
            <a:pPr marL="749300" marR="0" lvl="0" indent="-3710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endParaRPr lang="en-US" sz="3600" dirty="0">
              <a:solidFill>
                <a:schemeClr val="lt1"/>
              </a:solidFill>
              <a:latin typeface="Arial" charset="0"/>
              <a:cs typeface="Arial" charset="0"/>
              <a:sym typeface="Cabin"/>
            </a:endParaRPr>
          </a:p>
          <a:p>
            <a:pPr marL="749300" marR="0" lvl="0" indent="-3710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b="1" i="0" dirty="0">
                <a:solidFill>
                  <a:schemeClr val="lt1"/>
                </a:solidFill>
                <a:latin typeface="Arial" charset="0"/>
                <a:cs typeface="Arial" charset="0"/>
                <a:sym typeface="Cabin"/>
              </a:rPr>
              <a:t>1+1</a:t>
            </a:r>
          </a:p>
          <a:p>
            <a:pPr marL="749300" marR="0" lvl="0" indent="-3710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b="1" dirty="0">
                <a:solidFill>
                  <a:schemeClr val="lt1"/>
                </a:solidFill>
                <a:latin typeface="Arial" charset="0"/>
                <a:cs typeface="Arial" charset="0"/>
                <a:sym typeface="Cabin"/>
              </a:rPr>
              <a:t>“1” + 1</a:t>
            </a:r>
          </a:p>
          <a:p>
            <a:pPr marL="749300" marR="0" lvl="0" indent="-3710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b="1" i="0" dirty="0">
                <a:solidFill>
                  <a:schemeClr val="lt1"/>
                </a:solidFill>
                <a:latin typeface="Arial" charset="0"/>
                <a:cs typeface="Arial" charset="0"/>
                <a:sym typeface="Cabin"/>
              </a:rPr>
              <a:t>“1” + “1”</a:t>
            </a:r>
          </a:p>
          <a:p>
            <a:pPr marL="378206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endParaRPr lang="en-US" sz="3600" b="0" i="0" dirty="0">
              <a:solidFill>
                <a:schemeClr val="lt1"/>
              </a:solidFill>
              <a:latin typeface="Arial" charset="0"/>
              <a:cs typeface="Arial" charset="0"/>
              <a:sym typeface="Cabin"/>
            </a:endParaRPr>
          </a:p>
        </p:txBody>
      </p:sp>
    </p:spTree>
    <p:extLst>
      <p:ext uri="{BB962C8B-B14F-4D97-AF65-F5344CB8AC3E}">
        <p14:creationId xmlns:p14="http://schemas.microsoft.com/office/powerpoint/2010/main" val="7793221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Shape 443"/>
          <p:cNvSpPr txBox="1">
            <a:spLocks noGrp="1"/>
          </p:cNvSpPr>
          <p:nvPr>
            <p:ph type="title"/>
          </p:nvPr>
        </p:nvSpPr>
        <p:spPr>
          <a:xfrm>
            <a:off x="812800" y="785812"/>
            <a:ext cx="13822827" cy="11048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Type Matters</a:t>
            </a:r>
          </a:p>
        </p:txBody>
      </p:sp>
      <p:sp>
        <p:nvSpPr>
          <p:cNvPr id="444" name="Shape 444"/>
          <p:cNvSpPr txBox="1">
            <a:spLocks noGrp="1"/>
          </p:cNvSpPr>
          <p:nvPr>
            <p:ph type="body" idx="1"/>
          </p:nvPr>
        </p:nvSpPr>
        <p:spPr>
          <a:xfrm>
            <a:off x="812800" y="2133600"/>
            <a:ext cx="7169150" cy="6034087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3710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Python knows what </a:t>
            </a:r>
            <a: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36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type</a:t>
            </a:r>
            <a: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everything is </a:t>
            </a:r>
          </a:p>
          <a:p>
            <a:pPr marL="749300" marR="0" lvl="0" indent="-3710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Some operations are prohibited</a:t>
            </a:r>
          </a:p>
          <a:p>
            <a:pPr marL="749300" marR="0" lvl="0" indent="-3710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rgbClr val="00FFFF"/>
              </a:buClr>
              <a:buSzPct val="100000"/>
              <a:buFont typeface="Cabin"/>
              <a:buChar char="•"/>
            </a:pPr>
            <a:r>
              <a:rPr lang="en-US" sz="36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You cannot </a:t>
            </a:r>
            <a:r>
              <a:rPr lang="en-US" sz="3600" b="0" i="0" u="none" strike="noStrike" cap="none" dirty="0">
                <a:solidFill>
                  <a:srgbClr val="00FFFF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36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add 1</a:t>
            </a:r>
            <a:r>
              <a:rPr lang="en-US" sz="3600" b="0" i="0" u="none" strike="noStrike" cap="none" dirty="0">
                <a:solidFill>
                  <a:srgbClr val="00FFFF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36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to a string</a:t>
            </a:r>
          </a:p>
          <a:p>
            <a:pPr marL="749300" marR="0" lvl="0" indent="-3710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We can ask Python what type something is by using the </a:t>
            </a:r>
            <a:r>
              <a:rPr lang="en-US" sz="36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type()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function</a:t>
            </a:r>
          </a:p>
        </p:txBody>
      </p:sp>
      <p:sp>
        <p:nvSpPr>
          <p:cNvPr id="445" name="Shape 445"/>
          <p:cNvSpPr txBox="1"/>
          <p:nvPr/>
        </p:nvSpPr>
        <p:spPr>
          <a:xfrm>
            <a:off x="8586779" y="2120900"/>
            <a:ext cx="7315200" cy="60467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8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8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eee</a:t>
            </a:r>
            <a:r>
              <a:rPr lang="en-US" sz="28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= 'hello ' + 'there'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8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800" i="0" u="none" strike="noStrike" cap="none" dirty="0" err="1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eee</a:t>
            </a:r>
            <a:r>
              <a:rPr lang="en-US" sz="28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2800" i="0" u="none" strike="noStrike" cap="none" dirty="0" err="1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eee</a:t>
            </a:r>
            <a:r>
              <a:rPr lang="en-US" sz="28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 + 1</a:t>
            </a:r>
          </a:p>
          <a:p>
            <a:pPr lvl="0">
              <a:buClr>
                <a:srgbClr val="FF0000"/>
              </a:buClr>
              <a:buSzPct val="25000"/>
            </a:pPr>
            <a:r>
              <a:rPr lang="en-US" sz="2800" dirty="0" err="1">
                <a:solidFill>
                  <a:srgbClr val="E06666"/>
                </a:solidFill>
                <a:latin typeface="Courier"/>
                <a:ea typeface="Courier"/>
                <a:cs typeface="Courier"/>
                <a:sym typeface="Courier New"/>
              </a:rPr>
              <a:t>Traceback</a:t>
            </a:r>
            <a:r>
              <a:rPr lang="en-US" sz="2800" dirty="0">
                <a:solidFill>
                  <a:srgbClr val="E06666"/>
                </a:solidFill>
                <a:latin typeface="Courier"/>
                <a:ea typeface="Courier"/>
                <a:cs typeface="Courier"/>
                <a:sym typeface="Courier New"/>
              </a:rPr>
              <a:t> (most recent call last):  File "&lt;</a:t>
            </a:r>
            <a:r>
              <a:rPr lang="en-US" sz="2800" dirty="0" err="1">
                <a:solidFill>
                  <a:srgbClr val="E06666"/>
                </a:solidFill>
                <a:latin typeface="Courier"/>
                <a:ea typeface="Courier"/>
                <a:cs typeface="Courier"/>
                <a:sym typeface="Courier New"/>
              </a:rPr>
              <a:t>stdin</a:t>
            </a:r>
            <a:r>
              <a:rPr lang="en-US" sz="2800" dirty="0">
                <a:solidFill>
                  <a:srgbClr val="E06666"/>
                </a:solidFill>
                <a:latin typeface="Courier"/>
                <a:ea typeface="Courier"/>
                <a:cs typeface="Courier"/>
                <a:sym typeface="Courier New"/>
              </a:rPr>
              <a:t>&gt;", line 1, in &lt;module&gt;</a:t>
            </a:r>
            <a:r>
              <a:rPr lang="en-US" sz="2800" dirty="0" err="1">
                <a:solidFill>
                  <a:srgbClr val="E06666"/>
                </a:solidFill>
                <a:latin typeface="Courier"/>
                <a:ea typeface="Courier"/>
                <a:cs typeface="Courier"/>
                <a:sym typeface="Courier New"/>
              </a:rPr>
              <a:t>TypeError</a:t>
            </a:r>
            <a:r>
              <a:rPr lang="en-US" sz="2800" dirty="0">
                <a:solidFill>
                  <a:srgbClr val="E06666"/>
                </a:solidFill>
                <a:latin typeface="Courier"/>
                <a:ea typeface="Courier"/>
                <a:cs typeface="Courier"/>
                <a:sym typeface="Courier New"/>
              </a:rPr>
              <a:t>: Can't convert '</a:t>
            </a:r>
            <a:r>
              <a:rPr lang="en-US" sz="2800" dirty="0" err="1">
                <a:solidFill>
                  <a:srgbClr val="E06666"/>
                </a:solidFill>
                <a:latin typeface="Courier"/>
                <a:ea typeface="Courier"/>
                <a:cs typeface="Courier"/>
                <a:sym typeface="Courier New"/>
              </a:rPr>
              <a:t>int</a:t>
            </a:r>
            <a:r>
              <a:rPr lang="en-US" sz="2800" dirty="0">
                <a:solidFill>
                  <a:srgbClr val="E06666"/>
                </a:solidFill>
                <a:latin typeface="Courier"/>
                <a:ea typeface="Courier"/>
                <a:cs typeface="Courier"/>
                <a:sym typeface="Courier New"/>
              </a:rPr>
              <a:t>' object to </a:t>
            </a:r>
            <a:r>
              <a:rPr lang="en-US" sz="2800" dirty="0" err="1">
                <a:solidFill>
                  <a:srgbClr val="E06666"/>
                </a:solidFill>
                <a:latin typeface="Courier"/>
                <a:ea typeface="Courier"/>
                <a:cs typeface="Courier"/>
                <a:sym typeface="Courier New"/>
              </a:rPr>
              <a:t>str</a:t>
            </a:r>
            <a:r>
              <a:rPr lang="en-US" sz="2800" dirty="0">
                <a:solidFill>
                  <a:srgbClr val="E06666"/>
                </a:solidFill>
                <a:latin typeface="Courier"/>
                <a:ea typeface="Courier"/>
                <a:cs typeface="Courier"/>
                <a:sym typeface="Courier New"/>
              </a:rPr>
              <a:t> implicitly</a:t>
            </a:r>
          </a:p>
          <a:p>
            <a:pPr lvl="0">
              <a:buClr>
                <a:srgbClr val="FF0000"/>
              </a:buClr>
              <a:buSzPct val="25000"/>
            </a:pPr>
            <a:r>
              <a:rPr lang="en-US" sz="28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8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type</a:t>
            </a:r>
            <a:r>
              <a:rPr lang="en-US" sz="28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8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eee</a:t>
            </a:r>
            <a:r>
              <a:rPr lang="en-US" sz="28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8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&lt;</a:t>
            </a:r>
            <a:r>
              <a:rPr lang="en-US" sz="28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class'str</a:t>
            </a:r>
            <a:r>
              <a:rPr lang="en-US" sz="28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'&gt;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8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8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type</a:t>
            </a:r>
            <a:r>
              <a:rPr lang="en-US" sz="28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('hello')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8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&lt;</a:t>
            </a:r>
            <a:r>
              <a:rPr lang="en-US" sz="28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class'str</a:t>
            </a:r>
            <a:r>
              <a:rPr lang="en-US" sz="28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'&gt;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8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8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type</a:t>
            </a:r>
            <a:r>
              <a:rPr lang="en-US" sz="28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(1)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8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&lt;</a:t>
            </a:r>
            <a:r>
              <a:rPr lang="en-US" sz="28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class'int</a:t>
            </a:r>
            <a:r>
              <a:rPr lang="en-US" sz="28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'&gt;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8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Shape 45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Type Conversions</a:t>
            </a:r>
          </a:p>
        </p:txBody>
      </p:sp>
      <p:sp>
        <p:nvSpPr>
          <p:cNvPr id="458" name="Shape 458"/>
          <p:cNvSpPr txBox="1">
            <a:spLocks noGrp="1"/>
          </p:cNvSpPr>
          <p:nvPr>
            <p:ph type="body" idx="1"/>
          </p:nvPr>
        </p:nvSpPr>
        <p:spPr>
          <a:xfrm>
            <a:off x="812800" y="2133600"/>
            <a:ext cx="6921500" cy="6034087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533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71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You can convert between different types</a:t>
            </a:r>
          </a:p>
          <a:p>
            <a:pPr marL="749300" marR="0" lvl="0" indent="-533400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71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Be careful when you convert between number types…the result might not be what you think!</a:t>
            </a:r>
          </a:p>
        </p:txBody>
      </p:sp>
      <p:sp>
        <p:nvSpPr>
          <p:cNvPr id="459" name="Shape 459"/>
          <p:cNvSpPr txBox="1"/>
          <p:nvPr/>
        </p:nvSpPr>
        <p:spPr>
          <a:xfrm>
            <a:off x="9048750" y="1890711"/>
            <a:ext cx="7010399" cy="5981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lvl="0">
              <a:buClr>
                <a:schemeClr val="lt1"/>
              </a:buClr>
              <a:buSzPct val="25000"/>
            </a:pPr>
            <a:r>
              <a:rPr lang="en-US" sz="32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2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x = </a:t>
            </a:r>
            <a:r>
              <a:rPr lang="en-US" sz="3200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int</a:t>
            </a:r>
            <a:r>
              <a:rPr lang="en-US" sz="32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(33.9)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32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2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32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x</a:t>
            </a:r>
            <a:r>
              <a:rPr lang="en-US" sz="32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200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33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200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i</a:t>
            </a:r>
            <a:r>
              <a:rPr lang="en-US" sz="32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42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2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type</a:t>
            </a:r>
            <a:r>
              <a:rPr lang="en-US" sz="32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200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i</a:t>
            </a:r>
            <a:r>
              <a:rPr lang="en-US" sz="32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&lt;</a:t>
            </a:r>
            <a:r>
              <a:rPr lang="en-US" sz="3200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class'int</a:t>
            </a:r>
            <a:r>
              <a:rPr lang="en-US" sz="32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'&gt;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f = </a:t>
            </a:r>
            <a:r>
              <a:rPr lang="en-US" sz="32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float</a:t>
            </a:r>
            <a:r>
              <a:rPr lang="en-US" sz="32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200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i</a:t>
            </a:r>
            <a:r>
              <a:rPr lang="en-US" sz="32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32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2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32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f</a:t>
            </a:r>
            <a:r>
              <a:rPr lang="en-US" sz="32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200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42.0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2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type</a:t>
            </a:r>
            <a:r>
              <a:rPr lang="en-US" sz="32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(f)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&lt;</a:t>
            </a:r>
            <a:r>
              <a:rPr lang="en-US" sz="3200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class'float</a:t>
            </a:r>
            <a:r>
              <a:rPr lang="en-US" sz="32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'&gt;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Shape 43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Type Conversions, Continued</a:t>
            </a:r>
          </a:p>
        </p:txBody>
      </p:sp>
      <p:sp>
        <p:nvSpPr>
          <p:cNvPr id="436" name="Shape 436"/>
          <p:cNvSpPr txBox="1">
            <a:spLocks noGrp="1"/>
          </p:cNvSpPr>
          <p:nvPr>
            <p:ph type="body" idx="1"/>
          </p:nvPr>
        </p:nvSpPr>
        <p:spPr>
          <a:xfrm>
            <a:off x="812800" y="2302933"/>
            <a:ext cx="8540750" cy="6034087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t" anchorCtr="0">
            <a:noAutofit/>
          </a:bodyPr>
          <a:lstStyle/>
          <a:p>
            <a:pPr marL="749300" marR="0" lvl="0" indent="-3710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You can convert between numbers and strings as well…this lets you turn text into numbers and numbers into text</a:t>
            </a:r>
          </a:p>
          <a:p>
            <a:pPr marL="378206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endParaRPr lang="en-US" sz="3600" dirty="0">
              <a:solidFill>
                <a:schemeClr val="lt1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  <a:p>
            <a:pPr marL="749300" marR="0" lvl="0" indent="-3710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Converting numbers into text always works, but converting text into numbers only works if the text is </a:t>
            </a:r>
            <a:r>
              <a:rPr lang="en-US" sz="3600" u="none" strike="noStrike" cap="none" dirty="0">
                <a:solidFill>
                  <a:srgbClr val="FED86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numeric </a:t>
            </a:r>
            <a:r>
              <a:rPr lang="en-US" sz="3600" u="none" strike="noStrike" cap="none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(meaning made out of numbers 0-9). </a:t>
            </a:r>
          </a:p>
        </p:txBody>
      </p:sp>
      <p:sp>
        <p:nvSpPr>
          <p:cNvPr id="437" name="Shape 437"/>
          <p:cNvSpPr txBox="1"/>
          <p:nvPr/>
        </p:nvSpPr>
        <p:spPr>
          <a:xfrm>
            <a:off x="9696450" y="3224955"/>
            <a:ext cx="6076799" cy="46829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8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&gt;&gt;&gt; x = </a:t>
            </a:r>
            <a:r>
              <a:rPr lang="en-US" sz="28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str</a:t>
            </a:r>
            <a:r>
              <a:rPr lang="en-US" sz="28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(55)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8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&gt;&gt;&gt; print(x + ’1’)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8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‘551’</a:t>
            </a:r>
            <a:endParaRPr lang="en-US" sz="2800" i="0" u="none" strike="noStrike" cap="none" dirty="0">
              <a:solidFill>
                <a:srgbClr val="FF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8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&gt;&gt;&gt; x = </a:t>
            </a:r>
            <a:r>
              <a:rPr lang="en-US" sz="28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int</a:t>
            </a:r>
            <a:r>
              <a:rPr lang="en-US" sz="28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(‘55’)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8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&gt;&gt;&gt; print(x + 1)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8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56</a:t>
            </a:r>
          </a:p>
          <a:p>
            <a:pPr lvl="0">
              <a:buClr>
                <a:srgbClr val="FFFF00"/>
              </a:buClr>
              <a:buSzPct val="25000"/>
            </a:pPr>
            <a:r>
              <a:rPr lang="en-US" sz="28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&gt;&gt;&gt; x = float(‘55’)</a:t>
            </a:r>
          </a:p>
          <a:p>
            <a:pPr lvl="0">
              <a:buClr>
                <a:srgbClr val="FFFF00"/>
              </a:buClr>
              <a:buSzPct val="25000"/>
            </a:pPr>
            <a:r>
              <a:rPr lang="en-US" sz="28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&gt;&gt;&gt; print(x + 1)</a:t>
            </a:r>
          </a:p>
          <a:p>
            <a:pPr lvl="0">
              <a:buClr>
                <a:srgbClr val="FFFF00"/>
              </a:buClr>
              <a:buSzPct val="25000"/>
            </a:pPr>
            <a:r>
              <a:rPr lang="en-US" sz="28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56.0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endParaRPr lang="en-US" sz="2800" i="0" u="none" strike="noStrike" cap="none" dirty="0">
              <a:solidFill>
                <a:srgbClr val="FFFF00"/>
              </a:solidFill>
              <a:latin typeface="Courier"/>
              <a:ea typeface="Courier"/>
              <a:cs typeface="Courier"/>
              <a:sym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8196833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Shape 471"/>
          <p:cNvSpPr txBox="1">
            <a:spLocks noGrp="1"/>
          </p:cNvSpPr>
          <p:nvPr>
            <p:ph type="title"/>
          </p:nvPr>
        </p:nvSpPr>
        <p:spPr>
          <a:xfrm>
            <a:off x="812800" y="785812"/>
            <a:ext cx="13652465" cy="1104899"/>
          </a:xfrm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8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User Input</a:t>
            </a:r>
          </a:p>
        </p:txBody>
      </p:sp>
      <p:sp>
        <p:nvSpPr>
          <p:cNvPr id="472" name="Shape 472"/>
          <p:cNvSpPr txBox="1">
            <a:spLocks noGrp="1"/>
          </p:cNvSpPr>
          <p:nvPr>
            <p:ph type="body" idx="1"/>
          </p:nvPr>
        </p:nvSpPr>
        <p:spPr>
          <a:xfrm>
            <a:off x="812800" y="2133601"/>
            <a:ext cx="6864350" cy="5295900"/>
          </a:xfrm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ctr" anchorCtr="0">
            <a:noAutofit/>
          </a:bodyPr>
          <a:lstStyle/>
          <a:p>
            <a:pPr marL="1104900" marR="0" lvl="0" indent="-787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71000"/>
              <a:buFont typeface="Cabin"/>
              <a:buChar char="•"/>
            </a:pPr>
            <a:r>
              <a:rPr lang="en-US" sz="38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We can instruct Python to pause and read data from the user using the </a:t>
            </a:r>
            <a:r>
              <a:rPr lang="en-US" sz="38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input()</a:t>
            </a:r>
            <a:r>
              <a:rPr lang="en-US" sz="38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38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function</a:t>
            </a:r>
          </a:p>
          <a:p>
            <a:pPr marL="1104900" marR="0" lvl="0" indent="-787400" algn="l" rtl="0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SzPct val="171000"/>
              <a:buFont typeface="Cabin"/>
              <a:buChar char="•"/>
            </a:pPr>
            <a:r>
              <a:rPr lang="en-US" sz="38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 </a:t>
            </a:r>
            <a:r>
              <a:rPr lang="en-US" sz="38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input()</a:t>
            </a:r>
            <a:r>
              <a:rPr lang="en-US" sz="38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38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function returns a </a:t>
            </a:r>
            <a:r>
              <a:rPr lang="en-US" sz="3800" u="none" strike="noStrike" cap="none" dirty="0">
                <a:solidFill>
                  <a:srgbClr val="FF00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string</a:t>
            </a:r>
          </a:p>
        </p:txBody>
      </p:sp>
      <p:sp>
        <p:nvSpPr>
          <p:cNvPr id="473" name="Shape 473"/>
          <p:cNvSpPr txBox="1"/>
          <p:nvPr/>
        </p:nvSpPr>
        <p:spPr>
          <a:xfrm>
            <a:off x="8822673" y="3226594"/>
            <a:ext cx="7077727" cy="1219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name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input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Who are you? </a:t>
            </a:r>
            <a:r>
              <a:rPr lang="en-US" sz="30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lvl="0">
              <a:buClr>
                <a:srgbClr val="FFFF00"/>
              </a:buClr>
              <a:buSzPct val="25000"/>
            </a:pPr>
            <a:r>
              <a:rPr lang="en-US" sz="30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rint(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'Welcome',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name</a:t>
            </a:r>
            <a:r>
              <a:rPr lang="en-US" sz="30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i="0" u="none" strike="noStrike" cap="none" dirty="0">
              <a:solidFill>
                <a:srgbClr val="00FF00"/>
              </a:solidFill>
              <a:latin typeface="Courier"/>
              <a:ea typeface="Courier"/>
              <a:cs typeface="Courier"/>
              <a:sym typeface="Courier New"/>
            </a:endParaRPr>
          </a:p>
        </p:txBody>
      </p:sp>
      <p:sp>
        <p:nvSpPr>
          <p:cNvPr id="474" name="Shape 474"/>
          <p:cNvSpPr txBox="1"/>
          <p:nvPr/>
        </p:nvSpPr>
        <p:spPr>
          <a:xfrm>
            <a:off x="9385497" y="5781676"/>
            <a:ext cx="5079768" cy="192127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8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Who are you? </a:t>
            </a:r>
            <a:r>
              <a:rPr lang="en-US" sz="38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Jeremy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8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Welcome Jeremy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Shape 479"/>
          <p:cNvSpPr txBox="1">
            <a:spLocks noGrp="1"/>
          </p:cNvSpPr>
          <p:nvPr>
            <p:ph type="title"/>
          </p:nvPr>
        </p:nvSpPr>
        <p:spPr>
          <a:xfrm>
            <a:off x="812800" y="785812"/>
            <a:ext cx="10521950" cy="1104899"/>
          </a:xfrm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8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Converting User Input</a:t>
            </a:r>
          </a:p>
        </p:txBody>
      </p:sp>
      <p:sp>
        <p:nvSpPr>
          <p:cNvPr id="480" name="Shape 480"/>
          <p:cNvSpPr txBox="1">
            <a:spLocks noGrp="1"/>
          </p:cNvSpPr>
          <p:nvPr>
            <p:ph type="body" idx="1"/>
          </p:nvPr>
        </p:nvSpPr>
        <p:spPr>
          <a:xfrm>
            <a:off x="812800" y="2133600"/>
            <a:ext cx="7245350" cy="6034087"/>
          </a:xfrm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ctr" anchorCtr="0">
            <a:noAutofit/>
          </a:bodyPr>
          <a:lstStyle/>
          <a:p>
            <a:pPr marL="1104900" marR="0" lvl="0" indent="-787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71000"/>
              <a:buFont typeface="Cabin"/>
              <a:buChar char="•"/>
            </a:pPr>
            <a:r>
              <a:rPr lang="en-US" sz="38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If we want to read a number from the user, we must convert it from a string to a number using a type conversion function</a:t>
            </a:r>
          </a:p>
          <a:p>
            <a:pPr marL="1104900" marR="0" lvl="0" indent="-787400" algn="l" rtl="0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Clr>
                <a:schemeClr val="lt1"/>
              </a:buClr>
              <a:buSzPct val="171000"/>
              <a:buFont typeface="Cabin"/>
              <a:buChar char="•"/>
            </a:pPr>
            <a:r>
              <a:rPr lang="en-US" sz="38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Later we will deal with bad input data</a:t>
            </a:r>
          </a:p>
        </p:txBody>
      </p:sp>
      <p:sp>
        <p:nvSpPr>
          <p:cNvPr id="481" name="Shape 481"/>
          <p:cNvSpPr txBox="1"/>
          <p:nvPr/>
        </p:nvSpPr>
        <p:spPr>
          <a:xfrm>
            <a:off x="8862999" y="3683000"/>
            <a:ext cx="6831899" cy="1778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28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inp</a:t>
            </a: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28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input(</a:t>
            </a:r>
            <a:r>
              <a:rPr lang="en-US" sz="28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Europe floor?</a:t>
            </a:r>
            <a:r>
              <a:rPr lang="en-US" sz="28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  <a:r>
              <a:rPr lang="en-US" sz="28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28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usf</a:t>
            </a: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28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int</a:t>
            </a:r>
            <a:r>
              <a:rPr lang="en-US" sz="28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8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inp</a:t>
            </a:r>
            <a:r>
              <a:rPr lang="en-US" sz="28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8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+</a:t>
            </a: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8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'US floor', </a:t>
            </a:r>
            <a:r>
              <a:rPr lang="en-US" sz="28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usf</a:t>
            </a:r>
            <a:r>
              <a:rPr lang="en-US" sz="28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</p:txBody>
      </p:sp>
      <p:sp>
        <p:nvSpPr>
          <p:cNvPr id="482" name="Shape 482"/>
          <p:cNvSpPr txBox="1"/>
          <p:nvPr/>
        </p:nvSpPr>
        <p:spPr>
          <a:xfrm>
            <a:off x="10198100" y="6515100"/>
            <a:ext cx="4569900" cy="1219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8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Europe floor? </a:t>
            </a:r>
            <a:r>
              <a:rPr lang="en-US" sz="3800" u="none" strike="noStrike" cap="none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0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8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US floor 1</a:t>
            </a:r>
          </a:p>
        </p:txBody>
      </p:sp>
      <p:pic>
        <p:nvPicPr>
          <p:cNvPr id="483" name="Shape 48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153875" y="1193800"/>
            <a:ext cx="3174900" cy="212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Shape 479"/>
          <p:cNvSpPr txBox="1">
            <a:spLocks noGrp="1"/>
          </p:cNvSpPr>
          <p:nvPr>
            <p:ph type="title"/>
          </p:nvPr>
        </p:nvSpPr>
        <p:spPr>
          <a:xfrm>
            <a:off x="3115734" y="527150"/>
            <a:ext cx="10521950" cy="1104899"/>
          </a:xfrm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8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Now You Try</a:t>
            </a:r>
          </a:p>
        </p:txBody>
      </p:sp>
      <p:sp>
        <p:nvSpPr>
          <p:cNvPr id="480" name="Shape 480"/>
          <p:cNvSpPr txBox="1">
            <a:spLocks noGrp="1"/>
          </p:cNvSpPr>
          <p:nvPr>
            <p:ph type="body" idx="1"/>
          </p:nvPr>
        </p:nvSpPr>
        <p:spPr>
          <a:xfrm>
            <a:off x="812799" y="2133600"/>
            <a:ext cx="15019867" cy="6034087"/>
          </a:xfrm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ctr" anchorCtr="0">
            <a:noAutofit/>
          </a:bodyPr>
          <a:lstStyle/>
          <a:p>
            <a:pPr marL="1104900" marR="0" lvl="0" indent="-787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71000"/>
              <a:buFont typeface="Cabin"/>
              <a:buChar char="•"/>
            </a:pPr>
            <a:r>
              <a:rPr lang="en-US" sz="38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Improve your “age” program from earlier. Use input() to let the program ask the user for their age. Don’t forget to convert the age into an </a:t>
            </a:r>
            <a:r>
              <a:rPr lang="en-US" sz="3800" u="none" strike="noStrike" cap="none" dirty="0">
                <a:solidFill>
                  <a:srgbClr val="29FD2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integer</a:t>
            </a:r>
            <a:r>
              <a:rPr lang="en-US" sz="38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using </a:t>
            </a:r>
            <a:r>
              <a:rPr lang="en-US" sz="3800" u="none" strike="noStrike" cap="none" dirty="0" err="1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int</a:t>
            </a:r>
            <a:r>
              <a:rPr lang="en-US" sz="38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()!</a:t>
            </a:r>
          </a:p>
        </p:txBody>
      </p:sp>
    </p:spTree>
    <p:extLst>
      <p:ext uri="{BB962C8B-B14F-4D97-AF65-F5344CB8AC3E}">
        <p14:creationId xmlns:p14="http://schemas.microsoft.com/office/powerpoint/2010/main" val="40848357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7200" dirty="0">
                <a:solidFill>
                  <a:srgbClr val="FFD966"/>
                </a:solidFill>
              </a:rPr>
              <a:t>Comments</a:t>
            </a:r>
            <a:r>
              <a:rPr lang="is-IS" sz="7200" dirty="0">
                <a:solidFill>
                  <a:srgbClr val="FFD966"/>
                </a:solidFill>
              </a:rPr>
              <a:t>…</a:t>
            </a:r>
            <a:endParaRPr lang="en-US" sz="7200" dirty="0">
              <a:solidFill>
                <a:srgbClr val="FFD9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92783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Shape 48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Comments in Python</a:t>
            </a:r>
          </a:p>
        </p:txBody>
      </p:sp>
      <p:sp>
        <p:nvSpPr>
          <p:cNvPr id="489" name="Shape 48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3710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Anything after a </a:t>
            </a:r>
            <a:r>
              <a:rPr lang="en-US" sz="3600" u="none" strike="noStrike" cap="none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# 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is ignored by Python</a:t>
            </a:r>
          </a:p>
          <a:p>
            <a:pPr marL="749300" marR="0" lvl="0" indent="-3710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Why comment?</a:t>
            </a:r>
          </a:p>
          <a:p>
            <a:pPr marL="670306" marR="0" lvl="1" indent="0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-  Describe what is going to happen in a sequence of code</a:t>
            </a:r>
          </a:p>
          <a:p>
            <a:pPr marL="670306" marR="0" lvl="1" indent="0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-  Document who wrote the code or other ancillary information</a:t>
            </a:r>
          </a:p>
          <a:p>
            <a:pPr marL="670306" marR="0" lvl="1" indent="0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-  Turn off a line of code - perhaps temporarily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7200" dirty="0">
                <a:solidFill>
                  <a:srgbClr val="FFD966"/>
                </a:solidFill>
              </a:rPr>
              <a:t>Conditionals!</a:t>
            </a:r>
          </a:p>
        </p:txBody>
      </p:sp>
    </p:spTree>
    <p:extLst>
      <p:ext uri="{BB962C8B-B14F-4D97-AF65-F5344CB8AC3E}">
        <p14:creationId xmlns:p14="http://schemas.microsoft.com/office/powerpoint/2010/main" val="35992120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Shape 567"/>
          <p:cNvSpPr txBox="1">
            <a:spLocks noGrp="1"/>
          </p:cNvSpPr>
          <p:nvPr>
            <p:ph type="title"/>
          </p:nvPr>
        </p:nvSpPr>
        <p:spPr>
          <a:xfrm>
            <a:off x="5854700" y="768096"/>
            <a:ext cx="9588499" cy="1365504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Conditional Steps</a:t>
            </a:r>
          </a:p>
        </p:txBody>
      </p:sp>
      <p:sp>
        <p:nvSpPr>
          <p:cNvPr id="568" name="Shape 568"/>
          <p:cNvSpPr txBox="1"/>
          <p:nvPr/>
        </p:nvSpPr>
        <p:spPr>
          <a:xfrm>
            <a:off x="13684013" y="3562350"/>
            <a:ext cx="1581150" cy="21843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Output: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u="none" strike="noStrike" cap="none">
              <a:solidFill>
                <a:schemeClr val="lt1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Smaller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Finis</a:t>
            </a:r>
          </a:p>
        </p:txBody>
      </p:sp>
      <p:sp>
        <p:nvSpPr>
          <p:cNvPr id="569" name="Shape 569"/>
          <p:cNvSpPr txBox="1"/>
          <p:nvPr/>
        </p:nvSpPr>
        <p:spPr>
          <a:xfrm>
            <a:off x="7799386" y="2873375"/>
            <a:ext cx="4535286" cy="498474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Program: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u="none" strike="noStrike" cap="none" dirty="0">
              <a:solidFill>
                <a:srgbClr val="FF7F00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2800" u="none" strike="noStrike" cap="none" dirty="0">
                <a:solidFill>
                  <a:srgbClr val="00F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x = 5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800" u="none" strike="noStrike" cap="none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if</a:t>
            </a:r>
            <a:r>
              <a:rPr lang="en-US" sz="2800" u="none" strike="noStrike" cap="none" dirty="0">
                <a:solidFill>
                  <a:srgbClr val="FF7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 </a:t>
            </a:r>
            <a:r>
              <a:rPr lang="en-US" sz="2800" u="none" strike="noStrike" cap="none" dirty="0">
                <a:solidFill>
                  <a:srgbClr val="00F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x &lt; 10:</a:t>
            </a:r>
          </a:p>
          <a:p>
            <a:pPr lvl="0">
              <a:buClr>
                <a:srgbClr val="FF7F00"/>
              </a:buClr>
              <a:buSzPct val="25000"/>
            </a:pPr>
            <a:r>
              <a:rPr lang="en-US" sz="2800" u="none" strike="noStrike" cap="none" dirty="0">
                <a:solidFill>
                  <a:srgbClr val="FF7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    </a:t>
            </a:r>
            <a:r>
              <a:rPr lang="en-US" sz="2800" u="none" strike="noStrike" cap="none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print(</a:t>
            </a:r>
            <a:r>
              <a:rPr lang="en-US" sz="2800" u="none" strike="noStrike" cap="none" dirty="0">
                <a:solidFill>
                  <a:srgbClr val="00F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'</a:t>
            </a:r>
            <a:r>
              <a:rPr lang="en-US" sz="2800" dirty="0">
                <a:solidFill>
                  <a:srgbClr val="00F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Smaller'</a:t>
            </a:r>
            <a:r>
              <a:rPr lang="en-US" sz="2800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)</a:t>
            </a:r>
            <a:endParaRPr lang="en-US" sz="2800" u="none" strike="noStrike" cap="none" dirty="0">
              <a:solidFill>
                <a:srgbClr val="00FF00"/>
              </a:solidFill>
              <a:latin typeface="Courier" charset="0"/>
              <a:ea typeface="Courier" charset="0"/>
              <a:cs typeface="Courier" charset="0"/>
              <a:sym typeface="Cabi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800" u="none" strike="noStrike" cap="none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if</a:t>
            </a:r>
            <a:r>
              <a:rPr lang="en-US" sz="2800" u="none" strike="noStrike" cap="none" dirty="0">
                <a:solidFill>
                  <a:srgbClr val="FF7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 </a:t>
            </a:r>
            <a:r>
              <a:rPr lang="en-US" sz="2800" u="none" strike="noStrike" cap="none" dirty="0">
                <a:solidFill>
                  <a:srgbClr val="00F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x &gt; 20:</a:t>
            </a:r>
          </a:p>
          <a:p>
            <a:pPr lvl="0">
              <a:buClr>
                <a:srgbClr val="FF7F00"/>
              </a:buClr>
              <a:buSzPct val="25000"/>
            </a:pPr>
            <a:r>
              <a:rPr lang="en-US" sz="2800" u="none" strike="noStrike" cap="none" dirty="0">
                <a:solidFill>
                  <a:srgbClr val="FF7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    </a:t>
            </a:r>
            <a:r>
              <a:rPr lang="en-US" sz="2800" u="none" strike="noStrike" cap="none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print(</a:t>
            </a:r>
            <a:r>
              <a:rPr lang="en-US" sz="2800" u="none" strike="noStrike" cap="none" dirty="0">
                <a:solidFill>
                  <a:srgbClr val="00F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'</a:t>
            </a:r>
            <a:r>
              <a:rPr lang="en-US" sz="2800" dirty="0">
                <a:solidFill>
                  <a:srgbClr val="00F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Bigger'</a:t>
            </a:r>
            <a:r>
              <a:rPr lang="en-US" sz="2800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)</a:t>
            </a:r>
            <a:endParaRPr lang="en-US" sz="2800" u="none" strike="noStrike" cap="none" dirty="0">
              <a:solidFill>
                <a:srgbClr val="00FF00"/>
              </a:solidFill>
              <a:latin typeface="Courier" charset="0"/>
              <a:ea typeface="Courier" charset="0"/>
              <a:cs typeface="Courier" charset="0"/>
              <a:sym typeface="Cabi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u="none" strike="noStrike" cap="none" dirty="0">
              <a:solidFill>
                <a:srgbClr val="00FF00"/>
              </a:solidFill>
              <a:latin typeface="Courier" charset="0"/>
              <a:ea typeface="Courier" charset="0"/>
              <a:cs typeface="Courier" charset="0"/>
              <a:sym typeface="Cabin"/>
            </a:endParaRPr>
          </a:p>
          <a:p>
            <a:pPr lvl="0">
              <a:buClr>
                <a:srgbClr val="FFFF00"/>
              </a:buClr>
              <a:buSzPct val="25000"/>
            </a:pPr>
            <a:r>
              <a:rPr lang="en-US" sz="2800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p</a:t>
            </a:r>
            <a:r>
              <a:rPr lang="en-US" sz="2800" u="none" strike="noStrike" cap="none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rint(</a:t>
            </a:r>
            <a:r>
              <a:rPr lang="en-US" sz="2800" u="none" strike="noStrike" cap="none" dirty="0">
                <a:solidFill>
                  <a:srgbClr val="00F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'Finis'</a:t>
            </a:r>
            <a:r>
              <a:rPr lang="en-US" sz="2800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)</a:t>
            </a:r>
            <a:endParaRPr lang="en-US" sz="2800" u="none" strike="noStrike" cap="none" dirty="0">
              <a:solidFill>
                <a:srgbClr val="00FF00"/>
              </a:solidFill>
              <a:latin typeface="Courier" charset="0"/>
              <a:ea typeface="Courier" charset="0"/>
              <a:cs typeface="Courier" charset="0"/>
              <a:sym typeface="Cabin"/>
            </a:endParaRPr>
          </a:p>
        </p:txBody>
      </p:sp>
      <p:sp>
        <p:nvSpPr>
          <p:cNvPr id="570" name="Shape 570"/>
          <p:cNvSpPr txBox="1"/>
          <p:nvPr/>
        </p:nvSpPr>
        <p:spPr>
          <a:xfrm>
            <a:off x="1244600" y="977900"/>
            <a:ext cx="2743199" cy="597000"/>
          </a:xfrm>
          <a:prstGeom prst="rect">
            <a:avLst/>
          </a:prstGeom>
          <a:noFill/>
          <a:ln w="76200" cap="flat" cmpd="sng">
            <a:solidFill>
              <a:srgbClr val="00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x = 5</a:t>
            </a:r>
          </a:p>
        </p:txBody>
      </p:sp>
      <p:cxnSp>
        <p:nvCxnSpPr>
          <p:cNvPr id="571" name="Shape 571"/>
          <p:cNvCxnSpPr/>
          <p:nvPr/>
        </p:nvCxnSpPr>
        <p:spPr>
          <a:xfrm rot="10800000">
            <a:off x="2597149" y="1560512"/>
            <a:ext cx="14287" cy="566736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572" name="Shape 572"/>
          <p:cNvCxnSpPr>
            <a:endCxn id="569" idx="3"/>
          </p:cNvCxnSpPr>
          <p:nvPr/>
        </p:nvCxnSpPr>
        <p:spPr>
          <a:xfrm flipH="1">
            <a:off x="12334672" y="4948237"/>
            <a:ext cx="1206230" cy="417513"/>
          </a:xfrm>
          <a:prstGeom prst="straightConnector1">
            <a:avLst/>
          </a:prstGeom>
          <a:noFill/>
          <a:ln w="50800" cap="rnd" cmpd="sng">
            <a:solidFill>
              <a:srgbClr val="FFFFFF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573" name="Shape 573"/>
          <p:cNvSpPr/>
          <p:nvPr/>
        </p:nvSpPr>
        <p:spPr>
          <a:xfrm>
            <a:off x="1181100" y="2120900"/>
            <a:ext cx="2870200" cy="1270000"/>
          </a:xfrm>
          <a:prstGeom prst="diamond">
            <a:avLst/>
          </a:prstGeom>
          <a:noFill/>
          <a:ln w="76200" cap="flat" cmpd="sng">
            <a:solidFill>
              <a:srgbClr val="00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x</a:t>
            </a:r>
            <a:r>
              <a:rPr lang="en-US" sz="3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&lt; 10 ?</a:t>
            </a:r>
          </a:p>
        </p:txBody>
      </p:sp>
      <p:cxnSp>
        <p:nvCxnSpPr>
          <p:cNvPr id="574" name="Shape 574"/>
          <p:cNvCxnSpPr/>
          <p:nvPr/>
        </p:nvCxnSpPr>
        <p:spPr>
          <a:xfrm rot="10800000">
            <a:off x="2597150" y="3338512"/>
            <a:ext cx="19049" cy="1609725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575" name="Shape 575"/>
          <p:cNvSpPr txBox="1"/>
          <p:nvPr/>
        </p:nvSpPr>
        <p:spPr>
          <a:xfrm>
            <a:off x="3327400" y="3352800"/>
            <a:ext cx="2921000" cy="749299"/>
          </a:xfrm>
          <a:prstGeom prst="rect">
            <a:avLst/>
          </a:prstGeom>
          <a:noFill/>
          <a:ln w="76200" cap="flat" cmpd="sng">
            <a:solidFill>
              <a:srgbClr val="00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lvl="0" algn="ctr">
              <a:buClr>
                <a:schemeClr val="lt1"/>
              </a:buClr>
              <a:buSzPct val="25000"/>
            </a:pPr>
            <a:r>
              <a:rPr lang="en-US" sz="30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print('</a:t>
            </a:r>
            <a:r>
              <a:rPr lang="en-US" sz="30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Smaller')</a:t>
            </a:r>
            <a:endParaRPr lang="en-US" sz="3000" u="none" strike="noStrike" cap="none" dirty="0">
              <a:solidFill>
                <a:schemeClr val="lt1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  <p:cxnSp>
        <p:nvCxnSpPr>
          <p:cNvPr id="576" name="Shape 576"/>
          <p:cNvCxnSpPr/>
          <p:nvPr/>
        </p:nvCxnSpPr>
        <p:spPr>
          <a:xfrm rot="10800000">
            <a:off x="4038599" y="2749549"/>
            <a:ext cx="777875" cy="15875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577" name="Shape 577"/>
          <p:cNvCxnSpPr/>
          <p:nvPr/>
        </p:nvCxnSpPr>
        <p:spPr>
          <a:xfrm rot="10800000" flipH="1">
            <a:off x="4783137" y="2749550"/>
            <a:ext cx="15875" cy="644524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578" name="Shape 578"/>
          <p:cNvCxnSpPr/>
          <p:nvPr/>
        </p:nvCxnSpPr>
        <p:spPr>
          <a:xfrm flipH="1">
            <a:off x="4783137" y="4087812"/>
            <a:ext cx="15875" cy="314324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579" name="Shape 579"/>
          <p:cNvCxnSpPr/>
          <p:nvPr/>
        </p:nvCxnSpPr>
        <p:spPr>
          <a:xfrm>
            <a:off x="2649536" y="4419600"/>
            <a:ext cx="2149474" cy="0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580" name="Shape 580"/>
          <p:cNvSpPr/>
          <p:nvPr/>
        </p:nvSpPr>
        <p:spPr>
          <a:xfrm>
            <a:off x="1181100" y="4864100"/>
            <a:ext cx="2870200" cy="1270000"/>
          </a:xfrm>
          <a:prstGeom prst="diamond">
            <a:avLst/>
          </a:prstGeom>
          <a:noFill/>
          <a:ln w="76200" cap="flat" cmpd="sng">
            <a:solidFill>
              <a:srgbClr val="00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x</a:t>
            </a:r>
            <a:r>
              <a:rPr lang="en-US" sz="3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&gt; 20 ?</a:t>
            </a:r>
          </a:p>
        </p:txBody>
      </p:sp>
      <p:cxnSp>
        <p:nvCxnSpPr>
          <p:cNvPr id="581" name="Shape 581"/>
          <p:cNvCxnSpPr/>
          <p:nvPr/>
        </p:nvCxnSpPr>
        <p:spPr>
          <a:xfrm rot="10800000">
            <a:off x="2597150" y="6081711"/>
            <a:ext cx="19049" cy="1609725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582" name="Shape 582"/>
          <p:cNvSpPr txBox="1"/>
          <p:nvPr/>
        </p:nvSpPr>
        <p:spPr>
          <a:xfrm>
            <a:off x="3327400" y="6096000"/>
            <a:ext cx="2921000" cy="749299"/>
          </a:xfrm>
          <a:prstGeom prst="rect">
            <a:avLst/>
          </a:prstGeom>
          <a:noFill/>
          <a:ln w="76200" cap="flat" cmpd="sng">
            <a:solidFill>
              <a:srgbClr val="00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lvl="0" algn="ctr">
              <a:buClr>
                <a:schemeClr val="lt1"/>
              </a:buClr>
              <a:buSzPct val="25000"/>
            </a:pPr>
            <a:r>
              <a:rPr lang="en-US" sz="30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print('</a:t>
            </a:r>
            <a:r>
              <a:rPr lang="en-US" sz="30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Bigger')</a:t>
            </a:r>
            <a:endParaRPr lang="en-US" sz="3000" u="none" strike="noStrike" cap="none" dirty="0">
              <a:solidFill>
                <a:schemeClr val="lt1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  <p:cxnSp>
        <p:nvCxnSpPr>
          <p:cNvPr id="583" name="Shape 583"/>
          <p:cNvCxnSpPr/>
          <p:nvPr/>
        </p:nvCxnSpPr>
        <p:spPr>
          <a:xfrm rot="10800000">
            <a:off x="4038599" y="5492749"/>
            <a:ext cx="777875" cy="15875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584" name="Shape 584"/>
          <p:cNvCxnSpPr/>
          <p:nvPr/>
        </p:nvCxnSpPr>
        <p:spPr>
          <a:xfrm rot="10800000" flipH="1">
            <a:off x="4783137" y="5492750"/>
            <a:ext cx="15875" cy="644524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585" name="Shape 585"/>
          <p:cNvCxnSpPr/>
          <p:nvPr/>
        </p:nvCxnSpPr>
        <p:spPr>
          <a:xfrm flipH="1">
            <a:off x="4783137" y="6831011"/>
            <a:ext cx="15875" cy="314324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586" name="Shape 586"/>
          <p:cNvCxnSpPr/>
          <p:nvPr/>
        </p:nvCxnSpPr>
        <p:spPr>
          <a:xfrm>
            <a:off x="2649536" y="7162800"/>
            <a:ext cx="2149474" cy="0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587" name="Shape 587"/>
          <p:cNvCxnSpPr/>
          <p:nvPr/>
        </p:nvCxnSpPr>
        <p:spPr>
          <a:xfrm flipH="1">
            <a:off x="11431588" y="5508625"/>
            <a:ext cx="2109314" cy="1654175"/>
          </a:xfrm>
          <a:prstGeom prst="straightConnector1">
            <a:avLst/>
          </a:prstGeom>
          <a:noFill/>
          <a:ln w="50800" cap="rnd" cmpd="sng">
            <a:solidFill>
              <a:srgbClr val="FFFFFF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588" name="Shape 588"/>
          <p:cNvSpPr txBox="1"/>
          <p:nvPr/>
        </p:nvSpPr>
        <p:spPr>
          <a:xfrm>
            <a:off x="1244600" y="7658100"/>
            <a:ext cx="2743199" cy="596900"/>
          </a:xfrm>
          <a:prstGeom prst="rect">
            <a:avLst/>
          </a:prstGeom>
          <a:noFill/>
          <a:ln w="76200" cap="flat" cmpd="sng">
            <a:solidFill>
              <a:srgbClr val="00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lvl="0" algn="ctr">
              <a:buClr>
                <a:schemeClr val="lt1"/>
              </a:buClr>
              <a:buSzPct val="25000"/>
            </a:pPr>
            <a:r>
              <a:rPr lang="en-US" sz="30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print('</a:t>
            </a:r>
            <a:r>
              <a:rPr lang="en-US" sz="30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Finis')</a:t>
            </a:r>
            <a:endParaRPr lang="en-US" sz="3000" u="none" strike="noStrike" cap="none" dirty="0">
              <a:solidFill>
                <a:schemeClr val="lt1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  <p:sp>
        <p:nvSpPr>
          <p:cNvPr id="589" name="Shape 589"/>
          <p:cNvSpPr txBox="1"/>
          <p:nvPr/>
        </p:nvSpPr>
        <p:spPr>
          <a:xfrm>
            <a:off x="4414837" y="2108200"/>
            <a:ext cx="725486" cy="622299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u="none" strike="noStrike" cap="none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Yes</a:t>
            </a:r>
          </a:p>
        </p:txBody>
      </p:sp>
      <p:sp>
        <p:nvSpPr>
          <p:cNvPr id="590" name="Shape 590"/>
          <p:cNvSpPr txBox="1"/>
          <p:nvPr/>
        </p:nvSpPr>
        <p:spPr>
          <a:xfrm>
            <a:off x="5747875" y="278505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91" name="Shape 591"/>
          <p:cNvSpPr txBox="1"/>
          <p:nvPr/>
        </p:nvSpPr>
        <p:spPr>
          <a:xfrm>
            <a:off x="1549262" y="6097586"/>
            <a:ext cx="725399" cy="527763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No</a:t>
            </a:r>
          </a:p>
        </p:txBody>
      </p:sp>
      <p:sp>
        <p:nvSpPr>
          <p:cNvPr id="27" name="Shape 589"/>
          <p:cNvSpPr txBox="1"/>
          <p:nvPr/>
        </p:nvSpPr>
        <p:spPr>
          <a:xfrm>
            <a:off x="4436269" y="4765676"/>
            <a:ext cx="725486" cy="622299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u="none" strike="noStrike" cap="none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Yes</a:t>
            </a:r>
          </a:p>
        </p:txBody>
      </p:sp>
      <p:sp>
        <p:nvSpPr>
          <p:cNvPr id="28" name="Shape 591"/>
          <p:cNvSpPr txBox="1"/>
          <p:nvPr/>
        </p:nvSpPr>
        <p:spPr>
          <a:xfrm>
            <a:off x="1590537" y="3394076"/>
            <a:ext cx="725399" cy="708023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15952335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Shape 28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Comparison Operators</a:t>
            </a:r>
          </a:p>
        </p:txBody>
      </p:sp>
      <p:sp>
        <p:nvSpPr>
          <p:cNvPr id="282" name="Shape 282"/>
          <p:cNvSpPr txBox="1">
            <a:spLocks noGrp="1"/>
          </p:cNvSpPr>
          <p:nvPr>
            <p:ph type="body" idx="1"/>
          </p:nvPr>
        </p:nvSpPr>
        <p:spPr>
          <a:xfrm>
            <a:off x="1155700" y="2603501"/>
            <a:ext cx="6444313" cy="5158685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3456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100000"/>
              <a:buFont typeface="Cabin"/>
              <a:buChar char="•"/>
            </a:pPr>
            <a:r>
              <a:rPr lang="en-US" sz="28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Boolean expressions </a:t>
            </a:r>
            <a:r>
              <a:rPr lang="en-US" sz="2800" u="none" strike="noStrike" cap="none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ask a question and produce a Yes or No result which we use to control program flow</a:t>
            </a:r>
          </a:p>
          <a:p>
            <a:pPr marL="749300" marR="0" lvl="0" indent="-3456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rgbClr val="FFFF00"/>
              </a:buClr>
              <a:buSzPct val="100000"/>
              <a:buFont typeface="Cabin"/>
              <a:buChar char="•"/>
            </a:pPr>
            <a:r>
              <a:rPr lang="en-US" sz="28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Boolean expressions</a:t>
            </a:r>
            <a:r>
              <a:rPr lang="en-US" sz="2800" u="none" strike="noStrike" cap="none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using </a:t>
            </a:r>
            <a:r>
              <a:rPr lang="en-US" sz="28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comparison operators</a:t>
            </a:r>
            <a:r>
              <a:rPr lang="en-US" sz="2800" u="none" strike="noStrike" cap="none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evaluate to True / False or Yes / No</a:t>
            </a:r>
          </a:p>
          <a:p>
            <a:pPr marL="749300" marR="0" lvl="0" indent="-3456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bin"/>
              <a:buChar char="•"/>
            </a:pPr>
            <a:r>
              <a:rPr lang="en-US" sz="2800" u="none" strike="noStrike" cap="none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Comparison operators look at variables but do not change the variables</a:t>
            </a:r>
          </a:p>
        </p:txBody>
      </p:sp>
      <p:sp>
        <p:nvSpPr>
          <p:cNvPr id="283" name="Shape 283"/>
          <p:cNvSpPr txBox="1"/>
          <p:nvPr/>
        </p:nvSpPr>
        <p:spPr>
          <a:xfrm>
            <a:off x="4377856" y="7762186"/>
            <a:ext cx="9042900" cy="48148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400" u="sng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  <a:hlinkClick r:id="rId3"/>
              </a:rPr>
              <a:t>http://en.wikipedia.org/wiki/George_Boole</a:t>
            </a:r>
          </a:p>
        </p:txBody>
      </p:sp>
      <p:sp>
        <p:nvSpPr>
          <p:cNvPr id="284" name="Shape 284"/>
          <p:cNvSpPr txBox="1"/>
          <p:nvPr/>
        </p:nvSpPr>
        <p:spPr>
          <a:xfrm>
            <a:off x="8751728" y="6917437"/>
            <a:ext cx="6794231" cy="5132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Remember:  </a:t>
            </a:r>
            <a:r>
              <a:rPr lang="en-US" sz="3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30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=</a:t>
            </a:r>
            <a:r>
              <a:rPr lang="en-US" sz="3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30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is used for assignment.</a:t>
            </a:r>
          </a:p>
        </p:txBody>
      </p:sp>
      <p:graphicFrame>
        <p:nvGraphicFramePr>
          <p:cNvPr id="285" name="Shape 285"/>
          <p:cNvGraphicFramePr/>
          <p:nvPr>
            <p:extLst/>
          </p:nvPr>
        </p:nvGraphicFramePr>
        <p:xfrm>
          <a:off x="8440443" y="2530257"/>
          <a:ext cx="7105516" cy="38731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2767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287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94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FFFF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3300" b="0" i="0" u="none" dirty="0">
                          <a:solidFill>
                            <a:srgbClr val="00FFFF"/>
                          </a:solidFill>
                          <a:latin typeface="Arial" charset="0"/>
                          <a:ea typeface="Arial" charset="0"/>
                          <a:cs typeface="Arial" charset="0"/>
                          <a:sym typeface="Cabin"/>
                        </a:rPr>
                        <a:t>Python</a:t>
                      </a:r>
                    </a:p>
                  </a:txBody>
                  <a:tcPr marL="38100" marR="38100" marT="38100" marB="381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>
                        <a:alpha val="4941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3300" b="0" i="0" u="none" dirty="0">
                          <a:solidFill>
                            <a:srgbClr val="FFFF00"/>
                          </a:solidFill>
                          <a:latin typeface="Arial" charset="0"/>
                          <a:ea typeface="Arial" charset="0"/>
                          <a:cs typeface="Arial" charset="0"/>
                          <a:sym typeface="Cabin"/>
                        </a:rPr>
                        <a:t>Meaning</a:t>
                      </a:r>
                    </a:p>
                  </a:txBody>
                  <a:tcPr marL="38100" marR="38100" marT="38100" marB="381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>
                        <a:alpha val="4941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76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FFFF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3100" b="0" i="0" u="none" dirty="0">
                          <a:solidFill>
                            <a:srgbClr val="00FFFF"/>
                          </a:solidFill>
                          <a:latin typeface="Arial" charset="0"/>
                          <a:ea typeface="Arial" charset="0"/>
                          <a:cs typeface="Arial" charset="0"/>
                          <a:sym typeface="Cabin"/>
                        </a:rPr>
                        <a:t>&lt;</a:t>
                      </a:r>
                    </a:p>
                  </a:txBody>
                  <a:tcPr marL="38100" marR="38100" marT="38100" marB="381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3100" b="0" i="0" u="none" dirty="0">
                          <a:solidFill>
                            <a:schemeClr val="lt1"/>
                          </a:solidFill>
                          <a:latin typeface="Arial" charset="0"/>
                          <a:ea typeface="Arial" charset="0"/>
                          <a:cs typeface="Arial" charset="0"/>
                          <a:sym typeface="Cabin"/>
                        </a:rPr>
                        <a:t>Less than</a:t>
                      </a:r>
                    </a:p>
                  </a:txBody>
                  <a:tcPr marL="38100" marR="38100" marT="38100" marB="381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92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FFFF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3100" b="0" i="0" u="none" dirty="0">
                          <a:solidFill>
                            <a:srgbClr val="00FFFF"/>
                          </a:solidFill>
                          <a:latin typeface="Arial" charset="0"/>
                          <a:ea typeface="Arial" charset="0"/>
                          <a:cs typeface="Arial" charset="0"/>
                          <a:sym typeface="Cabin"/>
                        </a:rPr>
                        <a:t>&lt;=</a:t>
                      </a:r>
                    </a:p>
                  </a:txBody>
                  <a:tcPr marL="38100" marR="38100" marT="38100" marB="381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3100" b="0" i="0" u="none" dirty="0">
                          <a:solidFill>
                            <a:schemeClr val="lt1"/>
                          </a:solidFill>
                          <a:latin typeface="Arial" charset="0"/>
                          <a:ea typeface="Arial" charset="0"/>
                          <a:cs typeface="Arial" charset="0"/>
                          <a:sym typeface="Cabin"/>
                        </a:rPr>
                        <a:t>Less than or Equal to</a:t>
                      </a:r>
                    </a:p>
                  </a:txBody>
                  <a:tcPr marL="38100" marR="38100" marT="38100" marB="381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92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FFFF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3100" b="0" i="0" u="none" dirty="0">
                          <a:solidFill>
                            <a:srgbClr val="00FFFF"/>
                          </a:solidFill>
                          <a:latin typeface="Arial" charset="0"/>
                          <a:ea typeface="Arial" charset="0"/>
                          <a:cs typeface="Arial" charset="0"/>
                          <a:sym typeface="Cabin"/>
                        </a:rPr>
                        <a:t> == </a:t>
                      </a:r>
                    </a:p>
                  </a:txBody>
                  <a:tcPr marL="38100" marR="38100" marT="38100" marB="381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3100" b="0" i="0" u="none" dirty="0">
                          <a:solidFill>
                            <a:schemeClr val="lt1"/>
                          </a:solidFill>
                          <a:latin typeface="Arial" charset="0"/>
                          <a:ea typeface="Arial" charset="0"/>
                          <a:cs typeface="Arial" charset="0"/>
                          <a:sym typeface="Cabin"/>
                        </a:rPr>
                        <a:t>Equal to</a:t>
                      </a:r>
                    </a:p>
                  </a:txBody>
                  <a:tcPr marL="38100" marR="38100" marT="38100" marB="381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76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FFFF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3100" b="0" i="0" u="none" dirty="0">
                          <a:solidFill>
                            <a:srgbClr val="00FFFF"/>
                          </a:solidFill>
                          <a:latin typeface="Arial" charset="0"/>
                          <a:ea typeface="Arial" charset="0"/>
                          <a:cs typeface="Arial" charset="0"/>
                          <a:sym typeface="Cabin"/>
                        </a:rPr>
                        <a:t>&gt;=</a:t>
                      </a:r>
                    </a:p>
                  </a:txBody>
                  <a:tcPr marL="38100" marR="38100" marT="38100" marB="381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3100" b="0" i="0" u="none" dirty="0">
                          <a:solidFill>
                            <a:schemeClr val="lt1"/>
                          </a:solidFill>
                          <a:latin typeface="Arial" charset="0"/>
                          <a:ea typeface="Arial" charset="0"/>
                          <a:cs typeface="Arial" charset="0"/>
                          <a:sym typeface="Cabin"/>
                        </a:rPr>
                        <a:t>Greater than or Equal to</a:t>
                      </a:r>
                    </a:p>
                  </a:txBody>
                  <a:tcPr marL="38100" marR="38100" marT="38100" marB="381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92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FFFF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3100" b="0" i="0" u="none" dirty="0">
                          <a:solidFill>
                            <a:srgbClr val="00FFFF"/>
                          </a:solidFill>
                          <a:latin typeface="Arial" charset="0"/>
                          <a:ea typeface="Arial" charset="0"/>
                          <a:cs typeface="Arial" charset="0"/>
                          <a:sym typeface="Cabin"/>
                        </a:rPr>
                        <a:t>&gt;</a:t>
                      </a:r>
                    </a:p>
                  </a:txBody>
                  <a:tcPr marL="38100" marR="38100" marT="38100" marB="381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3100" b="0" i="0" u="none" dirty="0">
                          <a:solidFill>
                            <a:schemeClr val="lt1"/>
                          </a:solidFill>
                          <a:latin typeface="Arial" charset="0"/>
                          <a:ea typeface="Arial" charset="0"/>
                          <a:cs typeface="Arial" charset="0"/>
                          <a:sym typeface="Cabin"/>
                        </a:rPr>
                        <a:t>Greater than</a:t>
                      </a:r>
                    </a:p>
                  </a:txBody>
                  <a:tcPr marL="38100" marR="38100" marT="38100" marB="381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76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FFFF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3100" b="0" i="0" u="none" dirty="0">
                          <a:solidFill>
                            <a:srgbClr val="00FFFF"/>
                          </a:solidFill>
                          <a:latin typeface="Arial" charset="0"/>
                          <a:ea typeface="Arial" charset="0"/>
                          <a:cs typeface="Arial" charset="0"/>
                          <a:sym typeface="Cabin"/>
                        </a:rPr>
                        <a:t>!=</a:t>
                      </a:r>
                    </a:p>
                  </a:txBody>
                  <a:tcPr marL="38100" marR="38100" marT="38100" marB="381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3100" b="0" i="0" u="none" dirty="0">
                          <a:solidFill>
                            <a:schemeClr val="lt1"/>
                          </a:solidFill>
                          <a:latin typeface="Arial" charset="0"/>
                          <a:ea typeface="Arial" charset="0"/>
                          <a:cs typeface="Arial" charset="0"/>
                          <a:sym typeface="Cabin"/>
                        </a:rPr>
                        <a:t>Not equal</a:t>
                      </a:r>
                    </a:p>
                  </a:txBody>
                  <a:tcPr marL="38100" marR="38100" marT="38100" marB="38100" anchor="ctr">
                    <a:lnL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09249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Shape 29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7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Comparison Operators</a:t>
            </a:r>
          </a:p>
        </p:txBody>
      </p:sp>
      <p:sp>
        <p:nvSpPr>
          <p:cNvPr id="291" name="Shape 291"/>
          <p:cNvSpPr txBox="1"/>
          <p:nvPr/>
        </p:nvSpPr>
        <p:spPr>
          <a:xfrm>
            <a:off x="1155700" y="2608285"/>
            <a:ext cx="8797769" cy="547140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x = 5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if x == 5 : </a:t>
            </a:r>
          </a:p>
          <a:p>
            <a:pPr lvl="0">
              <a:buClr>
                <a:srgbClr val="00FF00"/>
              </a:buClr>
              <a:buSzPct val="25000"/>
            </a:pP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   print('Equals 5</a:t>
            </a:r>
            <a:r>
              <a:rPr lang="en-US" sz="300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')</a:t>
            </a:r>
            <a:endParaRPr lang="en-US" sz="3000" i="0" u="none" strike="noStrike" cap="none" dirty="0">
              <a:solidFill>
                <a:srgbClr val="00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if x &gt; 4 : </a:t>
            </a:r>
          </a:p>
          <a:p>
            <a:pPr lvl="0">
              <a:buClr>
                <a:srgbClr val="FF00FF"/>
              </a:buClr>
              <a:buSzPct val="25000"/>
            </a:pPr>
            <a:r>
              <a:rPr lang="en-US" sz="30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  print('Greater than 4</a:t>
            </a:r>
            <a:r>
              <a:rPr lang="en-US" sz="3000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')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if  x &gt;= 5 :</a:t>
            </a:r>
          </a:p>
          <a:p>
            <a:pPr lvl="0">
              <a:buClr>
                <a:srgbClr val="FF7F00"/>
              </a:buClr>
              <a:buSzPct val="25000"/>
            </a:pP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    print('Greater than or Equals 5</a:t>
            </a:r>
            <a:r>
              <a:rPr lang="en-US" sz="3000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')</a:t>
            </a:r>
            <a:endParaRPr lang="en-US" sz="3000" i="0" u="none" strike="noStrike" cap="none" dirty="0">
              <a:solidFill>
                <a:srgbClr val="FF99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lvl="0">
              <a:buClr>
                <a:srgbClr val="FF0000"/>
              </a:buClr>
              <a:buSzPct val="25000"/>
            </a:pPr>
            <a:r>
              <a:rPr lang="en-US" sz="3000" i="0" u="none" strike="noStrike" cap="none" dirty="0">
                <a:solidFill>
                  <a:srgbClr val="D9D9D9"/>
                </a:solidFill>
                <a:latin typeface="Courier"/>
                <a:ea typeface="Courier"/>
                <a:cs typeface="Courier"/>
                <a:sym typeface="Courier New"/>
              </a:rPr>
              <a:t>if x &lt; 6 : print('Less than 6</a:t>
            </a:r>
            <a:r>
              <a:rPr lang="en-US" sz="3000" dirty="0">
                <a:solidFill>
                  <a:srgbClr val="D9D9D9"/>
                </a:solidFill>
                <a:latin typeface="Courier"/>
                <a:ea typeface="Courier"/>
                <a:cs typeface="Courier"/>
                <a:sym typeface="Courier New"/>
              </a:rPr>
              <a:t>') </a:t>
            </a:r>
            <a:endParaRPr lang="en-US" sz="3000" i="0" u="none" strike="noStrike" cap="none" dirty="0">
              <a:solidFill>
                <a:srgbClr val="D9D9D9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if x &lt;= 5 :</a:t>
            </a:r>
          </a:p>
          <a:p>
            <a:pPr lvl="0">
              <a:buClr>
                <a:srgbClr val="FFFF00"/>
              </a:buClr>
              <a:buSzPct val="25000"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   print('Less than or Equals 5</a:t>
            </a:r>
            <a:r>
              <a:rPr lang="en-US" sz="30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')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if x != 6 :</a:t>
            </a:r>
          </a:p>
          <a:p>
            <a:pPr lvl="0">
              <a:buClr>
                <a:srgbClr val="00FFFF"/>
              </a:buClr>
              <a:buSzPct val="25000"/>
            </a:pPr>
            <a:r>
              <a:rPr lang="en-US" sz="30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    print('Not equal 6</a:t>
            </a:r>
            <a:r>
              <a:rPr lang="en-US" sz="3000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')</a:t>
            </a:r>
            <a:endParaRPr lang="en-US" sz="3000" i="0" u="none" strike="noStrike" cap="none" dirty="0">
              <a:solidFill>
                <a:srgbClr val="00FFFF"/>
              </a:solidFill>
              <a:latin typeface="Courier"/>
              <a:ea typeface="Courier"/>
              <a:cs typeface="Courier"/>
              <a:sym typeface="Courier New"/>
            </a:endParaRPr>
          </a:p>
        </p:txBody>
      </p:sp>
      <p:sp>
        <p:nvSpPr>
          <p:cNvPr id="292" name="Shape 292"/>
          <p:cNvSpPr txBox="1"/>
          <p:nvPr/>
        </p:nvSpPr>
        <p:spPr>
          <a:xfrm>
            <a:off x="10513900" y="2985796"/>
            <a:ext cx="5240762" cy="520286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Equals 5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Greater than 4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FF99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Greater than or Equals 5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CCCCCC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Less than 6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Less than or Equals 5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Not equal 6</a:t>
            </a:r>
          </a:p>
        </p:txBody>
      </p:sp>
    </p:spTree>
    <p:extLst>
      <p:ext uri="{BB962C8B-B14F-4D97-AF65-F5344CB8AC3E}">
        <p14:creationId xmlns:p14="http://schemas.microsoft.com/office/powerpoint/2010/main" val="17714066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Shape 298"/>
          <p:cNvSpPr txBox="1">
            <a:spLocks noGrp="1"/>
          </p:cNvSpPr>
          <p:nvPr>
            <p:ph type="title"/>
          </p:nvPr>
        </p:nvSpPr>
        <p:spPr>
          <a:xfrm>
            <a:off x="2028825" y="564876"/>
            <a:ext cx="9515632" cy="1070512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6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One-Way Decisions</a:t>
            </a:r>
          </a:p>
        </p:txBody>
      </p:sp>
      <p:sp>
        <p:nvSpPr>
          <p:cNvPr id="299" name="Shape 299"/>
          <p:cNvSpPr txBox="1"/>
          <p:nvPr/>
        </p:nvSpPr>
        <p:spPr>
          <a:xfrm>
            <a:off x="631900" y="1543987"/>
            <a:ext cx="5712000" cy="650573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x = 5</a:t>
            </a:r>
          </a:p>
          <a:p>
            <a:pPr lvl="0">
              <a:buClr>
                <a:srgbClr val="FF7F00"/>
              </a:buClr>
              <a:buSzPct val="25000"/>
            </a:pPr>
            <a:r>
              <a:rPr lang="en-US" sz="32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print('Before 5</a:t>
            </a:r>
            <a:r>
              <a:rPr lang="en-US" sz="3200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')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2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if  x == 5 :</a:t>
            </a:r>
          </a:p>
          <a:p>
            <a:pPr lvl="0">
              <a:buClr>
                <a:srgbClr val="FF00FF"/>
              </a:buClr>
              <a:buSzPct val="25000"/>
            </a:pPr>
            <a:r>
              <a:rPr lang="en-US" sz="32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    print('Is 5</a:t>
            </a:r>
            <a:r>
              <a:rPr lang="en-US" sz="3200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')</a:t>
            </a:r>
          </a:p>
          <a:p>
            <a:pPr lvl="0">
              <a:buClr>
                <a:srgbClr val="FF00FF"/>
              </a:buClr>
              <a:buSzPct val="25000"/>
            </a:pPr>
            <a:r>
              <a:rPr lang="en-US" sz="32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    print('Is Still 5</a:t>
            </a:r>
            <a:r>
              <a:rPr lang="en-US" sz="3200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')</a:t>
            </a:r>
          </a:p>
          <a:p>
            <a:pPr lvl="0">
              <a:buClr>
                <a:srgbClr val="FF00FF"/>
              </a:buClr>
              <a:buSzPct val="25000"/>
            </a:pPr>
            <a:r>
              <a:rPr lang="en-US" sz="32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    print('Third 5</a:t>
            </a:r>
            <a:r>
              <a:rPr lang="en-US" sz="3200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')</a:t>
            </a:r>
          </a:p>
          <a:p>
            <a:pPr lvl="0">
              <a:buClr>
                <a:srgbClr val="FF7F00"/>
              </a:buClr>
              <a:buSzPct val="25000"/>
            </a:pPr>
            <a:r>
              <a:rPr lang="en-US" sz="32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print('Afterwards </a:t>
            </a:r>
            <a:r>
              <a:rPr lang="en-US" sz="3200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5')</a:t>
            </a:r>
            <a:endParaRPr lang="en-US" sz="3200" i="0" u="none" strike="noStrike" cap="none" dirty="0">
              <a:solidFill>
                <a:srgbClr val="FF99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lvl="0">
              <a:buClr>
                <a:srgbClr val="FF7F00"/>
              </a:buClr>
              <a:buSzPct val="25000"/>
            </a:pPr>
            <a:r>
              <a:rPr lang="en-US" sz="3200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p</a:t>
            </a:r>
            <a:r>
              <a:rPr lang="en-US" sz="32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rint('Before </a:t>
            </a:r>
            <a:r>
              <a:rPr lang="en-US" sz="3200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6')</a:t>
            </a:r>
            <a:endParaRPr lang="en-US" sz="3200" i="0" u="none" strike="noStrike" cap="none" dirty="0">
              <a:solidFill>
                <a:srgbClr val="FF99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2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if x == 6 :</a:t>
            </a:r>
          </a:p>
          <a:p>
            <a:pPr lvl="0">
              <a:buClr>
                <a:srgbClr val="00FF00"/>
              </a:buClr>
              <a:buSzPct val="25000"/>
            </a:pPr>
            <a:r>
              <a:rPr lang="en-US" sz="32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   print('Is </a:t>
            </a:r>
            <a:r>
              <a:rPr lang="en-US" sz="320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6')</a:t>
            </a:r>
            <a:endParaRPr lang="en-US" sz="3200" dirty="0">
              <a:solidFill>
                <a:schemeClr val="accen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lvl="0">
              <a:buClr>
                <a:srgbClr val="00FF00"/>
              </a:buClr>
              <a:buSzPct val="25000"/>
            </a:pPr>
            <a:r>
              <a:rPr lang="en-US" sz="32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   print('Is Still </a:t>
            </a:r>
            <a:r>
              <a:rPr lang="en-US" sz="320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6')</a:t>
            </a:r>
            <a:endParaRPr lang="en-US" sz="3200" dirty="0">
              <a:solidFill>
                <a:schemeClr val="accen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lvl="0">
              <a:buClr>
                <a:srgbClr val="00FF00"/>
              </a:buClr>
              <a:buSzPct val="25000"/>
            </a:pPr>
            <a:r>
              <a:rPr lang="en-US" sz="32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   print('Third </a:t>
            </a:r>
            <a:r>
              <a:rPr lang="en-US" sz="320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6')</a:t>
            </a:r>
            <a:endParaRPr lang="en-US" sz="3200" dirty="0">
              <a:solidFill>
                <a:schemeClr val="accen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lvl="0">
              <a:buClr>
                <a:srgbClr val="FF7F00"/>
              </a:buClr>
              <a:buSzPct val="25000"/>
            </a:pPr>
            <a:r>
              <a:rPr lang="en-US" sz="3200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p</a:t>
            </a:r>
            <a:r>
              <a:rPr lang="en-US" sz="32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rint('Afterwards 6</a:t>
            </a:r>
            <a:r>
              <a:rPr lang="en-US" sz="3200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')</a:t>
            </a:r>
            <a:endParaRPr lang="en-US" sz="3200" i="0" u="none" strike="noStrike" cap="none" dirty="0">
              <a:solidFill>
                <a:srgbClr val="FF9900"/>
              </a:solidFill>
              <a:latin typeface="Courier"/>
              <a:ea typeface="Courier"/>
              <a:cs typeface="Courier"/>
              <a:sym typeface="Courier New"/>
            </a:endParaRPr>
          </a:p>
        </p:txBody>
      </p:sp>
      <p:sp>
        <p:nvSpPr>
          <p:cNvPr id="300" name="Shape 300"/>
          <p:cNvSpPr txBox="1"/>
          <p:nvPr/>
        </p:nvSpPr>
        <p:spPr>
          <a:xfrm>
            <a:off x="7321666" y="2088625"/>
            <a:ext cx="2826846" cy="59610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FF99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Before 5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endParaRPr lang="en-US" sz="3600" u="none" strike="noStrike" cap="none" dirty="0">
              <a:solidFill>
                <a:srgbClr val="FF9900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Is 5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Is Still 5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Third 5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FF99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Afterwards 5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FF99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Before 6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endParaRPr lang="en-US" sz="3600" dirty="0">
              <a:solidFill>
                <a:srgbClr val="FF9900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endParaRPr lang="en-US" sz="3600" u="none" strike="noStrike" cap="none" dirty="0">
              <a:solidFill>
                <a:srgbClr val="FF9900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endParaRPr lang="en-US" sz="3600" u="none" strike="noStrike" cap="none" dirty="0">
              <a:solidFill>
                <a:srgbClr val="FF9900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FF99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Afterwards 6</a:t>
            </a:r>
          </a:p>
        </p:txBody>
      </p:sp>
      <p:cxnSp>
        <p:nvCxnSpPr>
          <p:cNvPr id="301" name="Shape 301"/>
          <p:cNvCxnSpPr/>
          <p:nvPr/>
        </p:nvCxnSpPr>
        <p:spPr>
          <a:xfrm flipH="1" flipV="1">
            <a:off x="6384210" y="3857360"/>
            <a:ext cx="794254" cy="65259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02" name="Shape 302"/>
          <p:cNvCxnSpPr/>
          <p:nvPr/>
        </p:nvCxnSpPr>
        <p:spPr>
          <a:xfrm flipH="1">
            <a:off x="5382786" y="6345736"/>
            <a:ext cx="1669419" cy="116062"/>
          </a:xfrm>
          <a:prstGeom prst="straightConnector1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03" name="Shape 303"/>
          <p:cNvCxnSpPr/>
          <p:nvPr/>
        </p:nvCxnSpPr>
        <p:spPr>
          <a:xfrm rot="10800000">
            <a:off x="12087268" y="1315710"/>
            <a:ext cx="14400" cy="566699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304" name="Shape 304"/>
          <p:cNvSpPr/>
          <p:nvPr/>
        </p:nvSpPr>
        <p:spPr>
          <a:xfrm>
            <a:off x="10671332" y="1876061"/>
            <a:ext cx="2870100" cy="1269899"/>
          </a:xfrm>
          <a:prstGeom prst="diamond">
            <a:avLst/>
          </a:prstGeom>
          <a:noFill/>
          <a:ln w="76200" cap="flat" cmpd="sng">
            <a:solidFill>
              <a:srgbClr val="00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x == 5 ?</a:t>
            </a:r>
          </a:p>
        </p:txBody>
      </p:sp>
      <p:cxnSp>
        <p:nvCxnSpPr>
          <p:cNvPr id="305" name="Shape 305"/>
          <p:cNvCxnSpPr/>
          <p:nvPr/>
        </p:nvCxnSpPr>
        <p:spPr>
          <a:xfrm rot="10800000">
            <a:off x="12087393" y="3093698"/>
            <a:ext cx="49200" cy="4060800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06" name="Shape 306"/>
          <p:cNvCxnSpPr/>
          <p:nvPr/>
        </p:nvCxnSpPr>
        <p:spPr>
          <a:xfrm rot="10800000">
            <a:off x="13528956" y="2504710"/>
            <a:ext cx="724500" cy="5700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307" name="Shape 307"/>
          <p:cNvCxnSpPr/>
          <p:nvPr/>
        </p:nvCxnSpPr>
        <p:spPr>
          <a:xfrm rot="10800000" flipH="1">
            <a:off x="14273369" y="2504835"/>
            <a:ext cx="15899" cy="644400"/>
          </a:xfrm>
          <a:prstGeom prst="straightConnector1">
            <a:avLst/>
          </a:prstGeom>
          <a:noFill/>
          <a:ln w="508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08" name="Shape 308"/>
          <p:cNvCxnSpPr/>
          <p:nvPr/>
        </p:nvCxnSpPr>
        <p:spPr>
          <a:xfrm>
            <a:off x="12144418" y="6345736"/>
            <a:ext cx="2149499" cy="0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309" name="Shape 309"/>
          <p:cNvSpPr txBox="1"/>
          <p:nvPr/>
        </p:nvSpPr>
        <p:spPr>
          <a:xfrm>
            <a:off x="13365944" y="1667311"/>
            <a:ext cx="1114555" cy="622199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Yes</a:t>
            </a:r>
          </a:p>
        </p:txBody>
      </p:sp>
      <p:sp>
        <p:nvSpPr>
          <p:cNvPr id="310" name="Shape 310"/>
          <p:cNvSpPr txBox="1"/>
          <p:nvPr/>
        </p:nvSpPr>
        <p:spPr>
          <a:xfrm>
            <a:off x="12817632" y="4212861"/>
            <a:ext cx="2921099" cy="749399"/>
          </a:xfrm>
          <a:prstGeom prst="rect">
            <a:avLst/>
          </a:prstGeom>
          <a:noFill/>
          <a:ln w="76200" cap="flat" cmpd="sng">
            <a:solidFill>
              <a:srgbClr val="00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lvl="0" algn="ctr">
              <a:buClr>
                <a:schemeClr val="lt1"/>
              </a:buClr>
              <a:buSzPct val="25000"/>
            </a:pPr>
            <a:r>
              <a:rPr lang="en-US" sz="35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print('Still </a:t>
            </a:r>
            <a:r>
              <a:rPr lang="en-US" sz="35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5')</a:t>
            </a:r>
            <a:endParaRPr lang="en-US" sz="3500" u="none" strike="noStrike" cap="none" dirty="0">
              <a:solidFill>
                <a:schemeClr val="lt1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  <p:sp>
        <p:nvSpPr>
          <p:cNvPr id="311" name="Shape 311"/>
          <p:cNvSpPr txBox="1"/>
          <p:nvPr/>
        </p:nvSpPr>
        <p:spPr>
          <a:xfrm>
            <a:off x="12817632" y="5317761"/>
            <a:ext cx="2921099" cy="749399"/>
          </a:xfrm>
          <a:prstGeom prst="rect">
            <a:avLst/>
          </a:prstGeom>
          <a:noFill/>
          <a:ln w="76200" cap="flat" cmpd="sng">
            <a:solidFill>
              <a:srgbClr val="00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lvl="0" algn="ctr">
              <a:buClr>
                <a:schemeClr val="lt1"/>
              </a:buClr>
              <a:buSzPct val="25000"/>
            </a:pPr>
            <a:r>
              <a:rPr lang="en-US" sz="35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print('Third </a:t>
            </a:r>
            <a:r>
              <a:rPr lang="en-US" sz="35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5')</a:t>
            </a:r>
            <a:endParaRPr lang="en-US" sz="3500" u="none" strike="noStrike" cap="none" dirty="0">
              <a:solidFill>
                <a:schemeClr val="lt1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  <p:sp>
        <p:nvSpPr>
          <p:cNvPr id="312" name="Shape 312"/>
          <p:cNvSpPr txBox="1"/>
          <p:nvPr/>
        </p:nvSpPr>
        <p:spPr>
          <a:xfrm>
            <a:off x="10988832" y="3171461"/>
            <a:ext cx="723900" cy="622199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No</a:t>
            </a:r>
          </a:p>
        </p:txBody>
      </p:sp>
      <p:sp>
        <p:nvSpPr>
          <p:cNvPr id="313" name="Shape 313"/>
          <p:cNvSpPr txBox="1"/>
          <p:nvPr/>
        </p:nvSpPr>
        <p:spPr>
          <a:xfrm>
            <a:off x="12817632" y="3107961"/>
            <a:ext cx="2921099" cy="749399"/>
          </a:xfrm>
          <a:prstGeom prst="rect">
            <a:avLst/>
          </a:prstGeom>
          <a:noFill/>
          <a:ln w="76200" cap="flat" cmpd="sng">
            <a:solidFill>
              <a:srgbClr val="00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lvl="0" algn="ctr">
              <a:buClr>
                <a:schemeClr val="lt1"/>
              </a:buClr>
              <a:buSzPct val="25000"/>
            </a:pPr>
            <a:r>
              <a:rPr lang="en-US" sz="35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print('Is </a:t>
            </a:r>
            <a:r>
              <a:rPr lang="en-US" sz="35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5’)</a:t>
            </a:r>
            <a:endParaRPr lang="en-US" sz="3500" u="none" strike="noStrike" cap="none" dirty="0">
              <a:solidFill>
                <a:schemeClr val="lt1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  <p:cxnSp>
        <p:nvCxnSpPr>
          <p:cNvPr id="314" name="Shape 314"/>
          <p:cNvCxnSpPr>
            <a:endCxn id="313" idx="2"/>
          </p:cNvCxnSpPr>
          <p:nvPr/>
        </p:nvCxnSpPr>
        <p:spPr>
          <a:xfrm rot="10800000" flipH="1">
            <a:off x="14267981" y="3857360"/>
            <a:ext cx="10200" cy="355500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15" name="Shape 315"/>
          <p:cNvCxnSpPr/>
          <p:nvPr/>
        </p:nvCxnSpPr>
        <p:spPr>
          <a:xfrm rot="10800000" flipH="1">
            <a:off x="14267982" y="4999998"/>
            <a:ext cx="10200" cy="355500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16" name="Shape 316"/>
          <p:cNvCxnSpPr/>
          <p:nvPr/>
        </p:nvCxnSpPr>
        <p:spPr>
          <a:xfrm rot="10800000" flipH="1">
            <a:off x="14276219" y="6066435"/>
            <a:ext cx="10200" cy="355500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74385281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Shape 321"/>
          <p:cNvSpPr txBox="1">
            <a:spLocks noGrp="1"/>
          </p:cNvSpPr>
          <p:nvPr>
            <p:ph type="title"/>
          </p:nvPr>
        </p:nvSpPr>
        <p:spPr>
          <a:xfrm>
            <a:off x="727075" y="745588"/>
            <a:ext cx="13512800" cy="1794312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7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Indentation</a:t>
            </a:r>
          </a:p>
        </p:txBody>
      </p:sp>
      <p:sp>
        <p:nvSpPr>
          <p:cNvPr id="322" name="Shape 322"/>
          <p:cNvSpPr txBox="1">
            <a:spLocks noGrp="1"/>
          </p:cNvSpPr>
          <p:nvPr>
            <p:ph type="body" idx="1"/>
          </p:nvPr>
        </p:nvSpPr>
        <p:spPr>
          <a:xfrm>
            <a:off x="946523" y="2592296"/>
            <a:ext cx="14269178" cy="5640168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3456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100000"/>
              <a:buFont typeface="Cabin"/>
              <a:buChar char="•"/>
            </a:pPr>
            <a:r>
              <a:rPr lang="en-US" sz="3200" u="none" strike="noStrike" cap="none" dirty="0">
                <a:solidFill>
                  <a:srgbClr val="FF99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Increase indent </a:t>
            </a: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indent after an </a:t>
            </a:r>
            <a:r>
              <a:rPr lang="en-US" sz="32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if</a:t>
            </a: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statement or </a:t>
            </a:r>
            <a:r>
              <a:rPr lang="en-US" sz="32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for</a:t>
            </a: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statement (after : )</a:t>
            </a:r>
          </a:p>
          <a:p>
            <a:pPr marL="749300" marR="0" lvl="0" indent="-3456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rgbClr val="FF7F00"/>
              </a:buClr>
              <a:buSzPct val="100000"/>
              <a:buFont typeface="Cabin"/>
              <a:buChar char="•"/>
            </a:pPr>
            <a:r>
              <a:rPr lang="en-US" sz="3200" u="none" strike="noStrike" cap="none" dirty="0">
                <a:solidFill>
                  <a:srgbClr val="FF99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Maintain indent</a:t>
            </a: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to indicate the </a:t>
            </a:r>
            <a:r>
              <a:rPr lang="en-US" sz="3200" u="none" strike="noStrike" cap="none" dirty="0">
                <a:solidFill>
                  <a:srgbClr val="FF99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scope</a:t>
            </a: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of the block (which lines are affected by the</a:t>
            </a:r>
            <a:r>
              <a:rPr lang="en-US" sz="32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if</a:t>
            </a: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/</a:t>
            </a:r>
            <a:r>
              <a:rPr lang="en-US" sz="32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for</a:t>
            </a: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)</a:t>
            </a:r>
          </a:p>
          <a:p>
            <a:pPr marL="749300" marR="0" lvl="0" indent="-3456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rgbClr val="FF7F00"/>
              </a:buClr>
              <a:buSzPct val="100000"/>
              <a:buFont typeface="Cabin"/>
              <a:buChar char="•"/>
            </a:pPr>
            <a:r>
              <a:rPr lang="en-US" sz="3200" u="none" strike="noStrike" cap="none" dirty="0">
                <a:solidFill>
                  <a:srgbClr val="FF99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Reduce indent</a:t>
            </a: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3200" u="none" strike="noStrike" cap="none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back to </a:t>
            </a: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 level of the </a:t>
            </a:r>
            <a:r>
              <a:rPr lang="en-US" sz="32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if</a:t>
            </a: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statement or </a:t>
            </a:r>
            <a:r>
              <a:rPr lang="en-US" sz="32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for</a:t>
            </a: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statement to indicate the end of the block</a:t>
            </a:r>
          </a:p>
          <a:p>
            <a:pPr marL="749300" marR="0" lvl="0" indent="-3456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rgbClr val="FFFF00"/>
              </a:buClr>
              <a:buSzPct val="100000"/>
              <a:buFont typeface="Cabin"/>
              <a:buChar char="•"/>
            </a:pPr>
            <a:r>
              <a:rPr lang="en-US" sz="32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Blank lines</a:t>
            </a:r>
            <a:r>
              <a:rPr lang="en-US" sz="3200" u="none" strike="noStrike" cap="none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are ignored - they do not affect </a:t>
            </a:r>
            <a:r>
              <a:rPr lang="en-US" sz="3200" u="none" strike="noStrike" cap="none" dirty="0">
                <a:solidFill>
                  <a:srgbClr val="FF99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indentation</a:t>
            </a:r>
          </a:p>
          <a:p>
            <a:pPr marL="749300" marR="0" lvl="0" indent="-3456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rgbClr val="FFFF00"/>
              </a:buClr>
              <a:buSzPct val="100000"/>
              <a:buFont typeface="Cabin"/>
              <a:buChar char="•"/>
            </a:pPr>
            <a:r>
              <a:rPr lang="en-US" sz="32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Comments</a:t>
            </a: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on a line by themselves are ignored w</a:t>
            </a:r>
            <a:r>
              <a:rPr lang="en-US" sz="32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ith regard to</a:t>
            </a:r>
            <a:r>
              <a:rPr lang="en-US" sz="3200" u="none" strike="noStrike" cap="none" dirty="0">
                <a:solidFill>
                  <a:srgbClr val="FF99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indentation</a:t>
            </a:r>
          </a:p>
        </p:txBody>
      </p:sp>
    </p:spTree>
    <p:extLst>
      <p:ext uri="{BB962C8B-B14F-4D97-AF65-F5344CB8AC3E}">
        <p14:creationId xmlns:p14="http://schemas.microsoft.com/office/powerpoint/2010/main" val="36360198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Shape 343"/>
          <p:cNvSpPr txBox="1"/>
          <p:nvPr/>
        </p:nvSpPr>
        <p:spPr>
          <a:xfrm>
            <a:off x="5395988" y="2404977"/>
            <a:ext cx="7918337" cy="6006500"/>
          </a:xfrm>
          <a:prstGeom prst="rect">
            <a:avLst/>
          </a:prstGeom>
          <a:noFill/>
          <a:ln w="12700" cap="rnd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2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x = 5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if x &gt; 2 :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32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 print('Bigger than </a:t>
            </a:r>
            <a:r>
              <a:rPr lang="en-US" sz="32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2')</a:t>
            </a:r>
            <a:endParaRPr lang="en-US" sz="3200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lvl="0">
              <a:buClr>
                <a:schemeClr val="lt1"/>
              </a:buClr>
              <a:buSzPct val="25000"/>
            </a:pPr>
            <a:r>
              <a:rPr lang="en-US" sz="32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 print('Still </a:t>
            </a:r>
            <a:r>
              <a:rPr lang="en-US" sz="32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bigger')</a:t>
            </a:r>
            <a:endParaRPr lang="en-US" sz="3200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lvl="0">
              <a:buClr>
                <a:schemeClr val="lt1"/>
              </a:buClr>
              <a:buSzPct val="25000"/>
            </a:pPr>
            <a:r>
              <a:rPr lang="en-US" sz="32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print('Done with </a:t>
            </a:r>
            <a:r>
              <a:rPr lang="en-US" sz="32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2')</a:t>
            </a:r>
            <a:endParaRPr lang="en-US" sz="3200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for </a:t>
            </a:r>
            <a:r>
              <a:rPr lang="en-US" sz="3200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i</a:t>
            </a:r>
            <a:r>
              <a:rPr lang="en-US" sz="32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in range(5)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 print(</a:t>
            </a:r>
            <a:r>
              <a:rPr lang="en-US" sz="3200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i</a:t>
            </a:r>
            <a:r>
              <a:rPr lang="en-US" sz="32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 if </a:t>
            </a:r>
            <a:r>
              <a:rPr lang="en-US" sz="3200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i</a:t>
            </a:r>
            <a:r>
              <a:rPr lang="en-US" sz="32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&gt; 2 : 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32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     print('Bigger than </a:t>
            </a:r>
            <a:r>
              <a:rPr lang="en-US" sz="32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2')</a:t>
            </a:r>
            <a:endParaRPr lang="en-US" sz="3200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 print('Done with </a:t>
            </a:r>
            <a:r>
              <a:rPr lang="en-US" sz="3200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i</a:t>
            </a:r>
            <a:r>
              <a:rPr lang="en-US" sz="32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', </a:t>
            </a:r>
            <a:r>
              <a:rPr lang="en-US" sz="3200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i</a:t>
            </a:r>
            <a:r>
              <a:rPr lang="en-US" sz="32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print('All Done') </a:t>
            </a:r>
          </a:p>
        </p:txBody>
      </p:sp>
      <p:sp>
        <p:nvSpPr>
          <p:cNvPr id="344" name="Shape 344"/>
          <p:cNvSpPr txBox="1"/>
          <p:nvPr/>
        </p:nvSpPr>
        <p:spPr>
          <a:xfrm>
            <a:off x="4144962" y="957300"/>
            <a:ext cx="7183437" cy="125726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increase / </a:t>
            </a:r>
            <a:r>
              <a:rPr lang="en-US" sz="36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maintain</a:t>
            </a:r>
            <a:r>
              <a:rPr lang="en-US" sz="36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3600" u="none" strike="noStrike" cap="none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after if or for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Font typeface="Cabin"/>
              <a:buNone/>
            </a:pPr>
            <a:endParaRPr sz="1200" dirty="0">
              <a:solidFill>
                <a:srgbClr val="00FF00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FF99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decrease </a:t>
            </a:r>
            <a:r>
              <a:rPr lang="en-US" sz="3600" u="none" strike="noStrike" cap="none" dirty="0">
                <a:solidFill>
                  <a:srgbClr val="F3F3F3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to indicate end of block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Font typeface="Cabin"/>
              <a:buNone/>
            </a:pPr>
            <a:endParaRPr dirty="0"/>
          </a:p>
        </p:txBody>
      </p:sp>
      <p:cxnSp>
        <p:nvCxnSpPr>
          <p:cNvPr id="345" name="Shape 345"/>
          <p:cNvCxnSpPr/>
          <p:nvPr/>
        </p:nvCxnSpPr>
        <p:spPr>
          <a:xfrm>
            <a:off x="3187095" y="4787900"/>
            <a:ext cx="568200" cy="0"/>
          </a:xfrm>
          <a:prstGeom prst="straightConnector1">
            <a:avLst/>
          </a:prstGeom>
          <a:noFill/>
          <a:ln w="76200" cap="rnd" cmpd="sng">
            <a:solidFill>
              <a:srgbClr val="FF99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46" name="Shape 346"/>
          <p:cNvCxnSpPr/>
          <p:nvPr/>
        </p:nvCxnSpPr>
        <p:spPr>
          <a:xfrm rot="10800000">
            <a:off x="3818860" y="3721062"/>
            <a:ext cx="673199" cy="4799"/>
          </a:xfrm>
          <a:prstGeom prst="straightConnector1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47" name="Shape 347"/>
          <p:cNvCxnSpPr/>
          <p:nvPr/>
        </p:nvCxnSpPr>
        <p:spPr>
          <a:xfrm rot="10800000">
            <a:off x="4503199" y="7192961"/>
            <a:ext cx="673199" cy="4799"/>
          </a:xfrm>
          <a:prstGeom prst="straightConnector1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48" name="Shape 348"/>
          <p:cNvCxnSpPr/>
          <p:nvPr/>
        </p:nvCxnSpPr>
        <p:spPr>
          <a:xfrm>
            <a:off x="3794955" y="7620000"/>
            <a:ext cx="568200" cy="0"/>
          </a:xfrm>
          <a:prstGeom prst="straightConnector1">
            <a:avLst/>
          </a:prstGeom>
          <a:noFill/>
          <a:ln w="76200" cap="rnd" cmpd="sng">
            <a:solidFill>
              <a:srgbClr val="FF99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49" name="Shape 349"/>
          <p:cNvCxnSpPr/>
          <p:nvPr/>
        </p:nvCxnSpPr>
        <p:spPr>
          <a:xfrm rot="10800000">
            <a:off x="3830000" y="6273762"/>
            <a:ext cx="673199" cy="4799"/>
          </a:xfrm>
          <a:prstGeom prst="straightConnector1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50" name="Shape 350"/>
          <p:cNvCxnSpPr/>
          <p:nvPr/>
        </p:nvCxnSpPr>
        <p:spPr>
          <a:xfrm rot="10800000">
            <a:off x="3830000" y="4241762"/>
            <a:ext cx="673199" cy="4799"/>
          </a:xfrm>
          <a:prstGeom prst="straightConnector1">
            <a:avLst/>
          </a:prstGeom>
          <a:noFill/>
          <a:ln w="762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51" name="Shape 351"/>
          <p:cNvCxnSpPr/>
          <p:nvPr/>
        </p:nvCxnSpPr>
        <p:spPr>
          <a:xfrm rot="10800000">
            <a:off x="3830000" y="6794461"/>
            <a:ext cx="673199" cy="4799"/>
          </a:xfrm>
          <a:prstGeom prst="straightConnector1">
            <a:avLst/>
          </a:prstGeom>
          <a:noFill/>
          <a:ln w="762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52" name="Shape 352"/>
          <p:cNvCxnSpPr/>
          <p:nvPr/>
        </p:nvCxnSpPr>
        <p:spPr>
          <a:xfrm rot="10800000">
            <a:off x="3261800" y="5718064"/>
            <a:ext cx="673199" cy="4799"/>
          </a:xfrm>
          <a:prstGeom prst="straightConnector1">
            <a:avLst/>
          </a:prstGeom>
          <a:noFill/>
          <a:ln w="762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53" name="Shape 353"/>
          <p:cNvCxnSpPr/>
          <p:nvPr/>
        </p:nvCxnSpPr>
        <p:spPr>
          <a:xfrm rot="10800000">
            <a:off x="3395540" y="2705061"/>
            <a:ext cx="673199" cy="4799"/>
          </a:xfrm>
          <a:prstGeom prst="straightConnector1">
            <a:avLst/>
          </a:prstGeom>
          <a:noFill/>
          <a:ln w="762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54" name="Shape 354"/>
          <p:cNvCxnSpPr/>
          <p:nvPr/>
        </p:nvCxnSpPr>
        <p:spPr>
          <a:xfrm rot="10800000">
            <a:off x="3395540" y="3187661"/>
            <a:ext cx="673199" cy="4799"/>
          </a:xfrm>
          <a:prstGeom prst="straightConnector1">
            <a:avLst/>
          </a:prstGeom>
          <a:noFill/>
          <a:ln w="762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55" name="Shape 355"/>
          <p:cNvCxnSpPr/>
          <p:nvPr/>
        </p:nvCxnSpPr>
        <p:spPr>
          <a:xfrm>
            <a:off x="3261800" y="8077200"/>
            <a:ext cx="568200" cy="0"/>
          </a:xfrm>
          <a:prstGeom prst="straightConnector1">
            <a:avLst/>
          </a:prstGeom>
          <a:noFill/>
          <a:ln w="76200" cap="rnd" cmpd="sng">
            <a:solidFill>
              <a:srgbClr val="FF9900"/>
            </a:solidFill>
            <a:prstDash val="solid"/>
            <a:miter/>
            <a:headEnd type="stealth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6659950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363"/>
          <p:cNvSpPr txBox="1"/>
          <p:nvPr/>
        </p:nvSpPr>
        <p:spPr>
          <a:xfrm>
            <a:off x="4598450" y="5392512"/>
            <a:ext cx="7704000" cy="2421299"/>
          </a:xfrm>
          <a:prstGeom prst="rect">
            <a:avLst/>
          </a:prstGeom>
          <a:noFill/>
          <a:ln w="76200" cap="rnd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Shape 364"/>
          <p:cNvSpPr txBox="1"/>
          <p:nvPr/>
        </p:nvSpPr>
        <p:spPr>
          <a:xfrm>
            <a:off x="4576700" y="2941773"/>
            <a:ext cx="7704000" cy="1509299"/>
          </a:xfrm>
          <a:prstGeom prst="rect">
            <a:avLst/>
          </a:prstGeom>
          <a:noFill/>
          <a:ln w="76200" cap="rnd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Shape 362"/>
          <p:cNvSpPr txBox="1"/>
          <p:nvPr/>
        </p:nvSpPr>
        <p:spPr>
          <a:xfrm>
            <a:off x="5533200" y="6313475"/>
            <a:ext cx="6377099" cy="1016999"/>
          </a:xfrm>
          <a:prstGeom prst="rect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Shape 343"/>
          <p:cNvSpPr txBox="1"/>
          <p:nvPr/>
        </p:nvSpPr>
        <p:spPr>
          <a:xfrm>
            <a:off x="4598449" y="2438400"/>
            <a:ext cx="7918337" cy="5854799"/>
          </a:xfrm>
          <a:prstGeom prst="rect">
            <a:avLst/>
          </a:prstGeom>
          <a:noFill/>
          <a:ln w="12700" cap="rnd" cmpd="sng">
            <a:noFill/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x = 5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if x &gt; 2 :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32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print('Bigger than </a:t>
            </a:r>
            <a:r>
              <a:rPr lang="en-US" sz="32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2')</a:t>
            </a:r>
            <a:endParaRPr lang="en-US" sz="3200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lvl="0">
              <a:buClr>
                <a:schemeClr val="lt1"/>
              </a:buClr>
              <a:buSzPct val="25000"/>
            </a:pPr>
            <a:r>
              <a:rPr lang="en-US" sz="32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print('Still </a:t>
            </a:r>
            <a:r>
              <a:rPr lang="en-US" sz="32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bigger')</a:t>
            </a:r>
            <a:endParaRPr lang="en-US" sz="3200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lvl="0">
              <a:buClr>
                <a:schemeClr val="lt1"/>
              </a:buClr>
              <a:buSzPct val="25000"/>
            </a:pPr>
            <a:r>
              <a:rPr lang="en-US" sz="32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print('Done with </a:t>
            </a:r>
            <a:r>
              <a:rPr lang="en-US" sz="32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2')</a:t>
            </a:r>
            <a:endParaRPr lang="en-US" sz="3200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for </a:t>
            </a:r>
            <a:r>
              <a:rPr lang="en-US" sz="3200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i</a:t>
            </a:r>
            <a:r>
              <a:rPr lang="en-US" sz="32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in range(5)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print(</a:t>
            </a:r>
            <a:r>
              <a:rPr lang="en-US" sz="3200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i</a:t>
            </a:r>
            <a:r>
              <a:rPr lang="en-US" sz="32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if </a:t>
            </a:r>
            <a:r>
              <a:rPr lang="en-US" sz="3200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i</a:t>
            </a:r>
            <a:r>
              <a:rPr lang="en-US" sz="32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&gt; 2 : 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32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    print('Bigger than </a:t>
            </a:r>
            <a:r>
              <a:rPr lang="en-US" sz="32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2')</a:t>
            </a:r>
            <a:endParaRPr lang="en-US" sz="3200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print('Done with </a:t>
            </a:r>
            <a:r>
              <a:rPr lang="en-US" sz="3200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i</a:t>
            </a:r>
            <a:r>
              <a:rPr lang="en-US" sz="32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', </a:t>
            </a:r>
            <a:r>
              <a:rPr lang="en-US" sz="3200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i</a:t>
            </a:r>
            <a:r>
              <a:rPr lang="en-US" sz="32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print('All Done')</a:t>
            </a:r>
          </a:p>
        </p:txBody>
      </p:sp>
      <p:sp>
        <p:nvSpPr>
          <p:cNvPr id="15" name="Shape 361"/>
          <p:cNvSpPr txBox="1"/>
          <p:nvPr/>
        </p:nvSpPr>
        <p:spPr>
          <a:xfrm>
            <a:off x="2147475" y="524656"/>
            <a:ext cx="12044775" cy="149474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6600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Think About begin/end Blocks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Font typeface="Cabin"/>
              <a:buNone/>
            </a:pPr>
            <a:endParaRPr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230857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Shape 29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7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Code Break!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4051B5A-0193-9040-9899-5B115C28EECD}"/>
              </a:ext>
            </a:extLst>
          </p:cNvPr>
          <p:cNvSpPr txBox="1"/>
          <p:nvPr/>
        </p:nvSpPr>
        <p:spPr>
          <a:xfrm>
            <a:off x="763644" y="3471332"/>
            <a:ext cx="14679556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solidFill>
                  <a:schemeClr val="bg1"/>
                </a:solidFill>
              </a:rPr>
              <a:t>Change your age program from earlier so that the user gets a special message if they are the same age as you. For instance, my program would look like this when it runs:</a:t>
            </a:r>
          </a:p>
          <a:p>
            <a:endParaRPr lang="en-US" sz="3000" dirty="0">
              <a:solidFill>
                <a:schemeClr val="bg1"/>
              </a:solidFill>
            </a:endParaRPr>
          </a:p>
          <a:p>
            <a:r>
              <a:rPr lang="en-US" sz="3000" dirty="0">
                <a:solidFill>
                  <a:schemeClr val="bg1"/>
                </a:solidFill>
              </a:rPr>
              <a:t>How old are you? </a:t>
            </a:r>
            <a:r>
              <a:rPr lang="en-US" sz="3000" dirty="0">
                <a:solidFill>
                  <a:srgbClr val="29FD2F"/>
                </a:solidFill>
              </a:rPr>
              <a:t>28</a:t>
            </a:r>
          </a:p>
          <a:p>
            <a:r>
              <a:rPr lang="en-US" sz="3000" dirty="0">
                <a:solidFill>
                  <a:schemeClr val="bg1"/>
                </a:solidFill>
              </a:rPr>
              <a:t>Hey! You’re the same age as me!</a:t>
            </a:r>
          </a:p>
          <a:p>
            <a:endParaRPr lang="en-US" sz="3000" dirty="0">
              <a:solidFill>
                <a:schemeClr val="bg1"/>
              </a:solidFill>
            </a:endParaRPr>
          </a:p>
          <a:p>
            <a:r>
              <a:rPr lang="en-US" sz="3000" dirty="0">
                <a:solidFill>
                  <a:schemeClr val="bg1"/>
                </a:solidFill>
              </a:rPr>
              <a:t>If I put in a different number such as 28, I do not get the secret message.</a:t>
            </a:r>
          </a:p>
        </p:txBody>
      </p:sp>
    </p:spTree>
    <p:extLst>
      <p:ext uri="{BB962C8B-B14F-4D97-AF65-F5344CB8AC3E}">
        <p14:creationId xmlns:p14="http://schemas.microsoft.com/office/powerpoint/2010/main" val="312939905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Shape 387"/>
          <p:cNvSpPr txBox="1"/>
          <p:nvPr/>
        </p:nvSpPr>
        <p:spPr>
          <a:xfrm>
            <a:off x="797475" y="3210450"/>
            <a:ext cx="6953818" cy="3332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x = 42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if x &gt; 1 :</a:t>
            </a:r>
          </a:p>
          <a:p>
            <a:pPr lvl="0">
              <a:buClr>
                <a:srgbClr val="00FF00"/>
              </a:buClr>
              <a:buSzPct val="25000"/>
            </a:pP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   print('More than one</a:t>
            </a:r>
            <a:r>
              <a:rPr lang="en-US" sz="300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')</a:t>
            </a:r>
            <a:endParaRPr lang="en-US" sz="3000" i="0" u="none" strike="noStrike" cap="none" dirty="0">
              <a:solidFill>
                <a:srgbClr val="00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</a:t>
            </a:r>
            <a:r>
              <a:rPr lang="en-US" sz="30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if x &lt; 100 : </a:t>
            </a:r>
          </a:p>
          <a:p>
            <a:pPr lvl="0">
              <a:buClr>
                <a:srgbClr val="FF00FF"/>
              </a:buClr>
              <a:buSzPct val="25000"/>
            </a:pP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        print('Less than 100</a:t>
            </a:r>
            <a:r>
              <a:rPr lang="en-US" sz="3000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') </a:t>
            </a:r>
            <a:endParaRPr lang="en-US" sz="3000" i="0" u="none" strike="noStrike" cap="none" dirty="0">
              <a:solidFill>
                <a:srgbClr val="FF99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lvl="0">
              <a:buClr>
                <a:srgbClr val="FF7F00"/>
              </a:buClr>
              <a:buSzPct val="25000"/>
            </a:pPr>
            <a:r>
              <a:rPr lang="en-US" sz="30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print('All done</a:t>
            </a:r>
            <a:r>
              <a:rPr lang="en-US" sz="3000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')</a:t>
            </a:r>
            <a:endParaRPr lang="en-US" sz="3000" i="0" u="none" strike="noStrike" cap="none" dirty="0">
              <a:solidFill>
                <a:srgbClr val="00FFFF"/>
              </a:solidFill>
              <a:latin typeface="Courier"/>
              <a:ea typeface="Courier"/>
              <a:cs typeface="Courier"/>
              <a:sym typeface="Courier New"/>
            </a:endParaRPr>
          </a:p>
        </p:txBody>
      </p:sp>
      <p:sp>
        <p:nvSpPr>
          <p:cNvPr id="388" name="Shape 388"/>
          <p:cNvSpPr txBox="1"/>
          <p:nvPr/>
        </p:nvSpPr>
        <p:spPr>
          <a:xfrm>
            <a:off x="1168400" y="689548"/>
            <a:ext cx="4813299" cy="2167951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6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Nested Decisions</a:t>
            </a:r>
          </a:p>
        </p:txBody>
      </p:sp>
      <p:cxnSp>
        <p:nvCxnSpPr>
          <p:cNvPr id="381" name="Shape 381"/>
          <p:cNvCxnSpPr/>
          <p:nvPr/>
        </p:nvCxnSpPr>
        <p:spPr>
          <a:xfrm rot="10800000">
            <a:off x="9451261" y="830128"/>
            <a:ext cx="13265" cy="408228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369" name="Shape 369"/>
          <p:cNvSpPr/>
          <p:nvPr/>
        </p:nvSpPr>
        <p:spPr>
          <a:xfrm>
            <a:off x="7986419" y="1182730"/>
            <a:ext cx="2966810" cy="1229106"/>
          </a:xfrm>
          <a:prstGeom prst="diamond">
            <a:avLst/>
          </a:prstGeom>
          <a:noFill/>
          <a:ln w="508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x &gt; 1</a:t>
            </a:r>
          </a:p>
        </p:txBody>
      </p:sp>
      <p:sp>
        <p:nvSpPr>
          <p:cNvPr id="370" name="Shape 370"/>
          <p:cNvSpPr txBox="1"/>
          <p:nvPr/>
        </p:nvSpPr>
        <p:spPr>
          <a:xfrm>
            <a:off x="10253910" y="2433028"/>
            <a:ext cx="3488651" cy="1059575"/>
          </a:xfrm>
          <a:prstGeom prst="rect">
            <a:avLst/>
          </a:prstGeom>
          <a:noFill/>
          <a:ln w="508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print('More than one’)</a:t>
            </a:r>
          </a:p>
        </p:txBody>
      </p:sp>
      <p:sp>
        <p:nvSpPr>
          <p:cNvPr id="371" name="Shape 371"/>
          <p:cNvSpPr/>
          <p:nvPr/>
        </p:nvSpPr>
        <p:spPr>
          <a:xfrm>
            <a:off x="10253910" y="3863455"/>
            <a:ext cx="3464810" cy="1229106"/>
          </a:xfrm>
          <a:prstGeom prst="diamond">
            <a:avLst/>
          </a:prstGeom>
          <a:noFill/>
          <a:ln w="50800" cap="rnd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x &lt; 100</a:t>
            </a:r>
          </a:p>
        </p:txBody>
      </p:sp>
      <p:sp>
        <p:nvSpPr>
          <p:cNvPr id="372" name="Shape 372"/>
          <p:cNvSpPr txBox="1"/>
          <p:nvPr/>
        </p:nvSpPr>
        <p:spPr>
          <a:xfrm>
            <a:off x="12636709" y="5050179"/>
            <a:ext cx="3327815" cy="1059575"/>
          </a:xfrm>
          <a:prstGeom prst="rect">
            <a:avLst/>
          </a:prstGeom>
          <a:noFill/>
          <a:ln w="50800" cap="rnd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print('Less </a:t>
            </a:r>
            <a:r>
              <a:rPr lang="en-US" sz="2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than </a:t>
            </a:r>
            <a:r>
              <a:rPr lang="en-US" sz="2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100')</a:t>
            </a:r>
            <a:endParaRPr lang="en-US" sz="2600" u="none" strike="noStrike" cap="none" dirty="0">
              <a:solidFill>
                <a:schemeClr val="lt1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  <p:sp>
        <p:nvSpPr>
          <p:cNvPr id="373" name="Shape 373"/>
          <p:cNvSpPr txBox="1"/>
          <p:nvPr/>
        </p:nvSpPr>
        <p:spPr>
          <a:xfrm>
            <a:off x="8018206" y="7095158"/>
            <a:ext cx="2892639" cy="1059491"/>
          </a:xfrm>
          <a:prstGeom prst="rect">
            <a:avLst/>
          </a:prstGeom>
          <a:noFill/>
          <a:ln w="50800" cap="rnd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print('All Done')</a:t>
            </a:r>
          </a:p>
        </p:txBody>
      </p:sp>
      <p:cxnSp>
        <p:nvCxnSpPr>
          <p:cNvPr id="374" name="Shape 374"/>
          <p:cNvCxnSpPr/>
          <p:nvPr/>
        </p:nvCxnSpPr>
        <p:spPr>
          <a:xfrm rot="10800000" flipH="1">
            <a:off x="10932038" y="1782610"/>
            <a:ext cx="1127071" cy="2752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375" name="Shape 375"/>
          <p:cNvCxnSpPr/>
          <p:nvPr/>
        </p:nvCxnSpPr>
        <p:spPr>
          <a:xfrm rot="10800000" flipH="1">
            <a:off x="12049889" y="1782495"/>
            <a:ext cx="9261" cy="631990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76" name="Shape 376"/>
          <p:cNvCxnSpPr/>
          <p:nvPr/>
        </p:nvCxnSpPr>
        <p:spPr>
          <a:xfrm rot="10800000" flipH="1">
            <a:off x="9434062" y="2399916"/>
            <a:ext cx="30462" cy="4684645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77" name="Shape 377"/>
          <p:cNvCxnSpPr/>
          <p:nvPr/>
        </p:nvCxnSpPr>
        <p:spPr>
          <a:xfrm>
            <a:off x="13697529" y="4456817"/>
            <a:ext cx="610580" cy="11920"/>
          </a:xfrm>
          <a:prstGeom prst="straightConnector1">
            <a:avLst/>
          </a:prstGeom>
          <a:noFill/>
          <a:ln w="63500" cap="rnd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378" name="Shape 378"/>
          <p:cNvCxnSpPr/>
          <p:nvPr/>
        </p:nvCxnSpPr>
        <p:spPr>
          <a:xfrm rot="10800000" flipH="1">
            <a:off x="14274997" y="4510191"/>
            <a:ext cx="6758" cy="542636"/>
          </a:xfrm>
          <a:prstGeom prst="straightConnector1">
            <a:avLst/>
          </a:prstGeom>
          <a:noFill/>
          <a:ln w="63500" cap="rnd" cmpd="sng">
            <a:solidFill>
              <a:srgbClr val="FF99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79" name="Shape 379"/>
          <p:cNvCxnSpPr>
            <a:stCxn id="371" idx="0"/>
            <a:endCxn id="370" idx="2"/>
          </p:cNvCxnSpPr>
          <p:nvPr/>
        </p:nvCxnSpPr>
        <p:spPr>
          <a:xfrm flipV="1">
            <a:off x="11986315" y="3492603"/>
            <a:ext cx="11921" cy="370852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80" name="Shape 380"/>
          <p:cNvCxnSpPr/>
          <p:nvPr/>
        </p:nvCxnSpPr>
        <p:spPr>
          <a:xfrm>
            <a:off x="9496313" y="6618350"/>
            <a:ext cx="4749545" cy="0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382" name="Shape 382"/>
          <p:cNvSpPr txBox="1"/>
          <p:nvPr/>
        </p:nvSpPr>
        <p:spPr>
          <a:xfrm>
            <a:off x="11358517" y="1230411"/>
            <a:ext cx="918430" cy="46621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yes</a:t>
            </a:r>
          </a:p>
        </p:txBody>
      </p:sp>
      <p:sp>
        <p:nvSpPr>
          <p:cNvPr id="383" name="Shape 383"/>
          <p:cNvSpPr txBox="1"/>
          <p:nvPr/>
        </p:nvSpPr>
        <p:spPr>
          <a:xfrm>
            <a:off x="13742561" y="3921731"/>
            <a:ext cx="917822" cy="46621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yes</a:t>
            </a:r>
          </a:p>
        </p:txBody>
      </p:sp>
      <p:cxnSp>
        <p:nvCxnSpPr>
          <p:cNvPr id="384" name="Shape 384"/>
          <p:cNvCxnSpPr/>
          <p:nvPr/>
        </p:nvCxnSpPr>
        <p:spPr>
          <a:xfrm rot="10800000">
            <a:off x="12003532" y="5123024"/>
            <a:ext cx="0" cy="1495324"/>
          </a:xfrm>
          <a:prstGeom prst="straightConnector1">
            <a:avLst/>
          </a:prstGeom>
          <a:noFill/>
          <a:ln w="63500" cap="rnd" cmpd="sng">
            <a:solidFill>
              <a:srgbClr val="FF99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385" name="Shape 385"/>
          <p:cNvSpPr txBox="1"/>
          <p:nvPr/>
        </p:nvSpPr>
        <p:spPr>
          <a:xfrm>
            <a:off x="11386329" y="5066072"/>
            <a:ext cx="451643" cy="46621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no</a:t>
            </a:r>
          </a:p>
        </p:txBody>
      </p:sp>
      <p:sp>
        <p:nvSpPr>
          <p:cNvPr id="386" name="Shape 386"/>
          <p:cNvSpPr txBox="1"/>
          <p:nvPr/>
        </p:nvSpPr>
        <p:spPr>
          <a:xfrm>
            <a:off x="8801078" y="2544284"/>
            <a:ext cx="451643" cy="46621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no</a:t>
            </a:r>
          </a:p>
        </p:txBody>
      </p:sp>
      <p:cxnSp>
        <p:nvCxnSpPr>
          <p:cNvPr id="389" name="Shape 389"/>
          <p:cNvCxnSpPr/>
          <p:nvPr/>
        </p:nvCxnSpPr>
        <p:spPr>
          <a:xfrm rot="10800000" flipH="1">
            <a:off x="14274997" y="6163128"/>
            <a:ext cx="6758" cy="542636"/>
          </a:xfrm>
          <a:prstGeom prst="straightConnector1">
            <a:avLst/>
          </a:prstGeom>
          <a:noFill/>
          <a:ln w="63500" cap="rnd" cmpd="sng">
            <a:solidFill>
              <a:srgbClr val="FF9900"/>
            </a:solidFill>
            <a:prstDash val="solid"/>
            <a:miter/>
            <a:headEnd type="stealth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77294243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Shape 394"/>
          <p:cNvSpPr txBox="1">
            <a:spLocks noGrp="1"/>
          </p:cNvSpPr>
          <p:nvPr>
            <p:ph type="title"/>
          </p:nvPr>
        </p:nvSpPr>
        <p:spPr>
          <a:xfrm>
            <a:off x="1155700" y="745588"/>
            <a:ext cx="7758111" cy="1651537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6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Two</a:t>
            </a:r>
            <a:r>
              <a:rPr lang="en-US" sz="6600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-w</a:t>
            </a:r>
            <a:r>
              <a:rPr lang="en-US" sz="6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ay Decisions</a:t>
            </a:r>
          </a:p>
        </p:txBody>
      </p:sp>
      <p:sp>
        <p:nvSpPr>
          <p:cNvPr id="395" name="Shape 395"/>
          <p:cNvSpPr txBox="1">
            <a:spLocks noGrp="1"/>
          </p:cNvSpPr>
          <p:nvPr>
            <p:ph type="body" idx="1"/>
          </p:nvPr>
        </p:nvSpPr>
        <p:spPr>
          <a:xfrm>
            <a:off x="1155700" y="2603501"/>
            <a:ext cx="5874687" cy="5640168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3710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Sometimes we want to do one thing if a logical expression is true and something else if the expression is false</a:t>
            </a:r>
          </a:p>
          <a:p>
            <a:pPr marL="749300" marR="0" lvl="0" indent="-3710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It is like a fork in the road - we must choose </a:t>
            </a:r>
            <a:r>
              <a:rPr lang="en-US" sz="36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one or the other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path but not both</a:t>
            </a:r>
          </a:p>
        </p:txBody>
      </p:sp>
      <p:sp>
        <p:nvSpPr>
          <p:cNvPr id="396" name="Shape 396"/>
          <p:cNvSpPr/>
          <p:nvPr/>
        </p:nvSpPr>
        <p:spPr>
          <a:xfrm>
            <a:off x="9980540" y="3241114"/>
            <a:ext cx="3257489" cy="1349530"/>
          </a:xfrm>
          <a:prstGeom prst="diamond">
            <a:avLst/>
          </a:prstGeom>
          <a:noFill/>
          <a:ln w="508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x &gt; 2</a:t>
            </a:r>
          </a:p>
        </p:txBody>
      </p:sp>
      <p:sp>
        <p:nvSpPr>
          <p:cNvPr id="397" name="Shape 397"/>
          <p:cNvSpPr txBox="1"/>
          <p:nvPr/>
        </p:nvSpPr>
        <p:spPr>
          <a:xfrm>
            <a:off x="12784308" y="4613913"/>
            <a:ext cx="3176051" cy="1163389"/>
          </a:xfrm>
          <a:prstGeom prst="rect">
            <a:avLst/>
          </a:prstGeom>
          <a:noFill/>
          <a:ln w="508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print('Bigger')</a:t>
            </a:r>
          </a:p>
        </p:txBody>
      </p:sp>
      <p:cxnSp>
        <p:nvCxnSpPr>
          <p:cNvPr id="398" name="Shape 398"/>
          <p:cNvCxnSpPr/>
          <p:nvPr/>
        </p:nvCxnSpPr>
        <p:spPr>
          <a:xfrm rot="10800000" flipH="1">
            <a:off x="13214762" y="3892612"/>
            <a:ext cx="1278272" cy="11633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399" name="Shape 399"/>
          <p:cNvCxnSpPr/>
          <p:nvPr/>
        </p:nvCxnSpPr>
        <p:spPr>
          <a:xfrm rot="10800000" flipH="1">
            <a:off x="14442137" y="3910062"/>
            <a:ext cx="17450" cy="683491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400" name="Shape 400"/>
          <p:cNvCxnSpPr/>
          <p:nvPr/>
        </p:nvCxnSpPr>
        <p:spPr>
          <a:xfrm rot="10800000" flipH="1">
            <a:off x="11638370" y="6213572"/>
            <a:ext cx="2822672" cy="29085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401" name="Shape 401"/>
          <p:cNvSpPr txBox="1"/>
          <p:nvPr/>
        </p:nvSpPr>
        <p:spPr>
          <a:xfrm>
            <a:off x="13683026" y="3293467"/>
            <a:ext cx="810008" cy="5118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yes</a:t>
            </a:r>
          </a:p>
        </p:txBody>
      </p:sp>
      <p:sp>
        <p:nvSpPr>
          <p:cNvPr id="402" name="Shape 402"/>
          <p:cNvSpPr txBox="1"/>
          <p:nvPr/>
        </p:nvSpPr>
        <p:spPr>
          <a:xfrm>
            <a:off x="9560265" y="3293467"/>
            <a:ext cx="495894" cy="5118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no</a:t>
            </a:r>
          </a:p>
        </p:txBody>
      </p:sp>
      <p:cxnSp>
        <p:nvCxnSpPr>
          <p:cNvPr id="403" name="Shape 403"/>
          <p:cNvCxnSpPr/>
          <p:nvPr/>
        </p:nvCxnSpPr>
        <p:spPr>
          <a:xfrm rot="10800000">
            <a:off x="14434866" y="5765668"/>
            <a:ext cx="8725" cy="423181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404" name="Shape 404"/>
          <p:cNvCxnSpPr/>
          <p:nvPr/>
        </p:nvCxnSpPr>
        <p:spPr>
          <a:xfrm rot="10800000">
            <a:off x="11622373" y="2649239"/>
            <a:ext cx="4362" cy="629684"/>
          </a:xfrm>
          <a:prstGeom prst="straightConnector1">
            <a:avLst/>
          </a:prstGeom>
          <a:noFill/>
          <a:ln w="63500" cap="rnd" cmpd="sng">
            <a:solidFill>
              <a:srgbClr val="FFFFFF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405" name="Shape 405"/>
          <p:cNvSpPr txBox="1"/>
          <p:nvPr/>
        </p:nvSpPr>
        <p:spPr>
          <a:xfrm>
            <a:off x="10061978" y="1751976"/>
            <a:ext cx="3176051" cy="884175"/>
          </a:xfrm>
          <a:prstGeom prst="rect">
            <a:avLst/>
          </a:prstGeom>
          <a:noFill/>
          <a:ln w="50800" cap="rnd" cmpd="sng">
            <a:solidFill>
              <a:srgbClr val="FF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x = 4</a:t>
            </a:r>
          </a:p>
        </p:txBody>
      </p:sp>
      <p:cxnSp>
        <p:nvCxnSpPr>
          <p:cNvPr id="406" name="Shape 406"/>
          <p:cNvCxnSpPr/>
          <p:nvPr/>
        </p:nvCxnSpPr>
        <p:spPr>
          <a:xfrm>
            <a:off x="8805517" y="3910062"/>
            <a:ext cx="1209925" cy="5819"/>
          </a:xfrm>
          <a:prstGeom prst="straightConnector1">
            <a:avLst/>
          </a:prstGeom>
          <a:noFill/>
          <a:ln w="63500" cap="rnd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407" name="Shape 407"/>
          <p:cNvCxnSpPr/>
          <p:nvPr/>
        </p:nvCxnSpPr>
        <p:spPr>
          <a:xfrm rot="10800000" flipH="1">
            <a:off x="8788067" y="3910062"/>
            <a:ext cx="17450" cy="683491"/>
          </a:xfrm>
          <a:prstGeom prst="straightConnector1">
            <a:avLst/>
          </a:prstGeom>
          <a:noFill/>
          <a:ln w="63500" cap="rnd" cmpd="sng">
            <a:solidFill>
              <a:srgbClr val="FF99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408" name="Shape 408"/>
          <p:cNvSpPr txBox="1"/>
          <p:nvPr/>
        </p:nvSpPr>
        <p:spPr>
          <a:xfrm>
            <a:off x="7083585" y="4602279"/>
            <a:ext cx="3393915" cy="1163389"/>
          </a:xfrm>
          <a:prstGeom prst="rect">
            <a:avLst/>
          </a:prstGeom>
          <a:noFill/>
          <a:ln w="50800" cap="rnd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print('Not bigger')</a:t>
            </a:r>
          </a:p>
        </p:txBody>
      </p:sp>
      <p:cxnSp>
        <p:nvCxnSpPr>
          <p:cNvPr id="409" name="Shape 409"/>
          <p:cNvCxnSpPr/>
          <p:nvPr/>
        </p:nvCxnSpPr>
        <p:spPr>
          <a:xfrm flipH="1">
            <a:off x="8783702" y="6222298"/>
            <a:ext cx="2856119" cy="2908"/>
          </a:xfrm>
          <a:prstGeom prst="straightConnector1">
            <a:avLst/>
          </a:prstGeom>
          <a:noFill/>
          <a:ln w="63500" cap="rnd" cmpd="sng">
            <a:solidFill>
              <a:srgbClr val="FF99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410" name="Shape 410"/>
          <p:cNvCxnSpPr/>
          <p:nvPr/>
        </p:nvCxnSpPr>
        <p:spPr>
          <a:xfrm rot="10800000">
            <a:off x="8757526" y="5777302"/>
            <a:ext cx="8725" cy="423181"/>
          </a:xfrm>
          <a:prstGeom prst="straightConnector1">
            <a:avLst/>
          </a:prstGeom>
          <a:noFill/>
          <a:ln w="63500" cap="rnd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411" name="Shape 411"/>
          <p:cNvCxnSpPr/>
          <p:nvPr/>
        </p:nvCxnSpPr>
        <p:spPr>
          <a:xfrm rot="10800000" flipH="1">
            <a:off x="11650004" y="6283375"/>
            <a:ext cx="17450" cy="683491"/>
          </a:xfrm>
          <a:prstGeom prst="straightConnector1">
            <a:avLst/>
          </a:prstGeom>
          <a:noFill/>
          <a:ln w="635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412" name="Shape 412"/>
          <p:cNvSpPr txBox="1"/>
          <p:nvPr/>
        </p:nvSpPr>
        <p:spPr>
          <a:xfrm>
            <a:off x="10015442" y="6940691"/>
            <a:ext cx="3176051" cy="884175"/>
          </a:xfrm>
          <a:prstGeom prst="rect">
            <a:avLst/>
          </a:prstGeom>
          <a:noFill/>
          <a:ln w="50800" cap="rnd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3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print('All Done')</a:t>
            </a:r>
          </a:p>
        </p:txBody>
      </p:sp>
    </p:spTree>
    <p:extLst>
      <p:ext uri="{BB962C8B-B14F-4D97-AF65-F5344CB8AC3E}">
        <p14:creationId xmlns:p14="http://schemas.microsoft.com/office/powerpoint/2010/main" val="141519571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Shape 394"/>
          <p:cNvSpPr txBox="1">
            <a:spLocks noGrp="1"/>
          </p:cNvSpPr>
          <p:nvPr>
            <p:ph type="title"/>
          </p:nvPr>
        </p:nvSpPr>
        <p:spPr>
          <a:xfrm>
            <a:off x="1155700" y="1126051"/>
            <a:ext cx="7758111" cy="1794312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6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Two</a:t>
            </a:r>
            <a:r>
              <a:rPr lang="en-US" sz="6600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-w</a:t>
            </a:r>
            <a:r>
              <a:rPr lang="en-US" sz="6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ay Decisions with else:</a:t>
            </a:r>
          </a:p>
        </p:txBody>
      </p:sp>
      <p:sp>
        <p:nvSpPr>
          <p:cNvPr id="396" name="Shape 396"/>
          <p:cNvSpPr/>
          <p:nvPr/>
        </p:nvSpPr>
        <p:spPr>
          <a:xfrm>
            <a:off x="9980540" y="3241114"/>
            <a:ext cx="3257489" cy="1349530"/>
          </a:xfrm>
          <a:prstGeom prst="diamond">
            <a:avLst/>
          </a:prstGeom>
          <a:noFill/>
          <a:ln w="508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x &gt; 2</a:t>
            </a:r>
          </a:p>
        </p:txBody>
      </p:sp>
      <p:sp>
        <p:nvSpPr>
          <p:cNvPr id="397" name="Shape 397"/>
          <p:cNvSpPr txBox="1"/>
          <p:nvPr/>
        </p:nvSpPr>
        <p:spPr>
          <a:xfrm>
            <a:off x="12784308" y="4613913"/>
            <a:ext cx="3176051" cy="1163389"/>
          </a:xfrm>
          <a:prstGeom prst="rect">
            <a:avLst/>
          </a:prstGeom>
          <a:noFill/>
          <a:ln w="508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print('Bigger')</a:t>
            </a:r>
          </a:p>
        </p:txBody>
      </p:sp>
      <p:cxnSp>
        <p:nvCxnSpPr>
          <p:cNvPr id="398" name="Shape 398"/>
          <p:cNvCxnSpPr/>
          <p:nvPr/>
        </p:nvCxnSpPr>
        <p:spPr>
          <a:xfrm rot="10800000" flipH="1">
            <a:off x="13214762" y="3892612"/>
            <a:ext cx="1278272" cy="11633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399" name="Shape 399"/>
          <p:cNvCxnSpPr/>
          <p:nvPr/>
        </p:nvCxnSpPr>
        <p:spPr>
          <a:xfrm rot="10800000" flipH="1">
            <a:off x="14442137" y="3910062"/>
            <a:ext cx="17450" cy="683491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400" name="Shape 400"/>
          <p:cNvCxnSpPr/>
          <p:nvPr/>
        </p:nvCxnSpPr>
        <p:spPr>
          <a:xfrm rot="10800000" flipH="1">
            <a:off x="11638370" y="6213572"/>
            <a:ext cx="2822672" cy="29085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401" name="Shape 401"/>
          <p:cNvSpPr txBox="1"/>
          <p:nvPr/>
        </p:nvSpPr>
        <p:spPr>
          <a:xfrm>
            <a:off x="13683026" y="3293467"/>
            <a:ext cx="810008" cy="5118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yes</a:t>
            </a:r>
          </a:p>
        </p:txBody>
      </p:sp>
      <p:sp>
        <p:nvSpPr>
          <p:cNvPr id="402" name="Shape 402"/>
          <p:cNvSpPr txBox="1"/>
          <p:nvPr/>
        </p:nvSpPr>
        <p:spPr>
          <a:xfrm>
            <a:off x="9560265" y="3293467"/>
            <a:ext cx="495894" cy="5118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no</a:t>
            </a:r>
          </a:p>
        </p:txBody>
      </p:sp>
      <p:cxnSp>
        <p:nvCxnSpPr>
          <p:cNvPr id="403" name="Shape 403"/>
          <p:cNvCxnSpPr/>
          <p:nvPr/>
        </p:nvCxnSpPr>
        <p:spPr>
          <a:xfrm rot="10800000">
            <a:off x="14434866" y="5765668"/>
            <a:ext cx="8725" cy="423181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404" name="Shape 404"/>
          <p:cNvCxnSpPr/>
          <p:nvPr/>
        </p:nvCxnSpPr>
        <p:spPr>
          <a:xfrm rot="10800000">
            <a:off x="11622373" y="2649239"/>
            <a:ext cx="4362" cy="629684"/>
          </a:xfrm>
          <a:prstGeom prst="straightConnector1">
            <a:avLst/>
          </a:prstGeom>
          <a:noFill/>
          <a:ln w="63500" cap="rnd" cmpd="sng">
            <a:solidFill>
              <a:srgbClr val="FFFFFF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405" name="Shape 405"/>
          <p:cNvSpPr txBox="1"/>
          <p:nvPr/>
        </p:nvSpPr>
        <p:spPr>
          <a:xfrm>
            <a:off x="10061978" y="1751976"/>
            <a:ext cx="3176051" cy="884175"/>
          </a:xfrm>
          <a:prstGeom prst="rect">
            <a:avLst/>
          </a:prstGeom>
          <a:noFill/>
          <a:ln w="50800" cap="rnd" cmpd="sng">
            <a:solidFill>
              <a:srgbClr val="FF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x = 4</a:t>
            </a:r>
          </a:p>
        </p:txBody>
      </p:sp>
      <p:cxnSp>
        <p:nvCxnSpPr>
          <p:cNvPr id="406" name="Shape 406"/>
          <p:cNvCxnSpPr/>
          <p:nvPr/>
        </p:nvCxnSpPr>
        <p:spPr>
          <a:xfrm rot="10800000" flipH="1">
            <a:off x="8805517" y="3915880"/>
            <a:ext cx="1278272" cy="11633"/>
          </a:xfrm>
          <a:prstGeom prst="straightConnector1">
            <a:avLst/>
          </a:prstGeom>
          <a:noFill/>
          <a:ln w="63500" cap="rnd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407" name="Shape 407"/>
          <p:cNvCxnSpPr/>
          <p:nvPr/>
        </p:nvCxnSpPr>
        <p:spPr>
          <a:xfrm rot="10800000" flipH="1">
            <a:off x="8788067" y="3910062"/>
            <a:ext cx="17450" cy="683491"/>
          </a:xfrm>
          <a:prstGeom prst="straightConnector1">
            <a:avLst/>
          </a:prstGeom>
          <a:noFill/>
          <a:ln w="63500" cap="rnd" cmpd="sng">
            <a:solidFill>
              <a:srgbClr val="FF99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409" name="Shape 409"/>
          <p:cNvCxnSpPr/>
          <p:nvPr/>
        </p:nvCxnSpPr>
        <p:spPr>
          <a:xfrm flipH="1">
            <a:off x="8783702" y="6222298"/>
            <a:ext cx="2856119" cy="2908"/>
          </a:xfrm>
          <a:prstGeom prst="straightConnector1">
            <a:avLst/>
          </a:prstGeom>
          <a:noFill/>
          <a:ln w="63500" cap="rnd" cmpd="sng">
            <a:solidFill>
              <a:srgbClr val="FF99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410" name="Shape 410"/>
          <p:cNvCxnSpPr/>
          <p:nvPr/>
        </p:nvCxnSpPr>
        <p:spPr>
          <a:xfrm rot="10800000">
            <a:off x="8757526" y="5777302"/>
            <a:ext cx="8725" cy="423181"/>
          </a:xfrm>
          <a:prstGeom prst="straightConnector1">
            <a:avLst/>
          </a:prstGeom>
          <a:noFill/>
          <a:ln w="63500" cap="rnd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411" name="Shape 411"/>
          <p:cNvCxnSpPr/>
          <p:nvPr/>
        </p:nvCxnSpPr>
        <p:spPr>
          <a:xfrm rot="10800000" flipH="1">
            <a:off x="11650004" y="6283375"/>
            <a:ext cx="17450" cy="683491"/>
          </a:xfrm>
          <a:prstGeom prst="straightConnector1">
            <a:avLst/>
          </a:prstGeom>
          <a:noFill/>
          <a:ln w="635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412" name="Shape 412"/>
          <p:cNvSpPr txBox="1"/>
          <p:nvPr/>
        </p:nvSpPr>
        <p:spPr>
          <a:xfrm>
            <a:off x="10015442" y="6940691"/>
            <a:ext cx="3176051" cy="884175"/>
          </a:xfrm>
          <a:prstGeom prst="rect">
            <a:avLst/>
          </a:prstGeom>
          <a:noFill/>
          <a:ln w="50800" cap="rnd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3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print('All Done')</a:t>
            </a:r>
          </a:p>
        </p:txBody>
      </p:sp>
      <p:sp>
        <p:nvSpPr>
          <p:cNvPr id="22" name="Shape 418"/>
          <p:cNvSpPr txBox="1"/>
          <p:nvPr/>
        </p:nvSpPr>
        <p:spPr>
          <a:xfrm>
            <a:off x="1109119" y="3549412"/>
            <a:ext cx="4814099" cy="4009665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x = 4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if x &gt; 2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   print('Bigger')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else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    print('Smaller')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 i="0" u="none" strike="noStrike" cap="none" dirty="0">
              <a:solidFill>
                <a:srgbClr val="00FFFF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print('All done')</a:t>
            </a:r>
          </a:p>
        </p:txBody>
      </p:sp>
      <p:sp>
        <p:nvSpPr>
          <p:cNvPr id="21" name="Shape 408"/>
          <p:cNvSpPr txBox="1"/>
          <p:nvPr/>
        </p:nvSpPr>
        <p:spPr>
          <a:xfrm>
            <a:off x="7083585" y="4602279"/>
            <a:ext cx="3393915" cy="1163389"/>
          </a:xfrm>
          <a:prstGeom prst="rect">
            <a:avLst/>
          </a:prstGeom>
          <a:noFill/>
          <a:ln w="50800" cap="rnd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print('Not bigger')</a:t>
            </a:r>
          </a:p>
        </p:txBody>
      </p:sp>
    </p:spTree>
    <p:extLst>
      <p:ext uri="{BB962C8B-B14F-4D97-AF65-F5344CB8AC3E}">
        <p14:creationId xmlns:p14="http://schemas.microsoft.com/office/powerpoint/2010/main" val="245994493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458"/>
          <p:cNvSpPr txBox="1"/>
          <p:nvPr/>
        </p:nvSpPr>
        <p:spPr>
          <a:xfrm>
            <a:off x="955900" y="4404944"/>
            <a:ext cx="4726519" cy="2298600"/>
          </a:xfrm>
          <a:prstGeom prst="rect">
            <a:avLst/>
          </a:prstGeom>
          <a:noFill/>
          <a:ln w="50800" cap="rnd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Shape 394"/>
          <p:cNvSpPr txBox="1">
            <a:spLocks noGrp="1"/>
          </p:cNvSpPr>
          <p:nvPr>
            <p:ph type="title"/>
          </p:nvPr>
        </p:nvSpPr>
        <p:spPr>
          <a:xfrm>
            <a:off x="1155700" y="745588"/>
            <a:ext cx="7758111" cy="1794312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6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Visualize Blocks</a:t>
            </a:r>
          </a:p>
        </p:txBody>
      </p:sp>
      <p:sp>
        <p:nvSpPr>
          <p:cNvPr id="22" name="Shape 418"/>
          <p:cNvSpPr txBox="1"/>
          <p:nvPr/>
        </p:nvSpPr>
        <p:spPr>
          <a:xfrm>
            <a:off x="1109119" y="3549412"/>
            <a:ext cx="4814099" cy="4009665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x = 4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if x &gt; 2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   print('Bigger')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else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    print('Smaller')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 i="0" u="none" strike="noStrike" cap="none" dirty="0">
              <a:solidFill>
                <a:srgbClr val="00FFFF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print('All done')</a:t>
            </a:r>
          </a:p>
        </p:txBody>
      </p:sp>
      <p:sp>
        <p:nvSpPr>
          <p:cNvPr id="21" name="Shape 440"/>
          <p:cNvSpPr txBox="1"/>
          <p:nvPr/>
        </p:nvSpPr>
        <p:spPr>
          <a:xfrm>
            <a:off x="6891553" y="3024705"/>
            <a:ext cx="9189198" cy="3378200"/>
          </a:xfrm>
          <a:prstGeom prst="rect">
            <a:avLst/>
          </a:prstGeom>
          <a:noFill/>
          <a:ln w="50800" cap="rnd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00"/>
              </a:solidFill>
            </a:endParaRPr>
          </a:p>
        </p:txBody>
      </p:sp>
      <p:sp>
        <p:nvSpPr>
          <p:cNvPr id="24" name="Shape 396"/>
          <p:cNvSpPr/>
          <p:nvPr/>
        </p:nvSpPr>
        <p:spPr>
          <a:xfrm>
            <a:off x="9980540" y="3241114"/>
            <a:ext cx="3257489" cy="1349530"/>
          </a:xfrm>
          <a:prstGeom prst="diamond">
            <a:avLst/>
          </a:prstGeom>
          <a:noFill/>
          <a:ln w="508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x &gt; 2</a:t>
            </a:r>
          </a:p>
        </p:txBody>
      </p:sp>
      <p:sp>
        <p:nvSpPr>
          <p:cNvPr id="25" name="Shape 397"/>
          <p:cNvSpPr txBox="1"/>
          <p:nvPr/>
        </p:nvSpPr>
        <p:spPr>
          <a:xfrm>
            <a:off x="12784308" y="4613913"/>
            <a:ext cx="3176051" cy="1163389"/>
          </a:xfrm>
          <a:prstGeom prst="rect">
            <a:avLst/>
          </a:prstGeom>
          <a:noFill/>
          <a:ln w="508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print('Bigger')</a:t>
            </a:r>
          </a:p>
        </p:txBody>
      </p:sp>
      <p:cxnSp>
        <p:nvCxnSpPr>
          <p:cNvPr id="26" name="Shape 398"/>
          <p:cNvCxnSpPr/>
          <p:nvPr/>
        </p:nvCxnSpPr>
        <p:spPr>
          <a:xfrm rot="10800000" flipH="1">
            <a:off x="13214762" y="3892612"/>
            <a:ext cx="1278272" cy="11633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27" name="Shape 399"/>
          <p:cNvCxnSpPr/>
          <p:nvPr/>
        </p:nvCxnSpPr>
        <p:spPr>
          <a:xfrm rot="10800000" flipH="1">
            <a:off x="14442137" y="3910062"/>
            <a:ext cx="17450" cy="683491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28" name="Shape 400"/>
          <p:cNvCxnSpPr/>
          <p:nvPr/>
        </p:nvCxnSpPr>
        <p:spPr>
          <a:xfrm rot="10800000" flipH="1">
            <a:off x="11638370" y="6213572"/>
            <a:ext cx="2822672" cy="29085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29" name="Shape 401"/>
          <p:cNvSpPr txBox="1"/>
          <p:nvPr/>
        </p:nvSpPr>
        <p:spPr>
          <a:xfrm>
            <a:off x="13683026" y="3293467"/>
            <a:ext cx="810008" cy="5118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yes</a:t>
            </a:r>
          </a:p>
        </p:txBody>
      </p:sp>
      <p:sp>
        <p:nvSpPr>
          <p:cNvPr id="30" name="Shape 402"/>
          <p:cNvSpPr txBox="1"/>
          <p:nvPr/>
        </p:nvSpPr>
        <p:spPr>
          <a:xfrm>
            <a:off x="9560265" y="3293467"/>
            <a:ext cx="495894" cy="5118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no</a:t>
            </a:r>
          </a:p>
        </p:txBody>
      </p:sp>
      <p:cxnSp>
        <p:nvCxnSpPr>
          <p:cNvPr id="31" name="Shape 403"/>
          <p:cNvCxnSpPr/>
          <p:nvPr/>
        </p:nvCxnSpPr>
        <p:spPr>
          <a:xfrm rot="10800000">
            <a:off x="14434866" y="5765668"/>
            <a:ext cx="8725" cy="423181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32" name="Shape 404"/>
          <p:cNvCxnSpPr/>
          <p:nvPr/>
        </p:nvCxnSpPr>
        <p:spPr>
          <a:xfrm rot="10800000">
            <a:off x="11622373" y="2649239"/>
            <a:ext cx="4362" cy="629684"/>
          </a:xfrm>
          <a:prstGeom prst="straightConnector1">
            <a:avLst/>
          </a:prstGeom>
          <a:noFill/>
          <a:ln w="63500" cap="rnd" cmpd="sng">
            <a:solidFill>
              <a:srgbClr val="FFFFFF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33" name="Shape 405"/>
          <p:cNvSpPr txBox="1"/>
          <p:nvPr/>
        </p:nvSpPr>
        <p:spPr>
          <a:xfrm>
            <a:off x="10061978" y="1751976"/>
            <a:ext cx="3176051" cy="884175"/>
          </a:xfrm>
          <a:prstGeom prst="rect">
            <a:avLst/>
          </a:prstGeom>
          <a:noFill/>
          <a:ln w="50800" cap="rnd" cmpd="sng">
            <a:solidFill>
              <a:srgbClr val="FF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x = 4</a:t>
            </a:r>
          </a:p>
        </p:txBody>
      </p:sp>
      <p:cxnSp>
        <p:nvCxnSpPr>
          <p:cNvPr id="34" name="Shape 406"/>
          <p:cNvCxnSpPr/>
          <p:nvPr/>
        </p:nvCxnSpPr>
        <p:spPr>
          <a:xfrm rot="10800000" flipH="1">
            <a:off x="8805517" y="3915880"/>
            <a:ext cx="1278272" cy="11633"/>
          </a:xfrm>
          <a:prstGeom prst="straightConnector1">
            <a:avLst/>
          </a:prstGeom>
          <a:noFill/>
          <a:ln w="63500" cap="rnd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35" name="Shape 407"/>
          <p:cNvCxnSpPr/>
          <p:nvPr/>
        </p:nvCxnSpPr>
        <p:spPr>
          <a:xfrm rot="10800000" flipH="1">
            <a:off x="8788067" y="3910062"/>
            <a:ext cx="17450" cy="683491"/>
          </a:xfrm>
          <a:prstGeom prst="straightConnector1">
            <a:avLst/>
          </a:prstGeom>
          <a:noFill/>
          <a:ln w="63500" cap="rnd" cmpd="sng">
            <a:solidFill>
              <a:srgbClr val="FF99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6" name="Shape 409"/>
          <p:cNvCxnSpPr/>
          <p:nvPr/>
        </p:nvCxnSpPr>
        <p:spPr>
          <a:xfrm flipH="1">
            <a:off x="8783702" y="6222298"/>
            <a:ext cx="2856119" cy="2908"/>
          </a:xfrm>
          <a:prstGeom prst="straightConnector1">
            <a:avLst/>
          </a:prstGeom>
          <a:noFill/>
          <a:ln w="63500" cap="rnd" cmpd="sng">
            <a:solidFill>
              <a:srgbClr val="FF99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7" name="Shape 410"/>
          <p:cNvCxnSpPr/>
          <p:nvPr/>
        </p:nvCxnSpPr>
        <p:spPr>
          <a:xfrm rot="10800000">
            <a:off x="8757526" y="5777302"/>
            <a:ext cx="8725" cy="423181"/>
          </a:xfrm>
          <a:prstGeom prst="straightConnector1">
            <a:avLst/>
          </a:prstGeom>
          <a:noFill/>
          <a:ln w="63500" cap="rnd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38" name="Shape 411"/>
          <p:cNvCxnSpPr/>
          <p:nvPr/>
        </p:nvCxnSpPr>
        <p:spPr>
          <a:xfrm rot="10800000" flipH="1">
            <a:off x="11650004" y="6283375"/>
            <a:ext cx="17450" cy="683491"/>
          </a:xfrm>
          <a:prstGeom prst="straightConnector1">
            <a:avLst/>
          </a:prstGeom>
          <a:noFill/>
          <a:ln w="635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39" name="Shape 412"/>
          <p:cNvSpPr txBox="1"/>
          <p:nvPr/>
        </p:nvSpPr>
        <p:spPr>
          <a:xfrm>
            <a:off x="10015442" y="6940691"/>
            <a:ext cx="3176051" cy="884175"/>
          </a:xfrm>
          <a:prstGeom prst="rect">
            <a:avLst/>
          </a:prstGeom>
          <a:noFill/>
          <a:ln w="50800" cap="rnd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3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print('All Done')</a:t>
            </a:r>
          </a:p>
        </p:txBody>
      </p:sp>
      <p:sp>
        <p:nvSpPr>
          <p:cNvPr id="40" name="Shape 408"/>
          <p:cNvSpPr txBox="1"/>
          <p:nvPr/>
        </p:nvSpPr>
        <p:spPr>
          <a:xfrm>
            <a:off x="7083585" y="4602279"/>
            <a:ext cx="3393915" cy="1163389"/>
          </a:xfrm>
          <a:prstGeom prst="rect">
            <a:avLst/>
          </a:prstGeom>
          <a:noFill/>
          <a:ln w="50800" cap="rnd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print('Not bigger')</a:t>
            </a:r>
          </a:p>
        </p:txBody>
      </p:sp>
    </p:spTree>
    <p:extLst>
      <p:ext uri="{BB962C8B-B14F-4D97-AF65-F5344CB8AC3E}">
        <p14:creationId xmlns:p14="http://schemas.microsoft.com/office/powerpoint/2010/main" val="218602615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7200" dirty="0">
                <a:solidFill>
                  <a:srgbClr val="FFD966"/>
                </a:solidFill>
              </a:rPr>
              <a:t>More Conditional Structures</a:t>
            </a:r>
            <a:r>
              <a:rPr lang="is-IS" sz="7200" dirty="0">
                <a:solidFill>
                  <a:srgbClr val="FFD966"/>
                </a:solidFill>
              </a:rPr>
              <a:t>…</a:t>
            </a:r>
            <a:endParaRPr lang="en-US" sz="7200" dirty="0">
              <a:solidFill>
                <a:srgbClr val="FFD9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304594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Shape 465"/>
          <p:cNvSpPr txBox="1">
            <a:spLocks noGrp="1"/>
          </p:cNvSpPr>
          <p:nvPr>
            <p:ph type="title"/>
          </p:nvPr>
        </p:nvSpPr>
        <p:spPr>
          <a:xfrm>
            <a:off x="1155700" y="745588"/>
            <a:ext cx="5759363" cy="1794312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7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Multi-way</a:t>
            </a:r>
          </a:p>
        </p:txBody>
      </p:sp>
      <p:sp>
        <p:nvSpPr>
          <p:cNvPr id="466" name="Shape 466"/>
          <p:cNvSpPr txBox="1"/>
          <p:nvPr/>
        </p:nvSpPr>
        <p:spPr>
          <a:xfrm>
            <a:off x="1023921" y="2933700"/>
            <a:ext cx="5102699" cy="4457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endParaRPr lang="en-US" sz="3000" b="1" i="0" u="none" strike="noStrike" cap="none" dirty="0">
              <a:solidFill>
                <a:srgbClr val="00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if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x &lt; 2 :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  <a:r>
              <a:rPr lang="en-US" sz="30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s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mall'</a:t>
            </a:r>
            <a:r>
              <a:rPr lang="en-US" sz="300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elif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x &lt; 10 :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  <a:r>
              <a:rPr lang="en-US" sz="30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Medium'</a:t>
            </a:r>
            <a:r>
              <a:rPr lang="en-US" sz="300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else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: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'LARGE'</a:t>
            </a:r>
            <a:r>
              <a:rPr lang="en-US" sz="300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lvl="0">
              <a:buClr>
                <a:srgbClr val="FFFF00"/>
              </a:buClr>
              <a:buSzPct val="25000"/>
            </a:pP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0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'All done'</a:t>
            </a:r>
            <a:r>
              <a:rPr lang="en-US" sz="300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</p:txBody>
      </p:sp>
      <p:sp>
        <p:nvSpPr>
          <p:cNvPr id="467" name="Shape 467"/>
          <p:cNvSpPr/>
          <p:nvPr/>
        </p:nvSpPr>
        <p:spPr>
          <a:xfrm>
            <a:off x="7796412" y="2286710"/>
            <a:ext cx="3139423" cy="1300743"/>
          </a:xfrm>
          <a:prstGeom prst="diamond">
            <a:avLst/>
          </a:prstGeom>
          <a:noFill/>
          <a:ln w="508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7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x &lt; 2</a:t>
            </a:r>
          </a:p>
        </p:txBody>
      </p:sp>
      <p:sp>
        <p:nvSpPr>
          <p:cNvPr id="468" name="Shape 468"/>
          <p:cNvSpPr txBox="1"/>
          <p:nvPr/>
        </p:nvSpPr>
        <p:spPr>
          <a:xfrm>
            <a:off x="11552613" y="2376410"/>
            <a:ext cx="3061023" cy="1121165"/>
          </a:xfrm>
          <a:prstGeom prst="rect">
            <a:avLst/>
          </a:prstGeom>
          <a:noFill/>
          <a:ln w="508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print('</a:t>
            </a:r>
            <a:r>
              <a:rPr lang="en-US" sz="32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</a:t>
            </a: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mall')</a:t>
            </a:r>
          </a:p>
        </p:txBody>
      </p:sp>
      <p:cxnSp>
        <p:nvCxnSpPr>
          <p:cNvPr id="469" name="Shape 469"/>
          <p:cNvCxnSpPr/>
          <p:nvPr/>
        </p:nvCxnSpPr>
        <p:spPr>
          <a:xfrm rot="10800000">
            <a:off x="10986368" y="2939840"/>
            <a:ext cx="528401" cy="0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470" name="Shape 470"/>
          <p:cNvCxnSpPr/>
          <p:nvPr/>
        </p:nvCxnSpPr>
        <p:spPr>
          <a:xfrm rot="10800000" flipH="1">
            <a:off x="9427836" y="6893651"/>
            <a:ext cx="5728196" cy="91113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471" name="Shape 471"/>
          <p:cNvSpPr txBox="1"/>
          <p:nvPr/>
        </p:nvSpPr>
        <p:spPr>
          <a:xfrm>
            <a:off x="10389312" y="2202616"/>
            <a:ext cx="695265" cy="4934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yes</a:t>
            </a:r>
          </a:p>
        </p:txBody>
      </p:sp>
      <p:sp>
        <p:nvSpPr>
          <p:cNvPr id="472" name="Shape 472"/>
          <p:cNvSpPr txBox="1"/>
          <p:nvPr/>
        </p:nvSpPr>
        <p:spPr>
          <a:xfrm>
            <a:off x="8658374" y="3503271"/>
            <a:ext cx="477812" cy="4934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no</a:t>
            </a:r>
          </a:p>
        </p:txBody>
      </p:sp>
      <p:cxnSp>
        <p:nvCxnSpPr>
          <p:cNvPr id="473" name="Shape 473"/>
          <p:cNvCxnSpPr/>
          <p:nvPr/>
        </p:nvCxnSpPr>
        <p:spPr>
          <a:xfrm rot="10800000">
            <a:off x="15139225" y="2955278"/>
            <a:ext cx="33637" cy="3955201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474" name="Shape 474"/>
          <p:cNvCxnSpPr/>
          <p:nvPr/>
        </p:nvCxnSpPr>
        <p:spPr>
          <a:xfrm rot="10800000">
            <a:off x="9378748" y="1716348"/>
            <a:ext cx="4237" cy="606802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475" name="Shape 475"/>
          <p:cNvCxnSpPr/>
          <p:nvPr/>
        </p:nvCxnSpPr>
        <p:spPr>
          <a:xfrm rot="10800000" flipH="1">
            <a:off x="9382986" y="6743717"/>
            <a:ext cx="16686" cy="658714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476" name="Shape 476"/>
          <p:cNvSpPr txBox="1"/>
          <p:nvPr/>
        </p:nvSpPr>
        <p:spPr>
          <a:xfrm>
            <a:off x="7807624" y="7377204"/>
            <a:ext cx="3061023" cy="852065"/>
          </a:xfrm>
          <a:prstGeom prst="rect">
            <a:avLst/>
          </a:prstGeom>
          <a:noFill/>
          <a:ln w="508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3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print('All Done')</a:t>
            </a:r>
          </a:p>
        </p:txBody>
      </p:sp>
      <p:sp>
        <p:nvSpPr>
          <p:cNvPr id="477" name="Shape 477"/>
          <p:cNvSpPr/>
          <p:nvPr/>
        </p:nvSpPr>
        <p:spPr>
          <a:xfrm>
            <a:off x="7785199" y="4002229"/>
            <a:ext cx="3139423" cy="1300743"/>
          </a:xfrm>
          <a:prstGeom prst="diamond">
            <a:avLst/>
          </a:prstGeom>
          <a:noFill/>
          <a:ln w="508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7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x &lt; 10</a:t>
            </a:r>
          </a:p>
        </p:txBody>
      </p:sp>
      <p:sp>
        <p:nvSpPr>
          <p:cNvPr id="478" name="Shape 478"/>
          <p:cNvSpPr txBox="1"/>
          <p:nvPr/>
        </p:nvSpPr>
        <p:spPr>
          <a:xfrm>
            <a:off x="11541401" y="4091929"/>
            <a:ext cx="3061023" cy="1121165"/>
          </a:xfrm>
          <a:prstGeom prst="rect">
            <a:avLst/>
          </a:prstGeom>
          <a:noFill/>
          <a:ln w="508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print('Medium')</a:t>
            </a:r>
          </a:p>
        </p:txBody>
      </p:sp>
      <p:cxnSp>
        <p:nvCxnSpPr>
          <p:cNvPr id="479" name="Shape 479"/>
          <p:cNvCxnSpPr/>
          <p:nvPr/>
        </p:nvCxnSpPr>
        <p:spPr>
          <a:xfrm rot="10800000">
            <a:off x="10975155" y="4655359"/>
            <a:ext cx="528401" cy="0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480" name="Shape 480"/>
          <p:cNvSpPr txBox="1"/>
          <p:nvPr/>
        </p:nvSpPr>
        <p:spPr>
          <a:xfrm>
            <a:off x="10523862" y="3974197"/>
            <a:ext cx="773062" cy="4934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yes</a:t>
            </a:r>
          </a:p>
        </p:txBody>
      </p:sp>
      <p:cxnSp>
        <p:nvCxnSpPr>
          <p:cNvPr id="481" name="Shape 481"/>
          <p:cNvCxnSpPr/>
          <p:nvPr/>
        </p:nvCxnSpPr>
        <p:spPr>
          <a:xfrm rot="10800000">
            <a:off x="14652870" y="2939840"/>
            <a:ext cx="528401" cy="0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482" name="Shape 482"/>
          <p:cNvCxnSpPr/>
          <p:nvPr/>
        </p:nvCxnSpPr>
        <p:spPr>
          <a:xfrm rot="10800000">
            <a:off x="14619232" y="4644147"/>
            <a:ext cx="528401" cy="0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483" name="Shape 483"/>
          <p:cNvCxnSpPr/>
          <p:nvPr/>
        </p:nvCxnSpPr>
        <p:spPr>
          <a:xfrm rot="10800000">
            <a:off x="9338212" y="3578833"/>
            <a:ext cx="1324" cy="497678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484" name="Shape 484"/>
          <p:cNvSpPr txBox="1"/>
          <p:nvPr/>
        </p:nvSpPr>
        <p:spPr>
          <a:xfrm>
            <a:off x="7818837" y="5616835"/>
            <a:ext cx="3061023" cy="1121165"/>
          </a:xfrm>
          <a:prstGeom prst="rect">
            <a:avLst/>
          </a:prstGeom>
          <a:noFill/>
          <a:ln w="508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print('LARGE')</a:t>
            </a:r>
          </a:p>
        </p:txBody>
      </p:sp>
      <p:cxnSp>
        <p:nvCxnSpPr>
          <p:cNvPr id="485" name="Shape 485"/>
          <p:cNvCxnSpPr/>
          <p:nvPr/>
        </p:nvCxnSpPr>
        <p:spPr>
          <a:xfrm rot="10800000" flipH="1">
            <a:off x="9384387" y="5295942"/>
            <a:ext cx="4237" cy="361538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486" name="Shape 486"/>
          <p:cNvSpPr txBox="1"/>
          <p:nvPr/>
        </p:nvSpPr>
        <p:spPr>
          <a:xfrm>
            <a:off x="8478974" y="5073027"/>
            <a:ext cx="477812" cy="4934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3690197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Shape 465"/>
          <p:cNvSpPr txBox="1">
            <a:spLocks noGrp="1"/>
          </p:cNvSpPr>
          <p:nvPr>
            <p:ph type="title"/>
          </p:nvPr>
        </p:nvSpPr>
        <p:spPr>
          <a:xfrm>
            <a:off x="1155700" y="745588"/>
            <a:ext cx="5759363" cy="1794312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7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Multi-way</a:t>
            </a:r>
          </a:p>
        </p:txBody>
      </p:sp>
      <p:sp>
        <p:nvSpPr>
          <p:cNvPr id="466" name="Shape 466"/>
          <p:cNvSpPr txBox="1"/>
          <p:nvPr/>
        </p:nvSpPr>
        <p:spPr>
          <a:xfrm>
            <a:off x="1023921" y="2933700"/>
            <a:ext cx="5102699" cy="4457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x = 0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C000"/>
                </a:solidFill>
                <a:latin typeface="Courier"/>
                <a:ea typeface="Courier"/>
                <a:cs typeface="Courier"/>
                <a:sym typeface="Courier New"/>
              </a:rPr>
              <a:t>if x &lt; 2 :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3000" i="0" u="none" strike="noStrike" cap="none" dirty="0">
                <a:solidFill>
                  <a:srgbClr val="FFC000"/>
                </a:solidFill>
                <a:latin typeface="Courier"/>
                <a:ea typeface="Courier"/>
                <a:cs typeface="Courier"/>
                <a:sym typeface="Courier New"/>
              </a:rPr>
              <a:t>    print('</a:t>
            </a:r>
            <a:r>
              <a:rPr lang="en-US" sz="3000" dirty="0">
                <a:solidFill>
                  <a:srgbClr val="FFC000"/>
                </a:solidFill>
                <a:latin typeface="Courier"/>
                <a:ea typeface="Courier"/>
                <a:cs typeface="Courier"/>
                <a:sym typeface="Courier New"/>
              </a:rPr>
              <a:t>s</a:t>
            </a:r>
            <a:r>
              <a:rPr lang="en-US" sz="3000" i="0" u="none" strike="noStrike" cap="none" dirty="0">
                <a:solidFill>
                  <a:srgbClr val="FFC000"/>
                </a:solidFill>
                <a:latin typeface="Courier"/>
                <a:ea typeface="Courier"/>
                <a:cs typeface="Courier"/>
                <a:sym typeface="Courier New"/>
              </a:rPr>
              <a:t>mall'</a:t>
            </a:r>
            <a:r>
              <a:rPr lang="en-US" sz="3000" dirty="0">
                <a:solidFill>
                  <a:srgbClr val="FFC0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i="0" u="none" strike="noStrike" cap="none" dirty="0">
              <a:solidFill>
                <a:srgbClr val="FFC0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elif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x &lt; 10 :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  <a:r>
              <a:rPr lang="en-US" sz="30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Medium'</a:t>
            </a:r>
            <a:r>
              <a:rPr lang="en-US" sz="300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else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: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'LARGE'</a:t>
            </a:r>
            <a:r>
              <a:rPr lang="en-US" sz="300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lvl="0">
              <a:buClr>
                <a:srgbClr val="FFFF00"/>
              </a:buClr>
              <a:buSzPct val="25000"/>
            </a:pPr>
            <a:r>
              <a:rPr lang="en-US" sz="3000" i="0" u="none" strike="noStrike" cap="none" dirty="0">
                <a:solidFill>
                  <a:srgbClr val="FFC0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000" dirty="0">
                <a:solidFill>
                  <a:srgbClr val="FFC000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>
                <a:solidFill>
                  <a:srgbClr val="FFC000"/>
                </a:solidFill>
                <a:latin typeface="Courier"/>
                <a:ea typeface="Courier"/>
                <a:cs typeface="Courier"/>
                <a:sym typeface="Courier New"/>
              </a:rPr>
              <a:t>'All done'</a:t>
            </a:r>
            <a:r>
              <a:rPr lang="en-US" sz="3000" dirty="0">
                <a:solidFill>
                  <a:srgbClr val="FFC0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i="0" u="none" strike="noStrike" cap="none" dirty="0">
              <a:solidFill>
                <a:srgbClr val="FFC000"/>
              </a:solidFill>
              <a:latin typeface="Courier"/>
              <a:ea typeface="Courier"/>
              <a:cs typeface="Courier"/>
              <a:sym typeface="Courier New"/>
            </a:endParaRPr>
          </a:p>
        </p:txBody>
      </p:sp>
      <p:sp>
        <p:nvSpPr>
          <p:cNvPr id="467" name="Shape 467"/>
          <p:cNvSpPr/>
          <p:nvPr/>
        </p:nvSpPr>
        <p:spPr>
          <a:xfrm>
            <a:off x="7794315" y="2283417"/>
            <a:ext cx="3139423" cy="1300743"/>
          </a:xfrm>
          <a:prstGeom prst="diamond">
            <a:avLst/>
          </a:prstGeom>
          <a:noFill/>
          <a:ln w="50800" cap="rnd" cmpd="sng">
            <a:solidFill>
              <a:srgbClr val="FFC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7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x &lt; 2</a:t>
            </a:r>
          </a:p>
        </p:txBody>
      </p:sp>
      <p:sp>
        <p:nvSpPr>
          <p:cNvPr id="468" name="Shape 468"/>
          <p:cNvSpPr txBox="1"/>
          <p:nvPr/>
        </p:nvSpPr>
        <p:spPr>
          <a:xfrm>
            <a:off x="11550516" y="2373117"/>
            <a:ext cx="3061023" cy="1121165"/>
          </a:xfrm>
          <a:prstGeom prst="rect">
            <a:avLst/>
          </a:prstGeom>
          <a:noFill/>
          <a:ln w="50800" cap="rnd" cmpd="sng">
            <a:solidFill>
              <a:srgbClr val="FFC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print('</a:t>
            </a:r>
            <a:r>
              <a:rPr lang="en-US" sz="32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</a:t>
            </a: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mall')</a:t>
            </a:r>
          </a:p>
        </p:txBody>
      </p:sp>
      <p:cxnSp>
        <p:nvCxnSpPr>
          <p:cNvPr id="469" name="Shape 469"/>
          <p:cNvCxnSpPr/>
          <p:nvPr/>
        </p:nvCxnSpPr>
        <p:spPr>
          <a:xfrm rot="10800000">
            <a:off x="10984271" y="2936547"/>
            <a:ext cx="528401" cy="0"/>
          </a:xfrm>
          <a:prstGeom prst="straightConnector1">
            <a:avLst/>
          </a:prstGeom>
          <a:noFill/>
          <a:ln w="63500" cap="rnd" cmpd="sng">
            <a:solidFill>
              <a:srgbClr val="FFC0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470" name="Shape 470"/>
          <p:cNvCxnSpPr/>
          <p:nvPr/>
        </p:nvCxnSpPr>
        <p:spPr>
          <a:xfrm rot="10800000" flipH="1">
            <a:off x="9425739" y="6890358"/>
            <a:ext cx="5728196" cy="91113"/>
          </a:xfrm>
          <a:prstGeom prst="straightConnector1">
            <a:avLst/>
          </a:prstGeom>
          <a:noFill/>
          <a:ln w="63500" cap="rnd" cmpd="sng">
            <a:solidFill>
              <a:srgbClr val="FFC0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471" name="Shape 471"/>
          <p:cNvSpPr txBox="1"/>
          <p:nvPr/>
        </p:nvSpPr>
        <p:spPr>
          <a:xfrm>
            <a:off x="10387215" y="2199323"/>
            <a:ext cx="695265" cy="4934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yes</a:t>
            </a:r>
          </a:p>
        </p:txBody>
      </p:sp>
      <p:sp>
        <p:nvSpPr>
          <p:cNvPr id="472" name="Shape 472"/>
          <p:cNvSpPr txBox="1"/>
          <p:nvPr/>
        </p:nvSpPr>
        <p:spPr>
          <a:xfrm>
            <a:off x="8656277" y="3499978"/>
            <a:ext cx="477812" cy="4934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no</a:t>
            </a:r>
          </a:p>
        </p:txBody>
      </p:sp>
      <p:cxnSp>
        <p:nvCxnSpPr>
          <p:cNvPr id="473" name="Shape 473"/>
          <p:cNvCxnSpPr/>
          <p:nvPr/>
        </p:nvCxnSpPr>
        <p:spPr>
          <a:xfrm rot="10800000">
            <a:off x="15137128" y="2951985"/>
            <a:ext cx="33637" cy="3955201"/>
          </a:xfrm>
          <a:prstGeom prst="straightConnector1">
            <a:avLst/>
          </a:prstGeom>
          <a:noFill/>
          <a:ln w="63500" cap="rnd" cmpd="sng">
            <a:solidFill>
              <a:srgbClr val="FFC0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474" name="Shape 474"/>
          <p:cNvCxnSpPr/>
          <p:nvPr/>
        </p:nvCxnSpPr>
        <p:spPr>
          <a:xfrm rot="10800000">
            <a:off x="9376651" y="1713055"/>
            <a:ext cx="4237" cy="606802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475" name="Shape 475"/>
          <p:cNvCxnSpPr/>
          <p:nvPr/>
        </p:nvCxnSpPr>
        <p:spPr>
          <a:xfrm rot="10800000" flipH="1">
            <a:off x="9380889" y="6740424"/>
            <a:ext cx="16686" cy="658714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476" name="Shape 476"/>
          <p:cNvSpPr txBox="1"/>
          <p:nvPr/>
        </p:nvSpPr>
        <p:spPr>
          <a:xfrm>
            <a:off x="7805527" y="7373911"/>
            <a:ext cx="3061023" cy="852065"/>
          </a:xfrm>
          <a:prstGeom prst="rect">
            <a:avLst/>
          </a:prstGeom>
          <a:noFill/>
          <a:ln w="50800" cap="rnd" cmpd="sng">
            <a:solidFill>
              <a:srgbClr val="FFC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3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print('All Done')</a:t>
            </a:r>
          </a:p>
        </p:txBody>
      </p:sp>
      <p:sp>
        <p:nvSpPr>
          <p:cNvPr id="477" name="Shape 477"/>
          <p:cNvSpPr/>
          <p:nvPr/>
        </p:nvSpPr>
        <p:spPr>
          <a:xfrm>
            <a:off x="7783102" y="3998936"/>
            <a:ext cx="3139423" cy="1300743"/>
          </a:xfrm>
          <a:prstGeom prst="diamond">
            <a:avLst/>
          </a:prstGeom>
          <a:noFill/>
          <a:ln w="508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7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x &lt; 10</a:t>
            </a:r>
          </a:p>
        </p:txBody>
      </p:sp>
      <p:sp>
        <p:nvSpPr>
          <p:cNvPr id="478" name="Shape 478"/>
          <p:cNvSpPr txBox="1"/>
          <p:nvPr/>
        </p:nvSpPr>
        <p:spPr>
          <a:xfrm>
            <a:off x="11539304" y="4088636"/>
            <a:ext cx="3061023" cy="1121165"/>
          </a:xfrm>
          <a:prstGeom prst="rect">
            <a:avLst/>
          </a:prstGeom>
          <a:noFill/>
          <a:ln w="508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print('Medium')</a:t>
            </a:r>
          </a:p>
        </p:txBody>
      </p:sp>
      <p:cxnSp>
        <p:nvCxnSpPr>
          <p:cNvPr id="479" name="Shape 479"/>
          <p:cNvCxnSpPr/>
          <p:nvPr/>
        </p:nvCxnSpPr>
        <p:spPr>
          <a:xfrm rot="10800000">
            <a:off x="10973058" y="4652066"/>
            <a:ext cx="528401" cy="0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480" name="Shape 480"/>
          <p:cNvSpPr txBox="1"/>
          <p:nvPr/>
        </p:nvSpPr>
        <p:spPr>
          <a:xfrm>
            <a:off x="10521765" y="3970904"/>
            <a:ext cx="773062" cy="4934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yes</a:t>
            </a:r>
          </a:p>
        </p:txBody>
      </p:sp>
      <p:cxnSp>
        <p:nvCxnSpPr>
          <p:cNvPr id="481" name="Shape 481"/>
          <p:cNvCxnSpPr/>
          <p:nvPr/>
        </p:nvCxnSpPr>
        <p:spPr>
          <a:xfrm rot="10800000">
            <a:off x="14650773" y="2936547"/>
            <a:ext cx="528401" cy="0"/>
          </a:xfrm>
          <a:prstGeom prst="straightConnector1">
            <a:avLst/>
          </a:prstGeom>
          <a:noFill/>
          <a:ln w="63500" cap="rnd" cmpd="sng">
            <a:solidFill>
              <a:srgbClr val="FFC0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482" name="Shape 482"/>
          <p:cNvCxnSpPr/>
          <p:nvPr/>
        </p:nvCxnSpPr>
        <p:spPr>
          <a:xfrm rot="10800000">
            <a:off x="14617135" y="4640854"/>
            <a:ext cx="528401" cy="0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483" name="Shape 483"/>
          <p:cNvCxnSpPr/>
          <p:nvPr/>
        </p:nvCxnSpPr>
        <p:spPr>
          <a:xfrm rot="10800000">
            <a:off x="9336115" y="3575540"/>
            <a:ext cx="1324" cy="497678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484" name="Shape 484"/>
          <p:cNvSpPr txBox="1"/>
          <p:nvPr/>
        </p:nvSpPr>
        <p:spPr>
          <a:xfrm>
            <a:off x="7816740" y="5613542"/>
            <a:ext cx="3061023" cy="1121165"/>
          </a:xfrm>
          <a:prstGeom prst="rect">
            <a:avLst/>
          </a:prstGeom>
          <a:noFill/>
          <a:ln w="508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print('LARGE')</a:t>
            </a:r>
          </a:p>
        </p:txBody>
      </p:sp>
      <p:cxnSp>
        <p:nvCxnSpPr>
          <p:cNvPr id="485" name="Shape 485"/>
          <p:cNvCxnSpPr/>
          <p:nvPr/>
        </p:nvCxnSpPr>
        <p:spPr>
          <a:xfrm rot="10800000" flipH="1">
            <a:off x="9382290" y="5292649"/>
            <a:ext cx="4237" cy="361538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486" name="Shape 486"/>
          <p:cNvSpPr txBox="1"/>
          <p:nvPr/>
        </p:nvSpPr>
        <p:spPr>
          <a:xfrm>
            <a:off x="8476877" y="5069734"/>
            <a:ext cx="477812" cy="4934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no</a:t>
            </a:r>
          </a:p>
        </p:txBody>
      </p:sp>
      <p:sp>
        <p:nvSpPr>
          <p:cNvPr id="24" name="Shape 501"/>
          <p:cNvSpPr txBox="1"/>
          <p:nvPr/>
        </p:nvSpPr>
        <p:spPr>
          <a:xfrm>
            <a:off x="7602488" y="972862"/>
            <a:ext cx="3467099" cy="691062"/>
          </a:xfrm>
          <a:prstGeom prst="rect">
            <a:avLst/>
          </a:prstGeom>
          <a:noFill/>
          <a:ln w="50800" cap="rnd" cmpd="sng">
            <a:solidFill>
              <a:srgbClr val="FF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Cabin"/>
              <a:buNone/>
            </a:pPr>
            <a:r>
              <a:rPr lang="en-US" sz="3600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x</a:t>
            </a:r>
            <a:r>
              <a:rPr lang="en-US" sz="3600" u="none" strike="noStrike" cap="none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= 0</a:t>
            </a:r>
          </a:p>
        </p:txBody>
      </p:sp>
    </p:spTree>
    <p:extLst>
      <p:ext uri="{BB962C8B-B14F-4D97-AF65-F5344CB8AC3E}">
        <p14:creationId xmlns:p14="http://schemas.microsoft.com/office/powerpoint/2010/main" val="110782854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Shape 465"/>
          <p:cNvSpPr txBox="1">
            <a:spLocks noGrp="1"/>
          </p:cNvSpPr>
          <p:nvPr>
            <p:ph type="title"/>
          </p:nvPr>
        </p:nvSpPr>
        <p:spPr>
          <a:xfrm>
            <a:off x="1155700" y="745588"/>
            <a:ext cx="5759363" cy="1794312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7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Multi-way</a:t>
            </a:r>
          </a:p>
        </p:txBody>
      </p:sp>
      <p:sp>
        <p:nvSpPr>
          <p:cNvPr id="466" name="Shape 466"/>
          <p:cNvSpPr txBox="1"/>
          <p:nvPr/>
        </p:nvSpPr>
        <p:spPr>
          <a:xfrm>
            <a:off x="1023921" y="2933700"/>
            <a:ext cx="5102699" cy="4457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>
              <a:buClr>
                <a:srgbClr val="FFFF00"/>
              </a:buClr>
              <a:buSzPct val="25000"/>
            </a:pPr>
            <a:r>
              <a:rPr lang="en-US" sz="3000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x = 5 </a:t>
            </a:r>
            <a:endParaRPr lang="en-US" sz="3000" i="0" u="none" strike="noStrike" cap="none" dirty="0">
              <a:solidFill>
                <a:srgbClr val="00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C000"/>
                </a:solidFill>
                <a:latin typeface="Courier"/>
                <a:ea typeface="Courier"/>
                <a:cs typeface="Courier"/>
                <a:sym typeface="Courier New"/>
              </a:rPr>
              <a:t>if x &lt; 2 :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  <a:r>
              <a:rPr lang="en-US" sz="30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s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mall'</a:t>
            </a:r>
            <a:r>
              <a:rPr lang="en-US" sz="300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 err="1">
                <a:solidFill>
                  <a:srgbClr val="FFC000"/>
                </a:solidFill>
                <a:latin typeface="Courier"/>
                <a:ea typeface="Courier"/>
                <a:cs typeface="Courier"/>
                <a:sym typeface="Courier New"/>
              </a:rPr>
              <a:t>elif</a:t>
            </a:r>
            <a:r>
              <a:rPr lang="en-US" sz="3000" i="0" u="none" strike="noStrike" cap="none" dirty="0">
                <a:solidFill>
                  <a:srgbClr val="FFC000"/>
                </a:solidFill>
                <a:latin typeface="Courier"/>
                <a:ea typeface="Courier"/>
                <a:cs typeface="Courier"/>
                <a:sym typeface="Courier New"/>
              </a:rPr>
              <a:t> x &lt; 10 :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3000" i="0" u="none" strike="noStrike" cap="none" dirty="0">
                <a:solidFill>
                  <a:srgbClr val="FFC000"/>
                </a:solidFill>
                <a:latin typeface="Courier"/>
                <a:ea typeface="Courier"/>
                <a:cs typeface="Courier"/>
                <a:sym typeface="Courier New"/>
              </a:rPr>
              <a:t>    print('</a:t>
            </a:r>
            <a:r>
              <a:rPr lang="en-US" sz="3000" dirty="0">
                <a:solidFill>
                  <a:srgbClr val="FFC000"/>
                </a:solidFill>
                <a:latin typeface="Courier"/>
                <a:ea typeface="Courier"/>
                <a:cs typeface="Courier"/>
                <a:sym typeface="Courier New"/>
              </a:rPr>
              <a:t>Medium')</a:t>
            </a:r>
            <a:endParaRPr lang="en-US" sz="3000" i="0" u="none" strike="noStrike" cap="none" dirty="0">
              <a:solidFill>
                <a:srgbClr val="FFC0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else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: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'LARGE'</a:t>
            </a:r>
            <a:r>
              <a:rPr lang="en-US" sz="300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lvl="0">
              <a:buClr>
                <a:srgbClr val="FFFF00"/>
              </a:buClr>
              <a:buSzPct val="25000"/>
            </a:pPr>
            <a:r>
              <a:rPr lang="en-US" sz="3000" i="0" u="none" strike="noStrike" cap="none" dirty="0">
                <a:solidFill>
                  <a:srgbClr val="FFC0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000" dirty="0">
                <a:solidFill>
                  <a:srgbClr val="FFC000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>
                <a:solidFill>
                  <a:srgbClr val="FFC000"/>
                </a:solidFill>
                <a:latin typeface="Courier"/>
                <a:ea typeface="Courier"/>
                <a:cs typeface="Courier"/>
                <a:sym typeface="Courier New"/>
              </a:rPr>
              <a:t>'All done'</a:t>
            </a:r>
            <a:r>
              <a:rPr lang="en-US" sz="3000" dirty="0">
                <a:solidFill>
                  <a:srgbClr val="FFC0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i="0" u="none" strike="noStrike" cap="none" dirty="0">
              <a:solidFill>
                <a:srgbClr val="FFC000"/>
              </a:solidFill>
              <a:latin typeface="Courier"/>
              <a:ea typeface="Courier"/>
              <a:cs typeface="Courier"/>
              <a:sym typeface="Courier New"/>
            </a:endParaRPr>
          </a:p>
        </p:txBody>
      </p:sp>
      <p:sp>
        <p:nvSpPr>
          <p:cNvPr id="467" name="Shape 467"/>
          <p:cNvSpPr/>
          <p:nvPr/>
        </p:nvSpPr>
        <p:spPr>
          <a:xfrm>
            <a:off x="7788036" y="2276842"/>
            <a:ext cx="3139423" cy="1300743"/>
          </a:xfrm>
          <a:prstGeom prst="diamond">
            <a:avLst/>
          </a:prstGeom>
          <a:noFill/>
          <a:ln w="50800" cap="rnd" cmpd="sng">
            <a:solidFill>
              <a:srgbClr val="FFC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7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x &lt; 2</a:t>
            </a:r>
          </a:p>
        </p:txBody>
      </p:sp>
      <p:sp>
        <p:nvSpPr>
          <p:cNvPr id="468" name="Shape 468"/>
          <p:cNvSpPr txBox="1"/>
          <p:nvPr/>
        </p:nvSpPr>
        <p:spPr>
          <a:xfrm>
            <a:off x="11544237" y="2366542"/>
            <a:ext cx="3061023" cy="1121165"/>
          </a:xfrm>
          <a:prstGeom prst="rect">
            <a:avLst/>
          </a:prstGeom>
          <a:noFill/>
          <a:ln w="508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print('</a:t>
            </a:r>
            <a:r>
              <a:rPr lang="en-US" sz="32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</a:t>
            </a: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mall')</a:t>
            </a:r>
          </a:p>
        </p:txBody>
      </p:sp>
      <p:cxnSp>
        <p:nvCxnSpPr>
          <p:cNvPr id="469" name="Shape 469"/>
          <p:cNvCxnSpPr/>
          <p:nvPr/>
        </p:nvCxnSpPr>
        <p:spPr>
          <a:xfrm rot="10800000">
            <a:off x="10977992" y="2929972"/>
            <a:ext cx="528401" cy="0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470" name="Shape 470"/>
          <p:cNvCxnSpPr/>
          <p:nvPr/>
        </p:nvCxnSpPr>
        <p:spPr>
          <a:xfrm rot="10800000" flipH="1">
            <a:off x="9419460" y="6883783"/>
            <a:ext cx="5728196" cy="91113"/>
          </a:xfrm>
          <a:prstGeom prst="straightConnector1">
            <a:avLst/>
          </a:prstGeom>
          <a:noFill/>
          <a:ln w="63500" cap="rnd" cmpd="sng">
            <a:solidFill>
              <a:srgbClr val="FFC0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471" name="Shape 471"/>
          <p:cNvSpPr txBox="1"/>
          <p:nvPr/>
        </p:nvSpPr>
        <p:spPr>
          <a:xfrm>
            <a:off x="10380936" y="2192748"/>
            <a:ext cx="695265" cy="4934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yes</a:t>
            </a:r>
          </a:p>
        </p:txBody>
      </p:sp>
      <p:sp>
        <p:nvSpPr>
          <p:cNvPr id="472" name="Shape 472"/>
          <p:cNvSpPr txBox="1"/>
          <p:nvPr/>
        </p:nvSpPr>
        <p:spPr>
          <a:xfrm>
            <a:off x="8649998" y="3493403"/>
            <a:ext cx="477812" cy="4934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no</a:t>
            </a:r>
          </a:p>
        </p:txBody>
      </p:sp>
      <p:cxnSp>
        <p:nvCxnSpPr>
          <p:cNvPr id="473" name="Shape 473"/>
          <p:cNvCxnSpPr/>
          <p:nvPr/>
        </p:nvCxnSpPr>
        <p:spPr>
          <a:xfrm rot="10800000">
            <a:off x="15130849" y="2945410"/>
            <a:ext cx="33637" cy="3955201"/>
          </a:xfrm>
          <a:prstGeom prst="straightConnector1">
            <a:avLst/>
          </a:prstGeom>
          <a:noFill/>
          <a:ln w="63500" cap="rnd" cmpd="sng">
            <a:solidFill>
              <a:srgbClr val="FFC0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474" name="Shape 474"/>
          <p:cNvCxnSpPr/>
          <p:nvPr/>
        </p:nvCxnSpPr>
        <p:spPr>
          <a:xfrm rot="10800000">
            <a:off x="9370372" y="1706480"/>
            <a:ext cx="4237" cy="606802"/>
          </a:xfrm>
          <a:prstGeom prst="straightConnector1">
            <a:avLst/>
          </a:prstGeom>
          <a:noFill/>
          <a:ln w="63500" cap="rnd" cmpd="sng">
            <a:solidFill>
              <a:srgbClr val="FFC0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475" name="Shape 475"/>
          <p:cNvCxnSpPr/>
          <p:nvPr/>
        </p:nvCxnSpPr>
        <p:spPr>
          <a:xfrm rot="10800000" flipH="1">
            <a:off x="9374610" y="6733849"/>
            <a:ext cx="16686" cy="658714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476" name="Shape 476"/>
          <p:cNvSpPr txBox="1"/>
          <p:nvPr/>
        </p:nvSpPr>
        <p:spPr>
          <a:xfrm>
            <a:off x="7799248" y="7367336"/>
            <a:ext cx="3061023" cy="852065"/>
          </a:xfrm>
          <a:prstGeom prst="rect">
            <a:avLst/>
          </a:prstGeom>
          <a:noFill/>
          <a:ln w="50800" cap="rnd" cmpd="sng">
            <a:solidFill>
              <a:srgbClr val="FFC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3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print('All Done')</a:t>
            </a:r>
          </a:p>
        </p:txBody>
      </p:sp>
      <p:sp>
        <p:nvSpPr>
          <p:cNvPr id="477" name="Shape 477"/>
          <p:cNvSpPr/>
          <p:nvPr/>
        </p:nvSpPr>
        <p:spPr>
          <a:xfrm>
            <a:off x="7776823" y="3992361"/>
            <a:ext cx="3139423" cy="1300743"/>
          </a:xfrm>
          <a:prstGeom prst="diamond">
            <a:avLst/>
          </a:prstGeom>
          <a:noFill/>
          <a:ln w="50800" cap="rnd" cmpd="sng">
            <a:solidFill>
              <a:srgbClr val="FFC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7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x &lt; 10</a:t>
            </a:r>
          </a:p>
        </p:txBody>
      </p:sp>
      <p:sp>
        <p:nvSpPr>
          <p:cNvPr id="478" name="Shape 478"/>
          <p:cNvSpPr txBox="1"/>
          <p:nvPr/>
        </p:nvSpPr>
        <p:spPr>
          <a:xfrm>
            <a:off x="11533025" y="4082061"/>
            <a:ext cx="3061023" cy="1121165"/>
          </a:xfrm>
          <a:prstGeom prst="rect">
            <a:avLst/>
          </a:prstGeom>
          <a:noFill/>
          <a:ln w="50800" cap="rnd" cmpd="sng">
            <a:solidFill>
              <a:srgbClr val="FFC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print('Medium')</a:t>
            </a:r>
          </a:p>
        </p:txBody>
      </p:sp>
      <p:cxnSp>
        <p:nvCxnSpPr>
          <p:cNvPr id="479" name="Shape 479"/>
          <p:cNvCxnSpPr/>
          <p:nvPr/>
        </p:nvCxnSpPr>
        <p:spPr>
          <a:xfrm rot="10800000">
            <a:off x="10966779" y="4645491"/>
            <a:ext cx="528401" cy="0"/>
          </a:xfrm>
          <a:prstGeom prst="straightConnector1">
            <a:avLst/>
          </a:prstGeom>
          <a:noFill/>
          <a:ln w="63500" cap="rnd" cmpd="sng">
            <a:solidFill>
              <a:srgbClr val="FFC0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480" name="Shape 480"/>
          <p:cNvSpPr txBox="1"/>
          <p:nvPr/>
        </p:nvSpPr>
        <p:spPr>
          <a:xfrm>
            <a:off x="10515486" y="3964329"/>
            <a:ext cx="773062" cy="4934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yes</a:t>
            </a:r>
          </a:p>
        </p:txBody>
      </p:sp>
      <p:cxnSp>
        <p:nvCxnSpPr>
          <p:cNvPr id="481" name="Shape 481"/>
          <p:cNvCxnSpPr/>
          <p:nvPr/>
        </p:nvCxnSpPr>
        <p:spPr>
          <a:xfrm rot="10800000">
            <a:off x="14644494" y="2929972"/>
            <a:ext cx="528401" cy="0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482" name="Shape 482"/>
          <p:cNvCxnSpPr/>
          <p:nvPr/>
        </p:nvCxnSpPr>
        <p:spPr>
          <a:xfrm rot="10800000">
            <a:off x="14610856" y="4634279"/>
            <a:ext cx="528401" cy="0"/>
          </a:xfrm>
          <a:prstGeom prst="straightConnector1">
            <a:avLst/>
          </a:prstGeom>
          <a:noFill/>
          <a:ln w="63500" cap="rnd" cmpd="sng">
            <a:solidFill>
              <a:srgbClr val="FFC0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483" name="Shape 483"/>
          <p:cNvCxnSpPr/>
          <p:nvPr/>
        </p:nvCxnSpPr>
        <p:spPr>
          <a:xfrm rot="10800000">
            <a:off x="9329836" y="3568965"/>
            <a:ext cx="1324" cy="497678"/>
          </a:xfrm>
          <a:prstGeom prst="straightConnector1">
            <a:avLst/>
          </a:prstGeom>
          <a:noFill/>
          <a:ln w="63500" cap="rnd" cmpd="sng">
            <a:solidFill>
              <a:srgbClr val="FFC0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484" name="Shape 484"/>
          <p:cNvSpPr txBox="1"/>
          <p:nvPr/>
        </p:nvSpPr>
        <p:spPr>
          <a:xfrm>
            <a:off x="7810461" y="5606967"/>
            <a:ext cx="3061023" cy="1121165"/>
          </a:xfrm>
          <a:prstGeom prst="rect">
            <a:avLst/>
          </a:prstGeom>
          <a:noFill/>
          <a:ln w="508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print('LARGE')</a:t>
            </a:r>
          </a:p>
        </p:txBody>
      </p:sp>
      <p:cxnSp>
        <p:nvCxnSpPr>
          <p:cNvPr id="485" name="Shape 485"/>
          <p:cNvCxnSpPr/>
          <p:nvPr/>
        </p:nvCxnSpPr>
        <p:spPr>
          <a:xfrm rot="10800000" flipH="1">
            <a:off x="9376011" y="5286074"/>
            <a:ext cx="4237" cy="361538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486" name="Shape 486"/>
          <p:cNvSpPr txBox="1"/>
          <p:nvPr/>
        </p:nvSpPr>
        <p:spPr>
          <a:xfrm>
            <a:off x="8470598" y="5063159"/>
            <a:ext cx="477812" cy="4934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no</a:t>
            </a:r>
          </a:p>
        </p:txBody>
      </p:sp>
      <p:sp>
        <p:nvSpPr>
          <p:cNvPr id="24" name="Shape 501"/>
          <p:cNvSpPr txBox="1"/>
          <p:nvPr/>
        </p:nvSpPr>
        <p:spPr>
          <a:xfrm>
            <a:off x="7596209" y="966287"/>
            <a:ext cx="3467099" cy="691062"/>
          </a:xfrm>
          <a:prstGeom prst="rect">
            <a:avLst/>
          </a:prstGeom>
          <a:noFill/>
          <a:ln w="50800" cap="rnd" cmpd="sng">
            <a:solidFill>
              <a:srgbClr val="FF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Cabin"/>
              <a:buNone/>
            </a:pPr>
            <a:r>
              <a:rPr lang="en-US" sz="3600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x</a:t>
            </a:r>
            <a:r>
              <a:rPr lang="en-US" sz="3600" u="none" strike="noStrike" cap="none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= 5</a:t>
            </a:r>
          </a:p>
        </p:txBody>
      </p:sp>
    </p:spTree>
    <p:extLst>
      <p:ext uri="{BB962C8B-B14F-4D97-AF65-F5344CB8AC3E}">
        <p14:creationId xmlns:p14="http://schemas.microsoft.com/office/powerpoint/2010/main" val="411858809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Shape 465"/>
          <p:cNvSpPr txBox="1">
            <a:spLocks noGrp="1"/>
          </p:cNvSpPr>
          <p:nvPr>
            <p:ph type="title"/>
          </p:nvPr>
        </p:nvSpPr>
        <p:spPr>
          <a:xfrm>
            <a:off x="1155700" y="745588"/>
            <a:ext cx="5759363" cy="1794312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7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Multi-way</a:t>
            </a:r>
          </a:p>
        </p:txBody>
      </p:sp>
      <p:sp>
        <p:nvSpPr>
          <p:cNvPr id="466" name="Shape 466"/>
          <p:cNvSpPr txBox="1"/>
          <p:nvPr/>
        </p:nvSpPr>
        <p:spPr>
          <a:xfrm>
            <a:off x="1033161" y="2935664"/>
            <a:ext cx="5102699" cy="4457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>
              <a:buClr>
                <a:srgbClr val="FFFF00"/>
              </a:buClr>
              <a:buSzPct val="25000"/>
            </a:pPr>
            <a:r>
              <a:rPr lang="en-US" sz="3000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x = 20</a:t>
            </a:r>
            <a:endParaRPr lang="en-US" sz="3000" i="0" u="none" strike="noStrike" cap="none" dirty="0">
              <a:solidFill>
                <a:srgbClr val="00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C000"/>
                </a:solidFill>
                <a:latin typeface="Courier"/>
                <a:ea typeface="Courier"/>
                <a:cs typeface="Courier"/>
                <a:sym typeface="Courier New"/>
              </a:rPr>
              <a:t>if x &lt; 2 :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  <a:r>
              <a:rPr lang="en-US" sz="30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s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mall'</a:t>
            </a:r>
            <a:r>
              <a:rPr lang="en-US" sz="300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 err="1">
                <a:solidFill>
                  <a:srgbClr val="FFC000"/>
                </a:solidFill>
                <a:latin typeface="Courier"/>
                <a:ea typeface="Courier"/>
                <a:cs typeface="Courier"/>
                <a:sym typeface="Courier New"/>
              </a:rPr>
              <a:t>elif</a:t>
            </a:r>
            <a:r>
              <a:rPr lang="en-US" sz="3000" i="0" u="none" strike="noStrike" cap="none" dirty="0">
                <a:solidFill>
                  <a:srgbClr val="FFC000"/>
                </a:solidFill>
                <a:latin typeface="Courier"/>
                <a:ea typeface="Courier"/>
                <a:cs typeface="Courier"/>
                <a:sym typeface="Courier New"/>
              </a:rPr>
              <a:t> x &lt; 10 :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  <a:r>
              <a:rPr lang="en-US" sz="30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Medium'</a:t>
            </a:r>
            <a:r>
              <a:rPr lang="en-US" sz="300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C000"/>
                </a:solidFill>
                <a:latin typeface="Courier"/>
                <a:ea typeface="Courier"/>
                <a:cs typeface="Courier"/>
                <a:sym typeface="Courier New"/>
              </a:rPr>
              <a:t>else :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3000" i="0" u="none" strike="noStrike" cap="none" dirty="0">
                <a:solidFill>
                  <a:srgbClr val="FFC000"/>
                </a:solidFill>
                <a:latin typeface="Courier"/>
                <a:ea typeface="Courier"/>
                <a:cs typeface="Courier"/>
                <a:sym typeface="Courier New"/>
              </a:rPr>
              <a:t>    print('LARGE'</a:t>
            </a:r>
            <a:r>
              <a:rPr lang="en-US" sz="3000" dirty="0">
                <a:solidFill>
                  <a:srgbClr val="FFC0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i="0" u="none" strike="noStrike" cap="none" dirty="0">
              <a:solidFill>
                <a:srgbClr val="FFC0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lvl="0">
              <a:buClr>
                <a:srgbClr val="FFFF00"/>
              </a:buClr>
              <a:buSzPct val="25000"/>
            </a:pPr>
            <a:r>
              <a:rPr lang="en-US" sz="3000" i="0" u="none" strike="noStrike" cap="none" dirty="0">
                <a:solidFill>
                  <a:srgbClr val="FFC0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000" dirty="0">
                <a:solidFill>
                  <a:srgbClr val="FFC000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>
                <a:solidFill>
                  <a:srgbClr val="FFC000"/>
                </a:solidFill>
                <a:latin typeface="Courier"/>
                <a:ea typeface="Courier"/>
                <a:cs typeface="Courier"/>
                <a:sym typeface="Courier New"/>
              </a:rPr>
              <a:t>'All done'</a:t>
            </a:r>
            <a:r>
              <a:rPr lang="en-US" sz="3000" b="1" dirty="0">
                <a:solidFill>
                  <a:srgbClr val="FFC0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b="1" i="0" u="none" strike="noStrike" cap="none" dirty="0">
              <a:solidFill>
                <a:srgbClr val="FFC000"/>
              </a:solidFill>
              <a:latin typeface="Courier"/>
              <a:ea typeface="Courier"/>
              <a:cs typeface="Courier"/>
              <a:sym typeface="Courier New"/>
            </a:endParaRPr>
          </a:p>
        </p:txBody>
      </p:sp>
      <p:sp>
        <p:nvSpPr>
          <p:cNvPr id="467" name="Shape 467"/>
          <p:cNvSpPr/>
          <p:nvPr/>
        </p:nvSpPr>
        <p:spPr>
          <a:xfrm>
            <a:off x="7776941" y="2267096"/>
            <a:ext cx="3139423" cy="1300743"/>
          </a:xfrm>
          <a:prstGeom prst="diamond">
            <a:avLst/>
          </a:prstGeom>
          <a:noFill/>
          <a:ln w="50800" cap="rnd" cmpd="sng">
            <a:solidFill>
              <a:srgbClr val="FFC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7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x &lt; 2</a:t>
            </a:r>
          </a:p>
        </p:txBody>
      </p:sp>
      <p:sp>
        <p:nvSpPr>
          <p:cNvPr id="468" name="Shape 468"/>
          <p:cNvSpPr txBox="1"/>
          <p:nvPr/>
        </p:nvSpPr>
        <p:spPr>
          <a:xfrm>
            <a:off x="11533142" y="2356796"/>
            <a:ext cx="3061023" cy="1121165"/>
          </a:xfrm>
          <a:prstGeom prst="rect">
            <a:avLst/>
          </a:prstGeom>
          <a:noFill/>
          <a:ln w="508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print('</a:t>
            </a:r>
            <a:r>
              <a:rPr lang="en-US" sz="32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</a:t>
            </a: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mall')</a:t>
            </a:r>
          </a:p>
        </p:txBody>
      </p:sp>
      <p:cxnSp>
        <p:nvCxnSpPr>
          <p:cNvPr id="469" name="Shape 469"/>
          <p:cNvCxnSpPr/>
          <p:nvPr/>
        </p:nvCxnSpPr>
        <p:spPr>
          <a:xfrm rot="10800000">
            <a:off x="10966897" y="2920226"/>
            <a:ext cx="528401" cy="0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470" name="Shape 470"/>
          <p:cNvCxnSpPr/>
          <p:nvPr/>
        </p:nvCxnSpPr>
        <p:spPr>
          <a:xfrm rot="10800000" flipH="1">
            <a:off x="9408365" y="6874037"/>
            <a:ext cx="5728196" cy="91113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471" name="Shape 471"/>
          <p:cNvSpPr txBox="1"/>
          <p:nvPr/>
        </p:nvSpPr>
        <p:spPr>
          <a:xfrm>
            <a:off x="10369841" y="2183002"/>
            <a:ext cx="695265" cy="4934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yes</a:t>
            </a:r>
          </a:p>
        </p:txBody>
      </p:sp>
      <p:sp>
        <p:nvSpPr>
          <p:cNvPr id="472" name="Shape 472"/>
          <p:cNvSpPr txBox="1"/>
          <p:nvPr/>
        </p:nvSpPr>
        <p:spPr>
          <a:xfrm>
            <a:off x="8638903" y="3483657"/>
            <a:ext cx="477812" cy="4934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no</a:t>
            </a:r>
          </a:p>
        </p:txBody>
      </p:sp>
      <p:cxnSp>
        <p:nvCxnSpPr>
          <p:cNvPr id="473" name="Shape 473"/>
          <p:cNvCxnSpPr/>
          <p:nvPr/>
        </p:nvCxnSpPr>
        <p:spPr>
          <a:xfrm rot="10800000">
            <a:off x="15119754" y="2935664"/>
            <a:ext cx="33637" cy="3955201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474" name="Shape 474"/>
          <p:cNvCxnSpPr/>
          <p:nvPr/>
        </p:nvCxnSpPr>
        <p:spPr>
          <a:xfrm rot="10800000">
            <a:off x="9359277" y="1696734"/>
            <a:ext cx="4237" cy="606802"/>
          </a:xfrm>
          <a:prstGeom prst="straightConnector1">
            <a:avLst/>
          </a:prstGeom>
          <a:noFill/>
          <a:ln w="63500" cap="rnd" cmpd="sng">
            <a:solidFill>
              <a:srgbClr val="FFC0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475" name="Shape 475"/>
          <p:cNvCxnSpPr/>
          <p:nvPr/>
        </p:nvCxnSpPr>
        <p:spPr>
          <a:xfrm rot="10800000" flipH="1">
            <a:off x="9363515" y="6724103"/>
            <a:ext cx="16686" cy="658714"/>
          </a:xfrm>
          <a:prstGeom prst="straightConnector1">
            <a:avLst/>
          </a:prstGeom>
          <a:noFill/>
          <a:ln w="63500" cap="rnd" cmpd="sng">
            <a:solidFill>
              <a:srgbClr val="FFC0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476" name="Shape 476"/>
          <p:cNvSpPr txBox="1"/>
          <p:nvPr/>
        </p:nvSpPr>
        <p:spPr>
          <a:xfrm>
            <a:off x="7788153" y="7357590"/>
            <a:ext cx="3061023" cy="852065"/>
          </a:xfrm>
          <a:prstGeom prst="rect">
            <a:avLst/>
          </a:prstGeom>
          <a:noFill/>
          <a:ln w="50800" cap="rnd" cmpd="sng">
            <a:solidFill>
              <a:srgbClr val="FFC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3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print('All Done')</a:t>
            </a:r>
          </a:p>
        </p:txBody>
      </p:sp>
      <p:sp>
        <p:nvSpPr>
          <p:cNvPr id="477" name="Shape 477"/>
          <p:cNvSpPr/>
          <p:nvPr/>
        </p:nvSpPr>
        <p:spPr>
          <a:xfrm>
            <a:off x="7765728" y="3982615"/>
            <a:ext cx="3139423" cy="1300743"/>
          </a:xfrm>
          <a:prstGeom prst="diamond">
            <a:avLst/>
          </a:prstGeom>
          <a:noFill/>
          <a:ln w="50800" cap="rnd" cmpd="sng">
            <a:solidFill>
              <a:srgbClr val="FFC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7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x &lt; 10</a:t>
            </a:r>
          </a:p>
        </p:txBody>
      </p:sp>
      <p:sp>
        <p:nvSpPr>
          <p:cNvPr id="478" name="Shape 478"/>
          <p:cNvSpPr txBox="1"/>
          <p:nvPr/>
        </p:nvSpPr>
        <p:spPr>
          <a:xfrm>
            <a:off x="11521930" y="4072315"/>
            <a:ext cx="3061023" cy="1121165"/>
          </a:xfrm>
          <a:prstGeom prst="rect">
            <a:avLst/>
          </a:prstGeom>
          <a:noFill/>
          <a:ln w="508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print('Medium')</a:t>
            </a:r>
          </a:p>
        </p:txBody>
      </p:sp>
      <p:cxnSp>
        <p:nvCxnSpPr>
          <p:cNvPr id="479" name="Shape 479"/>
          <p:cNvCxnSpPr/>
          <p:nvPr/>
        </p:nvCxnSpPr>
        <p:spPr>
          <a:xfrm rot="10800000">
            <a:off x="10955684" y="4635745"/>
            <a:ext cx="528401" cy="0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480" name="Shape 480"/>
          <p:cNvSpPr txBox="1"/>
          <p:nvPr/>
        </p:nvSpPr>
        <p:spPr>
          <a:xfrm>
            <a:off x="10504391" y="3954583"/>
            <a:ext cx="773062" cy="4934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yes</a:t>
            </a:r>
          </a:p>
        </p:txBody>
      </p:sp>
      <p:cxnSp>
        <p:nvCxnSpPr>
          <p:cNvPr id="481" name="Shape 481"/>
          <p:cNvCxnSpPr/>
          <p:nvPr/>
        </p:nvCxnSpPr>
        <p:spPr>
          <a:xfrm rot="10800000">
            <a:off x="14633399" y="2920226"/>
            <a:ext cx="528401" cy="0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482" name="Shape 482"/>
          <p:cNvCxnSpPr/>
          <p:nvPr/>
        </p:nvCxnSpPr>
        <p:spPr>
          <a:xfrm rot="10800000">
            <a:off x="14599761" y="4624533"/>
            <a:ext cx="528401" cy="0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483" name="Shape 483"/>
          <p:cNvCxnSpPr/>
          <p:nvPr/>
        </p:nvCxnSpPr>
        <p:spPr>
          <a:xfrm rot="10800000">
            <a:off x="9318741" y="3559219"/>
            <a:ext cx="1324" cy="497678"/>
          </a:xfrm>
          <a:prstGeom prst="straightConnector1">
            <a:avLst/>
          </a:prstGeom>
          <a:noFill/>
          <a:ln w="63500" cap="rnd" cmpd="sng">
            <a:solidFill>
              <a:srgbClr val="FFC0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484" name="Shape 484"/>
          <p:cNvSpPr txBox="1"/>
          <p:nvPr/>
        </p:nvSpPr>
        <p:spPr>
          <a:xfrm>
            <a:off x="7799366" y="5597221"/>
            <a:ext cx="3061023" cy="1121165"/>
          </a:xfrm>
          <a:prstGeom prst="rect">
            <a:avLst/>
          </a:prstGeom>
          <a:noFill/>
          <a:ln w="50800" cap="rnd" cmpd="sng">
            <a:solidFill>
              <a:srgbClr val="FFC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print('LARGE')</a:t>
            </a:r>
          </a:p>
        </p:txBody>
      </p:sp>
      <p:cxnSp>
        <p:nvCxnSpPr>
          <p:cNvPr id="485" name="Shape 485"/>
          <p:cNvCxnSpPr/>
          <p:nvPr/>
        </p:nvCxnSpPr>
        <p:spPr>
          <a:xfrm rot="10800000" flipH="1">
            <a:off x="9364916" y="5276328"/>
            <a:ext cx="4237" cy="361538"/>
          </a:xfrm>
          <a:prstGeom prst="straightConnector1">
            <a:avLst/>
          </a:prstGeom>
          <a:noFill/>
          <a:ln w="63500" cap="rnd" cmpd="sng">
            <a:solidFill>
              <a:srgbClr val="FFC0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486" name="Shape 486"/>
          <p:cNvSpPr txBox="1"/>
          <p:nvPr/>
        </p:nvSpPr>
        <p:spPr>
          <a:xfrm>
            <a:off x="8459503" y="5053413"/>
            <a:ext cx="477812" cy="4934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no</a:t>
            </a:r>
          </a:p>
        </p:txBody>
      </p:sp>
      <p:sp>
        <p:nvSpPr>
          <p:cNvPr id="24" name="Shape 501"/>
          <p:cNvSpPr txBox="1"/>
          <p:nvPr/>
        </p:nvSpPr>
        <p:spPr>
          <a:xfrm>
            <a:off x="7585114" y="956541"/>
            <a:ext cx="3467099" cy="691062"/>
          </a:xfrm>
          <a:prstGeom prst="rect">
            <a:avLst/>
          </a:prstGeom>
          <a:noFill/>
          <a:ln w="50800" cap="rnd" cmpd="sng">
            <a:solidFill>
              <a:srgbClr val="FF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Cabin"/>
              <a:buNone/>
            </a:pPr>
            <a:r>
              <a:rPr lang="en-US" sz="3600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x</a:t>
            </a:r>
            <a:r>
              <a:rPr lang="en-US" sz="3600" u="none" strike="noStrike" cap="none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= 20</a:t>
            </a:r>
          </a:p>
        </p:txBody>
      </p:sp>
    </p:spTree>
    <p:extLst>
      <p:ext uri="{BB962C8B-B14F-4D97-AF65-F5344CB8AC3E}">
        <p14:creationId xmlns:p14="http://schemas.microsoft.com/office/powerpoint/2010/main" val="309555669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Shape 574"/>
          <p:cNvSpPr txBox="1">
            <a:spLocks noGrp="1"/>
          </p:cNvSpPr>
          <p:nvPr>
            <p:ph type="title"/>
          </p:nvPr>
        </p:nvSpPr>
        <p:spPr>
          <a:xfrm>
            <a:off x="1060450" y="745588"/>
            <a:ext cx="5934648" cy="1794312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7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Multi-way</a:t>
            </a:r>
          </a:p>
        </p:txBody>
      </p:sp>
      <p:sp>
        <p:nvSpPr>
          <p:cNvPr id="575" name="Shape 575"/>
          <p:cNvSpPr txBox="1"/>
          <p:nvPr/>
        </p:nvSpPr>
        <p:spPr>
          <a:xfrm>
            <a:off x="1243605" y="3121862"/>
            <a:ext cx="5311799" cy="41870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# No Else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x = 5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if x &lt; 2 :</a:t>
            </a:r>
          </a:p>
          <a:p>
            <a:pPr lvl="0">
              <a:buClr>
                <a:srgbClr val="00FF00"/>
              </a:buClr>
              <a:buSzPct val="25000"/>
            </a:pP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print('Small')</a:t>
            </a:r>
            <a:endParaRPr lang="en-US" sz="3000" i="0" u="none" strike="noStrike" cap="none" dirty="0">
              <a:solidFill>
                <a:srgbClr val="00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000" i="0" u="none" strike="noStrike" cap="none" dirty="0" err="1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elif</a:t>
            </a: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 x &lt; 10 :</a:t>
            </a:r>
          </a:p>
          <a:p>
            <a:pPr lvl="0">
              <a:buClr>
                <a:srgbClr val="FF7F00"/>
              </a:buClr>
              <a:buSzPct val="25000"/>
            </a:pP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 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print('Medium')</a:t>
            </a:r>
            <a:endParaRPr lang="en-US" sz="3000" i="0" u="none" strike="noStrike" cap="none" dirty="0">
              <a:solidFill>
                <a:srgbClr val="00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 i="0" u="none" strike="noStrike" cap="none" dirty="0">
              <a:solidFill>
                <a:srgbClr val="00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print('All done')</a:t>
            </a:r>
          </a:p>
        </p:txBody>
      </p:sp>
      <p:sp>
        <p:nvSpPr>
          <p:cNvPr id="576" name="Shape 576"/>
          <p:cNvSpPr txBox="1"/>
          <p:nvPr/>
        </p:nvSpPr>
        <p:spPr>
          <a:xfrm>
            <a:off x="8707420" y="1563873"/>
            <a:ext cx="6437700" cy="617771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if x &lt; 2 :</a:t>
            </a:r>
          </a:p>
          <a:p>
            <a:pPr lvl="0">
              <a:buClr>
                <a:srgbClr val="FFFF00"/>
              </a:buClr>
              <a:buSzPct val="25000"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print('Small')</a:t>
            </a:r>
            <a:endParaRPr lang="en-US" sz="3000" i="0" u="none" strike="noStrike" cap="none" dirty="0">
              <a:solidFill>
                <a:srgbClr val="FF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elif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x &lt; 10 :</a:t>
            </a:r>
          </a:p>
          <a:p>
            <a:pPr lvl="0">
              <a:buClr>
                <a:srgbClr val="FFFF00"/>
              </a:buClr>
              <a:buSzPct val="25000"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   print('Medium</a:t>
            </a:r>
            <a:r>
              <a:rPr lang="en-US" sz="30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')</a:t>
            </a:r>
            <a:endParaRPr lang="en-US" sz="3000" i="0" u="none" strike="noStrike" cap="none" dirty="0">
              <a:solidFill>
                <a:srgbClr val="FF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elif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x &lt; 20 : </a:t>
            </a:r>
          </a:p>
          <a:p>
            <a:pPr lvl="0">
              <a:buClr>
                <a:srgbClr val="FFFF00"/>
              </a:buClr>
              <a:buSzPct val="25000"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   print('Big</a:t>
            </a:r>
            <a:r>
              <a:rPr lang="en-US" sz="30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')</a:t>
            </a:r>
            <a:endParaRPr lang="en-US" sz="3000" i="0" u="none" strike="noStrike" cap="none" dirty="0">
              <a:solidFill>
                <a:srgbClr val="FF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elif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x &lt; 40 : </a:t>
            </a:r>
          </a:p>
          <a:p>
            <a:pPr lvl="0">
              <a:buClr>
                <a:srgbClr val="FFFF00"/>
              </a:buClr>
              <a:buSzPct val="25000"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   print('Large</a:t>
            </a:r>
            <a:r>
              <a:rPr lang="en-US" sz="30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')</a:t>
            </a:r>
            <a:endParaRPr lang="en-US" sz="3000" i="0" u="none" strike="noStrike" cap="none" dirty="0">
              <a:solidFill>
                <a:srgbClr val="FF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elif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x &lt; 100:</a:t>
            </a:r>
          </a:p>
          <a:p>
            <a:pPr lvl="0">
              <a:buClr>
                <a:srgbClr val="FFFF00"/>
              </a:buClr>
              <a:buSzPct val="25000"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   print('Huge</a:t>
            </a:r>
            <a:r>
              <a:rPr lang="en-US" sz="30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')</a:t>
            </a:r>
            <a:endParaRPr lang="en-US" sz="3000" i="0" u="none" strike="noStrike" cap="none" dirty="0">
              <a:solidFill>
                <a:srgbClr val="FF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else :</a:t>
            </a:r>
          </a:p>
          <a:p>
            <a:pPr lvl="0">
              <a:buClr>
                <a:srgbClr val="FFFF00"/>
              </a:buClr>
              <a:buSzPct val="25000"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   print('Ginormous</a:t>
            </a:r>
            <a:r>
              <a:rPr lang="en-US" sz="30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')</a:t>
            </a:r>
            <a:endParaRPr lang="en-US" sz="3000" i="0" u="none" strike="noStrike" cap="none" dirty="0">
              <a:solidFill>
                <a:srgbClr val="FFFF00"/>
              </a:solidFill>
              <a:latin typeface="Courier"/>
              <a:ea typeface="Courier"/>
              <a:cs typeface="Courier"/>
              <a:sym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429423678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Shape 581"/>
          <p:cNvSpPr txBox="1">
            <a:spLocks noGrp="1"/>
          </p:cNvSpPr>
          <p:nvPr>
            <p:ph type="title"/>
          </p:nvPr>
        </p:nvSpPr>
        <p:spPr>
          <a:xfrm>
            <a:off x="1155700" y="745588"/>
            <a:ext cx="13211175" cy="1794312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7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Multi-way Puzzles</a:t>
            </a:r>
          </a:p>
        </p:txBody>
      </p:sp>
      <p:sp>
        <p:nvSpPr>
          <p:cNvPr id="582" name="Shape 582"/>
          <p:cNvSpPr txBox="1"/>
          <p:nvPr/>
        </p:nvSpPr>
        <p:spPr>
          <a:xfrm>
            <a:off x="8677001" y="3640379"/>
            <a:ext cx="6410699" cy="4046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if x &lt; 2 :</a:t>
            </a:r>
          </a:p>
          <a:p>
            <a:pPr lvl="0">
              <a:buClr>
                <a:srgbClr val="FFFF00"/>
              </a:buClr>
              <a:buSzPct val="25000"/>
            </a:pP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print('Below 2')</a:t>
            </a:r>
            <a:endParaRPr lang="en-US" sz="3000" i="0" u="none" strike="noStrike" cap="none" dirty="0">
              <a:solidFill>
                <a:srgbClr val="FF99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 err="1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elif</a:t>
            </a: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 x &lt; 20 :</a:t>
            </a:r>
          </a:p>
          <a:p>
            <a:pPr lvl="0">
              <a:buClr>
                <a:srgbClr val="FFFF00"/>
              </a:buClr>
              <a:buSzPct val="25000"/>
            </a:pP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    print('Below 20</a:t>
            </a:r>
            <a:r>
              <a:rPr lang="en-US" sz="3000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')</a:t>
            </a:r>
            <a:endParaRPr lang="en-US" sz="3000" i="0" u="none" strike="noStrike" cap="none" dirty="0">
              <a:solidFill>
                <a:srgbClr val="FF99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 err="1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elif</a:t>
            </a: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 x &lt; 10 : </a:t>
            </a:r>
          </a:p>
          <a:p>
            <a:pPr lvl="0">
              <a:buClr>
                <a:srgbClr val="FFFF00"/>
              </a:buClr>
              <a:buSzPct val="25000"/>
            </a:pP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    print('Below 10</a:t>
            </a:r>
            <a:r>
              <a:rPr lang="en-US" sz="3000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')</a:t>
            </a:r>
            <a:endParaRPr lang="en-US" sz="3000" i="0" u="none" strike="noStrike" cap="none" dirty="0">
              <a:solidFill>
                <a:srgbClr val="FF99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else :</a:t>
            </a:r>
          </a:p>
          <a:p>
            <a:pPr lvl="0">
              <a:buClr>
                <a:srgbClr val="FFFF00"/>
              </a:buClr>
              <a:buSzPct val="25000"/>
            </a:pP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    print('Something </a:t>
            </a:r>
            <a:r>
              <a:rPr lang="en-US" sz="3000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else')</a:t>
            </a:r>
            <a:endParaRPr lang="en-US" sz="3000" i="0" u="none" strike="noStrike" cap="none" dirty="0">
              <a:solidFill>
                <a:srgbClr val="FF9900"/>
              </a:solidFill>
              <a:latin typeface="Courier"/>
              <a:ea typeface="Courier"/>
              <a:cs typeface="Courier"/>
              <a:sym typeface="Courier New"/>
            </a:endParaRPr>
          </a:p>
        </p:txBody>
      </p:sp>
      <p:sp>
        <p:nvSpPr>
          <p:cNvPr id="583" name="Shape 583"/>
          <p:cNvSpPr txBox="1"/>
          <p:nvPr/>
        </p:nvSpPr>
        <p:spPr>
          <a:xfrm>
            <a:off x="1404925" y="4496066"/>
            <a:ext cx="6554852" cy="32209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if x &lt; 2 :</a:t>
            </a:r>
          </a:p>
          <a:p>
            <a:pPr lvl="0">
              <a:buClr>
                <a:srgbClr val="FFFF00"/>
              </a:buClr>
              <a:buSzPct val="25000"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   print('Below 2</a:t>
            </a:r>
            <a:r>
              <a:rPr lang="en-US" sz="30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')</a:t>
            </a:r>
            <a:endParaRPr lang="en-US" sz="3000" i="0" u="none" strike="noStrike" cap="none" dirty="0">
              <a:solidFill>
                <a:srgbClr val="FF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elif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x &gt;= 2 : </a:t>
            </a:r>
          </a:p>
          <a:p>
            <a:pPr lvl="0">
              <a:buClr>
                <a:srgbClr val="FFFF00"/>
              </a:buClr>
              <a:buSzPct val="25000"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   print('Two or more</a:t>
            </a:r>
            <a:r>
              <a:rPr lang="en-US" sz="30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')</a:t>
            </a:r>
            <a:endParaRPr lang="en-US" sz="3000" i="0" u="none" strike="noStrike" cap="none" dirty="0">
              <a:solidFill>
                <a:srgbClr val="FF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else :</a:t>
            </a:r>
          </a:p>
          <a:p>
            <a:pPr lvl="0">
              <a:buClr>
                <a:srgbClr val="FFFF00"/>
              </a:buClr>
              <a:buSzPct val="25000"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   print('Something else</a:t>
            </a:r>
            <a:r>
              <a:rPr lang="en-US" sz="30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  <a:r>
              <a:rPr lang="en-US" sz="3000" b="1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b="1" i="0" u="none" strike="noStrike" cap="none" dirty="0">
              <a:solidFill>
                <a:srgbClr val="FFFF00"/>
              </a:solidFill>
              <a:latin typeface="Courier"/>
              <a:ea typeface="Courier"/>
              <a:cs typeface="Courier"/>
              <a:sym typeface="Courier New"/>
            </a:endParaRPr>
          </a:p>
        </p:txBody>
      </p:sp>
      <p:sp>
        <p:nvSpPr>
          <p:cNvPr id="584" name="Shape 584"/>
          <p:cNvSpPr txBox="1"/>
          <p:nvPr/>
        </p:nvSpPr>
        <p:spPr>
          <a:xfrm>
            <a:off x="925250" y="2981784"/>
            <a:ext cx="6429707" cy="96837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Which will never print regardless of the value for x?</a:t>
            </a:r>
          </a:p>
        </p:txBody>
      </p:sp>
    </p:spTree>
    <p:extLst>
      <p:ext uri="{BB962C8B-B14F-4D97-AF65-F5344CB8AC3E}">
        <p14:creationId xmlns:p14="http://schemas.microsoft.com/office/powerpoint/2010/main" val="91568888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Shape 581"/>
          <p:cNvSpPr txBox="1">
            <a:spLocks noGrp="1"/>
          </p:cNvSpPr>
          <p:nvPr>
            <p:ph type="title"/>
          </p:nvPr>
        </p:nvSpPr>
        <p:spPr>
          <a:xfrm>
            <a:off x="1460500" y="322255"/>
            <a:ext cx="13211175" cy="1794312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7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Code Break!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282C30-8830-B04A-B24C-563A1355F714}"/>
              </a:ext>
            </a:extLst>
          </p:cNvPr>
          <p:cNvSpPr txBox="1"/>
          <p:nvPr/>
        </p:nvSpPr>
        <p:spPr>
          <a:xfrm>
            <a:off x="897466" y="3556000"/>
            <a:ext cx="14139333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solidFill>
                  <a:schemeClr val="bg1"/>
                </a:solidFill>
              </a:rPr>
              <a:t>Let’s test your if/</a:t>
            </a:r>
            <a:r>
              <a:rPr lang="en-US" sz="3000" dirty="0" err="1">
                <a:solidFill>
                  <a:schemeClr val="bg1"/>
                </a:solidFill>
              </a:rPr>
              <a:t>elif</a:t>
            </a:r>
            <a:r>
              <a:rPr lang="en-US" sz="3000" dirty="0">
                <a:solidFill>
                  <a:schemeClr val="bg1"/>
                </a:solidFill>
              </a:rPr>
              <a:t>/else skills! Write the following program:</a:t>
            </a:r>
          </a:p>
          <a:p>
            <a:endParaRPr lang="en-US" sz="30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bg1"/>
                </a:solidFill>
              </a:rPr>
              <a:t>Ask the user for their height in centimeters (cm)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bg1"/>
                </a:solidFill>
              </a:rPr>
              <a:t>If the user’s height is less than 150 cm, print “You are short”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bg1"/>
                </a:solidFill>
              </a:rPr>
              <a:t>If the user’s height is less than 160 cm, print “You are average”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bg1"/>
                </a:solidFill>
              </a:rPr>
              <a:t>If the user is taller than 180 cm, print “You are Yao Ming!”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bg1"/>
                </a:solidFill>
              </a:rPr>
              <a:t>If the user is taller than 190 cm, print “You are a giant!”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6F0B78-8A0A-7447-A59F-763C89D7A4A4}"/>
              </a:ext>
            </a:extLst>
          </p:cNvPr>
          <p:cNvSpPr txBox="1"/>
          <p:nvPr/>
        </p:nvSpPr>
        <p:spPr>
          <a:xfrm>
            <a:off x="897466" y="7549979"/>
            <a:ext cx="1314026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rgbClr val="29FD2F"/>
                </a:solidFill>
              </a:rPr>
              <a:t>There are many ways to do this…see what you can come up with! For a fun challenge, try to make your program as short as possible, then try to make it as long as possible!</a:t>
            </a:r>
          </a:p>
        </p:txBody>
      </p:sp>
    </p:spTree>
    <p:extLst>
      <p:ext uri="{BB962C8B-B14F-4D97-AF65-F5344CB8AC3E}">
        <p14:creationId xmlns:p14="http://schemas.microsoft.com/office/powerpoint/2010/main" val="377554003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Shape 290"/>
          <p:cNvSpPr txBox="1">
            <a:spLocks noGrp="1"/>
          </p:cNvSpPr>
          <p:nvPr>
            <p:ph type="title"/>
          </p:nvPr>
        </p:nvSpPr>
        <p:spPr>
          <a:xfrm>
            <a:off x="812800" y="3664479"/>
            <a:ext cx="14630400" cy="11048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7600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My Favorite Part!</a:t>
            </a:r>
            <a:endParaRPr lang="en-US" sz="7600" u="none" strike="noStrike" cap="none" dirty="0">
              <a:solidFill>
                <a:srgbClr val="FFD966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7F0B0B-BAEC-EC40-8EA2-B2C2071E57A4}"/>
              </a:ext>
            </a:extLst>
          </p:cNvPr>
          <p:cNvSpPr txBox="1"/>
          <p:nvPr/>
        </p:nvSpPr>
        <p:spPr>
          <a:xfrm>
            <a:off x="6370147" y="4769378"/>
            <a:ext cx="351570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solidFill>
                  <a:schemeClr val="bg1"/>
                </a:solidFill>
              </a:rPr>
              <a:t>Dealing With Errors</a:t>
            </a:r>
          </a:p>
        </p:txBody>
      </p:sp>
    </p:spTree>
    <p:extLst>
      <p:ext uri="{BB962C8B-B14F-4D97-AF65-F5344CB8AC3E}">
        <p14:creationId xmlns:p14="http://schemas.microsoft.com/office/powerpoint/2010/main" val="185515531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Shape 58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 try / except Structure</a:t>
            </a:r>
          </a:p>
        </p:txBody>
      </p:sp>
      <p:sp>
        <p:nvSpPr>
          <p:cNvPr id="590" name="Shape 590"/>
          <p:cNvSpPr txBox="1">
            <a:spLocks noGrp="1"/>
          </p:cNvSpPr>
          <p:nvPr>
            <p:ph type="body" idx="1"/>
          </p:nvPr>
        </p:nvSpPr>
        <p:spPr>
          <a:xfrm>
            <a:off x="1155700" y="2603501"/>
            <a:ext cx="13932000" cy="4545516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533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71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You surround a dangerous section of code with </a:t>
            </a:r>
            <a:r>
              <a:rPr lang="en-US" sz="36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try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and </a:t>
            </a:r>
            <a:r>
              <a:rPr lang="en-US" sz="3600" u="none" strike="noStrike" cap="none" dirty="0">
                <a:solidFill>
                  <a:srgbClr val="FF99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except</a:t>
            </a:r>
          </a:p>
          <a:p>
            <a:pPr marL="749300" marR="0" lvl="0" indent="-533400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71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If the code in the </a:t>
            </a:r>
            <a:r>
              <a:rPr lang="en-US" sz="36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try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works - the </a:t>
            </a:r>
            <a:r>
              <a:rPr lang="en-US" sz="3600" u="none" strike="noStrike" cap="none" dirty="0">
                <a:solidFill>
                  <a:srgbClr val="FF99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except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is skipped</a:t>
            </a:r>
          </a:p>
          <a:p>
            <a:pPr marL="749300" marR="0" lvl="0" indent="-533400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71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If the code in the </a:t>
            </a:r>
            <a:r>
              <a:rPr lang="en-US" sz="36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try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fails - it jumps to the </a:t>
            </a:r>
            <a:r>
              <a:rPr lang="en-US" sz="3600" u="none" strike="noStrike" cap="none" dirty="0">
                <a:solidFill>
                  <a:srgbClr val="FF99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except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section</a:t>
            </a:r>
          </a:p>
        </p:txBody>
      </p:sp>
    </p:spTree>
    <p:extLst>
      <p:ext uri="{BB962C8B-B14F-4D97-AF65-F5344CB8AC3E}">
        <p14:creationId xmlns:p14="http://schemas.microsoft.com/office/powerpoint/2010/main" val="187173406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Shape 595"/>
          <p:cNvSpPr txBox="1"/>
          <p:nvPr/>
        </p:nvSpPr>
        <p:spPr>
          <a:xfrm>
            <a:off x="2468884" y="4147704"/>
            <a:ext cx="5158799" cy="387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$ cat </a:t>
            </a:r>
            <a:r>
              <a:rPr lang="en-US" sz="30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notry.py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astr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= 'Hello Bob</a:t>
            </a:r>
            <a:r>
              <a:rPr lang="en-US" sz="30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istr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30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int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astr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print('First', </a:t>
            </a:r>
            <a:r>
              <a:rPr lang="en-US" sz="30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istr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astr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= '123</a:t>
            </a:r>
            <a:r>
              <a:rPr lang="en-US" sz="30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istr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30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int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astr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print('Second', </a:t>
            </a:r>
            <a:r>
              <a:rPr lang="en-US" sz="30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istr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</p:txBody>
      </p:sp>
      <p:sp>
        <p:nvSpPr>
          <p:cNvPr id="596" name="Shape 596"/>
          <p:cNvSpPr txBox="1"/>
          <p:nvPr/>
        </p:nvSpPr>
        <p:spPr>
          <a:xfrm>
            <a:off x="8039653" y="1046297"/>
            <a:ext cx="7660182" cy="32258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$ python3 </a:t>
            </a:r>
            <a:r>
              <a:rPr lang="en-US" sz="3600" u="none" strike="noStrike" cap="none" dirty="0" err="1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notry.py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3600" dirty="0" err="1">
                <a:solidFill>
                  <a:srgbClr val="E066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Traceback</a:t>
            </a:r>
            <a:r>
              <a:rPr lang="en-US" sz="3600" dirty="0">
                <a:solidFill>
                  <a:srgbClr val="E066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(most recent call last):  File "</a:t>
            </a:r>
            <a:r>
              <a:rPr lang="en-US" sz="3600" dirty="0" err="1">
                <a:solidFill>
                  <a:srgbClr val="E066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notry.py</a:t>
            </a:r>
            <a:r>
              <a:rPr lang="en-US" sz="3600" dirty="0">
                <a:solidFill>
                  <a:srgbClr val="E066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", line 2, in &lt;module&gt;    </a:t>
            </a:r>
            <a:r>
              <a:rPr lang="en-US" sz="3600" dirty="0" err="1">
                <a:solidFill>
                  <a:srgbClr val="E066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istr</a:t>
            </a:r>
            <a:r>
              <a:rPr lang="en-US" sz="3600" dirty="0">
                <a:solidFill>
                  <a:srgbClr val="E066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= </a:t>
            </a:r>
            <a:r>
              <a:rPr lang="en-US" sz="3600" dirty="0" err="1">
                <a:solidFill>
                  <a:srgbClr val="E066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int</a:t>
            </a:r>
            <a:r>
              <a:rPr lang="en-US" sz="3600" dirty="0">
                <a:solidFill>
                  <a:srgbClr val="E066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(</a:t>
            </a:r>
            <a:r>
              <a:rPr lang="en-US" sz="3600" dirty="0" err="1">
                <a:solidFill>
                  <a:srgbClr val="E066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astr</a:t>
            </a:r>
            <a:r>
              <a:rPr lang="en-US" sz="3600" dirty="0">
                <a:solidFill>
                  <a:srgbClr val="E066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)</a:t>
            </a:r>
            <a:r>
              <a:rPr lang="en-US" sz="3600" dirty="0" err="1">
                <a:solidFill>
                  <a:srgbClr val="E066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ValueError</a:t>
            </a:r>
            <a:r>
              <a:rPr lang="en-US" sz="3600" dirty="0">
                <a:solidFill>
                  <a:srgbClr val="E066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: invalid literal for </a:t>
            </a:r>
            <a:r>
              <a:rPr lang="en-US" sz="3600" dirty="0" err="1">
                <a:solidFill>
                  <a:srgbClr val="E066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int</a:t>
            </a:r>
            <a:r>
              <a:rPr lang="en-US" sz="3600" dirty="0">
                <a:solidFill>
                  <a:srgbClr val="E066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() with base 10: 'Hello Bob'</a:t>
            </a:r>
            <a:endParaRPr lang="en-US" sz="3600" u="none" strike="noStrike" cap="none" dirty="0">
              <a:solidFill>
                <a:srgbClr val="E06666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  <p:cxnSp>
        <p:nvCxnSpPr>
          <p:cNvPr id="597" name="Shape 597"/>
          <p:cNvCxnSpPr>
            <a:endCxn id="598" idx="1"/>
          </p:cNvCxnSpPr>
          <p:nvPr/>
        </p:nvCxnSpPr>
        <p:spPr>
          <a:xfrm>
            <a:off x="10837890" y="4272196"/>
            <a:ext cx="1855586" cy="1122385"/>
          </a:xfrm>
          <a:prstGeom prst="straightConnector1">
            <a:avLst/>
          </a:prstGeom>
          <a:noFill/>
          <a:ln w="76200" cap="rnd" cmpd="sng">
            <a:solidFill>
              <a:srgbClr val="E06666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598" name="Shape 598"/>
          <p:cNvSpPr txBox="1"/>
          <p:nvPr/>
        </p:nvSpPr>
        <p:spPr>
          <a:xfrm>
            <a:off x="12693476" y="4823081"/>
            <a:ext cx="1904999" cy="1143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E066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All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E066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Done</a:t>
            </a:r>
          </a:p>
        </p:txBody>
      </p:sp>
    </p:spTree>
    <p:extLst>
      <p:ext uri="{BB962C8B-B14F-4D97-AF65-F5344CB8AC3E}">
        <p14:creationId xmlns:p14="http://schemas.microsoft.com/office/powerpoint/2010/main" val="25606299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Shape 595"/>
          <p:cNvSpPr txBox="1"/>
          <p:nvPr/>
        </p:nvSpPr>
        <p:spPr>
          <a:xfrm>
            <a:off x="2468884" y="4091999"/>
            <a:ext cx="5158799" cy="387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$ cat </a:t>
            </a:r>
            <a:r>
              <a:rPr lang="en-US" sz="30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notry.py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astr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= 'Hello Bob</a:t>
            </a:r>
            <a:r>
              <a:rPr lang="en-US" sz="30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istr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30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int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astr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print('First', </a:t>
            </a:r>
            <a:r>
              <a:rPr lang="en-US" sz="30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istr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astr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= '123</a:t>
            </a:r>
            <a:r>
              <a:rPr lang="en-US" sz="30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istr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30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int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astr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print('Second', </a:t>
            </a:r>
            <a:r>
              <a:rPr lang="en-US" sz="30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istr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</p:txBody>
      </p:sp>
      <p:sp>
        <p:nvSpPr>
          <p:cNvPr id="596" name="Shape 596"/>
          <p:cNvSpPr txBox="1"/>
          <p:nvPr/>
        </p:nvSpPr>
        <p:spPr>
          <a:xfrm>
            <a:off x="8039653" y="1046297"/>
            <a:ext cx="7660182" cy="32258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$ python3 </a:t>
            </a:r>
            <a:r>
              <a:rPr lang="en-US" sz="3600" u="none" strike="noStrike" cap="none" dirty="0" err="1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notry.py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3600" dirty="0" err="1">
                <a:solidFill>
                  <a:srgbClr val="E066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Traceback</a:t>
            </a:r>
            <a:r>
              <a:rPr lang="en-US" sz="3600" dirty="0">
                <a:solidFill>
                  <a:srgbClr val="E066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(most recent call last):  File "</a:t>
            </a:r>
            <a:r>
              <a:rPr lang="en-US" sz="3600" dirty="0" err="1">
                <a:solidFill>
                  <a:srgbClr val="E066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notry.py</a:t>
            </a:r>
            <a:r>
              <a:rPr lang="en-US" sz="3600" dirty="0">
                <a:solidFill>
                  <a:srgbClr val="E066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", line 2, in &lt;module&gt;    </a:t>
            </a:r>
            <a:r>
              <a:rPr lang="en-US" sz="3600" dirty="0" err="1">
                <a:solidFill>
                  <a:srgbClr val="E066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istr</a:t>
            </a:r>
            <a:r>
              <a:rPr lang="en-US" sz="3600" dirty="0">
                <a:solidFill>
                  <a:srgbClr val="E066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= </a:t>
            </a:r>
            <a:r>
              <a:rPr lang="en-US" sz="3600" dirty="0" err="1">
                <a:solidFill>
                  <a:srgbClr val="E066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int</a:t>
            </a:r>
            <a:r>
              <a:rPr lang="en-US" sz="3600" dirty="0">
                <a:solidFill>
                  <a:srgbClr val="E066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(</a:t>
            </a:r>
            <a:r>
              <a:rPr lang="en-US" sz="3600" dirty="0" err="1">
                <a:solidFill>
                  <a:srgbClr val="E066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astr</a:t>
            </a:r>
            <a:r>
              <a:rPr lang="en-US" sz="3600" dirty="0">
                <a:solidFill>
                  <a:srgbClr val="E066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)</a:t>
            </a:r>
            <a:r>
              <a:rPr lang="en-US" sz="3600" dirty="0" err="1">
                <a:solidFill>
                  <a:srgbClr val="E066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ValueError</a:t>
            </a:r>
            <a:r>
              <a:rPr lang="en-US" sz="3600" dirty="0">
                <a:solidFill>
                  <a:srgbClr val="E066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: invalid literal for </a:t>
            </a:r>
            <a:r>
              <a:rPr lang="en-US" sz="3600" dirty="0" err="1">
                <a:solidFill>
                  <a:srgbClr val="E066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int</a:t>
            </a:r>
            <a:r>
              <a:rPr lang="en-US" sz="3600" dirty="0">
                <a:solidFill>
                  <a:srgbClr val="E066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() with base 10: 'Hello Bob'</a:t>
            </a:r>
            <a:endParaRPr lang="en-US" sz="3600" u="none" strike="noStrike" cap="none" dirty="0">
              <a:solidFill>
                <a:srgbClr val="E06666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  <p:cxnSp>
        <p:nvCxnSpPr>
          <p:cNvPr id="597" name="Shape 597"/>
          <p:cNvCxnSpPr>
            <a:endCxn id="598" idx="1"/>
          </p:cNvCxnSpPr>
          <p:nvPr/>
        </p:nvCxnSpPr>
        <p:spPr>
          <a:xfrm>
            <a:off x="10837890" y="4272196"/>
            <a:ext cx="1855586" cy="1122385"/>
          </a:xfrm>
          <a:prstGeom prst="straightConnector1">
            <a:avLst/>
          </a:prstGeom>
          <a:noFill/>
          <a:ln w="76200" cap="rnd" cmpd="sng">
            <a:solidFill>
              <a:srgbClr val="E06666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598" name="Shape 598"/>
          <p:cNvSpPr txBox="1"/>
          <p:nvPr/>
        </p:nvSpPr>
        <p:spPr>
          <a:xfrm>
            <a:off x="12693476" y="4823081"/>
            <a:ext cx="1904999" cy="1143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E066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All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E066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Done</a:t>
            </a:r>
          </a:p>
        </p:txBody>
      </p:sp>
      <p:cxnSp>
        <p:nvCxnSpPr>
          <p:cNvPr id="6" name="Shape 604"/>
          <p:cNvCxnSpPr/>
          <p:nvPr/>
        </p:nvCxnSpPr>
        <p:spPr>
          <a:xfrm rot="10800000">
            <a:off x="1127215" y="5574171"/>
            <a:ext cx="1217400" cy="13499"/>
          </a:xfrm>
          <a:prstGeom prst="straightConnector1">
            <a:avLst/>
          </a:prstGeom>
          <a:noFill/>
          <a:ln w="76200" cap="rnd" cmpd="sng">
            <a:solidFill>
              <a:srgbClr val="E06666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7" name="Shape 605"/>
          <p:cNvSpPr txBox="1"/>
          <p:nvPr/>
        </p:nvSpPr>
        <p:spPr>
          <a:xfrm>
            <a:off x="174715" y="3120844"/>
            <a:ext cx="1904999" cy="2184300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E066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 program stops here</a:t>
            </a:r>
          </a:p>
        </p:txBody>
      </p:sp>
      <p:sp>
        <p:nvSpPr>
          <p:cNvPr id="8" name="Shape 609"/>
          <p:cNvSpPr txBox="1"/>
          <p:nvPr/>
        </p:nvSpPr>
        <p:spPr>
          <a:xfrm>
            <a:off x="2344618" y="5934684"/>
            <a:ext cx="4819500" cy="2028130"/>
          </a:xfrm>
          <a:prstGeom prst="rect">
            <a:avLst/>
          </a:prstGeom>
          <a:solidFill>
            <a:srgbClr val="E06666"/>
          </a:solidFill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E066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450506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Shape 634"/>
          <p:cNvSpPr txBox="1"/>
          <p:nvPr/>
        </p:nvSpPr>
        <p:spPr>
          <a:xfrm>
            <a:off x="2882900" y="1130300"/>
            <a:ext cx="5204399" cy="718924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astr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= 'Hello Bob'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try: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i="0" u="none" strike="noStrike" cap="none" dirty="0" err="1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istr</a:t>
            </a: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3000" i="0" u="none" strike="noStrike" cap="none" dirty="0" err="1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int</a:t>
            </a: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 err="1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astr</a:t>
            </a: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except: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istr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= -1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 i="0" u="none" strike="noStrike" cap="none" dirty="0">
              <a:solidFill>
                <a:srgbClr val="FF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lvl="0">
              <a:buClr>
                <a:srgbClr val="FFFF00"/>
              </a:buClr>
              <a:buSzPct val="25000"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print('First', </a:t>
            </a:r>
            <a:r>
              <a:rPr lang="en-US" sz="3000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istr</a:t>
            </a:r>
            <a:r>
              <a:rPr lang="en-US" sz="30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i="0" u="none" strike="noStrike" cap="none" dirty="0">
              <a:solidFill>
                <a:srgbClr val="FF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 i="0" u="none" strike="noStrike" cap="none" dirty="0">
              <a:solidFill>
                <a:srgbClr val="FF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astr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= '123'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try: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 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istr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30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int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astr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except: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istr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= -1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 i="0" u="none" strike="noStrike" cap="none" dirty="0">
              <a:solidFill>
                <a:srgbClr val="FF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lvl="0">
              <a:buClr>
                <a:srgbClr val="FFFF00"/>
              </a:buClr>
              <a:buSzPct val="25000"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print('Second', </a:t>
            </a:r>
            <a:r>
              <a:rPr lang="en-US" sz="3000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istr</a:t>
            </a:r>
            <a:r>
              <a:rPr lang="en-US" sz="30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3000" i="0" u="none" strike="noStrike" cap="none" dirty="0">
              <a:solidFill>
                <a:srgbClr val="FFFF00"/>
              </a:solidFill>
              <a:latin typeface="Courier"/>
              <a:ea typeface="Courier"/>
              <a:cs typeface="Courier"/>
              <a:sym typeface="Courier New"/>
            </a:endParaRPr>
          </a:p>
        </p:txBody>
      </p:sp>
      <p:sp>
        <p:nvSpPr>
          <p:cNvPr id="635" name="Shape 635"/>
          <p:cNvSpPr txBox="1"/>
          <p:nvPr/>
        </p:nvSpPr>
        <p:spPr>
          <a:xfrm>
            <a:off x="9926612" y="3460549"/>
            <a:ext cx="5204399" cy="1689000"/>
          </a:xfrm>
          <a:prstGeom prst="rect">
            <a:avLst/>
          </a:prstGeom>
          <a:noFill/>
          <a:ln w="12700" cap="rnd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$ python </a:t>
            </a:r>
            <a:r>
              <a:rPr lang="en-US" sz="3000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tryexcept.py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First -1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Second 123</a:t>
            </a:r>
          </a:p>
        </p:txBody>
      </p:sp>
      <p:sp>
        <p:nvSpPr>
          <p:cNvPr id="636" name="Shape 636"/>
          <p:cNvSpPr txBox="1"/>
          <p:nvPr/>
        </p:nvSpPr>
        <p:spPr>
          <a:xfrm>
            <a:off x="8836025" y="1130300"/>
            <a:ext cx="5892799" cy="1435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Cabin"/>
              <a:buNone/>
            </a:pPr>
            <a:r>
              <a:rPr lang="en-US" sz="3000" u="none" strike="noStrike" cap="none" dirty="0">
                <a:solidFill>
                  <a:srgbClr val="FF99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When the first conversion fails - it just drops into the except: clause and the program continues.</a:t>
            </a:r>
          </a:p>
        </p:txBody>
      </p:sp>
      <p:cxnSp>
        <p:nvCxnSpPr>
          <p:cNvPr id="637" name="Shape 637"/>
          <p:cNvCxnSpPr/>
          <p:nvPr/>
        </p:nvCxnSpPr>
        <p:spPr>
          <a:xfrm flipH="1">
            <a:off x="1469169" y="2565411"/>
            <a:ext cx="1241400" cy="18900"/>
          </a:xfrm>
          <a:prstGeom prst="straightConnector1">
            <a:avLst/>
          </a:prstGeom>
          <a:noFill/>
          <a:ln w="76200" cap="rnd" cmpd="sng">
            <a:solidFill>
              <a:srgbClr val="FF99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638" name="Shape 638"/>
          <p:cNvSpPr txBox="1"/>
          <p:nvPr/>
        </p:nvSpPr>
        <p:spPr>
          <a:xfrm>
            <a:off x="9582411" y="6787409"/>
            <a:ext cx="5892799" cy="1435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When the second conversion succeeds - it just skips the except: clause and the program continues.</a:t>
            </a:r>
          </a:p>
        </p:txBody>
      </p:sp>
      <p:cxnSp>
        <p:nvCxnSpPr>
          <p:cNvPr id="639" name="Shape 639"/>
          <p:cNvCxnSpPr/>
          <p:nvPr/>
        </p:nvCxnSpPr>
        <p:spPr>
          <a:xfrm>
            <a:off x="6301625" y="3443150"/>
            <a:ext cx="903299" cy="17399"/>
          </a:xfrm>
          <a:prstGeom prst="straightConnector1">
            <a:avLst/>
          </a:prstGeom>
          <a:noFill/>
          <a:ln w="76200" cap="rnd" cmpd="sng">
            <a:solidFill>
              <a:srgbClr val="FF99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640" name="Shape 640"/>
          <p:cNvCxnSpPr/>
          <p:nvPr/>
        </p:nvCxnSpPr>
        <p:spPr>
          <a:xfrm flipH="1">
            <a:off x="1390096" y="6179937"/>
            <a:ext cx="1241400" cy="18900"/>
          </a:xfrm>
          <a:prstGeom prst="straightConnector1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641" name="Shape 641"/>
          <p:cNvCxnSpPr/>
          <p:nvPr/>
        </p:nvCxnSpPr>
        <p:spPr>
          <a:xfrm rot="10800000" flipH="1">
            <a:off x="7866125" y="7987829"/>
            <a:ext cx="969900" cy="14400"/>
          </a:xfrm>
          <a:prstGeom prst="straightConnector1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70659855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Shape 646"/>
          <p:cNvSpPr txBox="1">
            <a:spLocks noGrp="1"/>
          </p:cNvSpPr>
          <p:nvPr>
            <p:ph type="title"/>
          </p:nvPr>
        </p:nvSpPr>
        <p:spPr>
          <a:xfrm>
            <a:off x="1155700" y="745588"/>
            <a:ext cx="5983900" cy="1794312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6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try / except</a:t>
            </a:r>
          </a:p>
        </p:txBody>
      </p:sp>
      <p:sp>
        <p:nvSpPr>
          <p:cNvPr id="647" name="Shape 647"/>
          <p:cNvSpPr txBox="1"/>
          <p:nvPr/>
        </p:nvSpPr>
        <p:spPr>
          <a:xfrm>
            <a:off x="7581900" y="952500"/>
            <a:ext cx="3467099" cy="838199"/>
          </a:xfrm>
          <a:prstGeom prst="rect">
            <a:avLst/>
          </a:prstGeom>
          <a:noFill/>
          <a:ln w="508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 err="1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astr</a:t>
            </a: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= 'Bob'</a:t>
            </a:r>
          </a:p>
        </p:txBody>
      </p:sp>
      <p:cxnSp>
        <p:nvCxnSpPr>
          <p:cNvPr id="648" name="Shape 648"/>
          <p:cNvCxnSpPr/>
          <p:nvPr/>
        </p:nvCxnSpPr>
        <p:spPr>
          <a:xfrm rot="10800000">
            <a:off x="11690350" y="2797174"/>
            <a:ext cx="2417761" cy="20636"/>
          </a:xfrm>
          <a:prstGeom prst="straightConnector1">
            <a:avLst/>
          </a:prstGeom>
          <a:noFill/>
          <a:ln w="63500" cap="rnd" cmpd="sng">
            <a:solidFill>
              <a:srgbClr val="FF9900"/>
            </a:solidFill>
            <a:prstDash val="dash"/>
            <a:miter/>
            <a:headEnd type="stealth" w="med" len="med"/>
            <a:tailEnd type="none" w="med" len="med"/>
          </a:ln>
        </p:spPr>
      </p:cxnSp>
      <p:sp>
        <p:nvSpPr>
          <p:cNvPr id="649" name="Shape 649"/>
          <p:cNvSpPr txBox="1"/>
          <p:nvPr/>
        </p:nvSpPr>
        <p:spPr>
          <a:xfrm>
            <a:off x="1328126" y="2840245"/>
            <a:ext cx="5171100" cy="475115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astr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= 'Bob'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try:</a:t>
            </a:r>
          </a:p>
          <a:p>
            <a:pPr lvl="0">
              <a:buClr>
                <a:srgbClr val="FF7F00"/>
              </a:buClr>
              <a:buSzPct val="25000"/>
            </a:pP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print('Hello') </a:t>
            </a:r>
            <a:endParaRPr lang="en-US" sz="3000" i="0" u="none" strike="noStrike" cap="none" dirty="0">
              <a:solidFill>
                <a:srgbClr val="FF99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i="0" u="none" strike="noStrike" cap="none" dirty="0" err="1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istr</a:t>
            </a: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3000" i="0" u="none" strike="noStrike" cap="none" dirty="0" err="1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int</a:t>
            </a: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 err="1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astr</a:t>
            </a: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lvl="0">
              <a:buClr>
                <a:srgbClr val="FF7F00"/>
              </a:buClr>
              <a:buSzPct val="25000"/>
            </a:pP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    print('There</a:t>
            </a:r>
            <a:r>
              <a:rPr lang="en-US" sz="3000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') </a:t>
            </a:r>
            <a:endParaRPr lang="en-US" sz="3000" i="0" u="none" strike="noStrike" cap="none" dirty="0">
              <a:solidFill>
                <a:srgbClr val="FF99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except: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i="0" u="none" strike="noStrike" cap="none" dirty="0" err="1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istr</a:t>
            </a: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 = -1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 i="0" u="none" strike="noStrike" cap="none" dirty="0">
              <a:solidFill>
                <a:srgbClr val="FF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lvl="0">
              <a:buClr>
                <a:srgbClr val="FFFF00"/>
              </a:buClr>
              <a:buSzPct val="25000"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print('Done', </a:t>
            </a:r>
            <a:r>
              <a:rPr lang="en-US" sz="3000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istr</a:t>
            </a:r>
            <a:r>
              <a:rPr lang="en-US" sz="30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 </a:t>
            </a:r>
            <a:endParaRPr lang="en-US" sz="3000" i="0" u="none" strike="noStrike" cap="none" dirty="0">
              <a:solidFill>
                <a:srgbClr val="FFFF00"/>
              </a:solidFill>
              <a:latin typeface="Courier"/>
              <a:ea typeface="Courier"/>
              <a:cs typeface="Courier"/>
              <a:sym typeface="Courier New"/>
            </a:endParaRPr>
          </a:p>
        </p:txBody>
      </p:sp>
      <p:sp>
        <p:nvSpPr>
          <p:cNvPr id="650" name="Shape 650"/>
          <p:cNvSpPr txBox="1"/>
          <p:nvPr/>
        </p:nvSpPr>
        <p:spPr>
          <a:xfrm>
            <a:off x="8229600" y="2387600"/>
            <a:ext cx="3467099" cy="838199"/>
          </a:xfrm>
          <a:prstGeom prst="rect">
            <a:avLst/>
          </a:prstGeom>
          <a:noFill/>
          <a:ln w="508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print('Hello')</a:t>
            </a:r>
          </a:p>
        </p:txBody>
      </p:sp>
      <p:sp>
        <p:nvSpPr>
          <p:cNvPr id="651" name="Shape 651"/>
          <p:cNvSpPr txBox="1"/>
          <p:nvPr/>
        </p:nvSpPr>
        <p:spPr>
          <a:xfrm>
            <a:off x="8229600" y="5080000"/>
            <a:ext cx="3467099" cy="838199"/>
          </a:xfrm>
          <a:prstGeom prst="rect">
            <a:avLst/>
          </a:prstGeom>
          <a:noFill/>
          <a:ln w="508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print('There')</a:t>
            </a:r>
          </a:p>
        </p:txBody>
      </p:sp>
      <p:sp>
        <p:nvSpPr>
          <p:cNvPr id="652" name="Shape 652"/>
          <p:cNvSpPr txBox="1"/>
          <p:nvPr/>
        </p:nvSpPr>
        <p:spPr>
          <a:xfrm>
            <a:off x="8229600" y="3771900"/>
            <a:ext cx="3467099" cy="838199"/>
          </a:xfrm>
          <a:prstGeom prst="rect">
            <a:avLst/>
          </a:prstGeom>
          <a:noFill/>
          <a:ln w="508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 err="1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istr</a:t>
            </a: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= </a:t>
            </a:r>
            <a:r>
              <a:rPr lang="en-US" sz="3200" u="none" strike="noStrike" cap="none" dirty="0" err="1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int</a:t>
            </a: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(</a:t>
            </a:r>
            <a:r>
              <a:rPr lang="en-US" sz="3200" u="none" strike="noStrike" cap="none" dirty="0" err="1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astr</a:t>
            </a: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)</a:t>
            </a:r>
          </a:p>
        </p:txBody>
      </p:sp>
      <p:sp>
        <p:nvSpPr>
          <p:cNvPr id="653" name="Shape 653"/>
          <p:cNvSpPr txBox="1"/>
          <p:nvPr/>
        </p:nvSpPr>
        <p:spPr>
          <a:xfrm>
            <a:off x="8153400" y="7442200"/>
            <a:ext cx="3467099" cy="838199"/>
          </a:xfrm>
          <a:prstGeom prst="rect">
            <a:avLst/>
          </a:prstGeom>
          <a:noFill/>
          <a:ln w="508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print('Done', </a:t>
            </a:r>
            <a:r>
              <a:rPr lang="en-US" sz="3200" u="none" strike="noStrike" cap="none" dirty="0" err="1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istr</a:t>
            </a: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)</a:t>
            </a:r>
          </a:p>
        </p:txBody>
      </p:sp>
      <p:cxnSp>
        <p:nvCxnSpPr>
          <p:cNvPr id="654" name="Shape 654"/>
          <p:cNvCxnSpPr/>
          <p:nvPr/>
        </p:nvCxnSpPr>
        <p:spPr>
          <a:xfrm rot="10800000">
            <a:off x="9947275" y="3227386"/>
            <a:ext cx="19049" cy="541337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655" name="Shape 655"/>
          <p:cNvCxnSpPr/>
          <p:nvPr/>
        </p:nvCxnSpPr>
        <p:spPr>
          <a:xfrm rot="10800000" flipH="1">
            <a:off x="9947275" y="4618036"/>
            <a:ext cx="22225" cy="439736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656" name="Shape 656"/>
          <p:cNvSpPr txBox="1"/>
          <p:nvPr/>
        </p:nvSpPr>
        <p:spPr>
          <a:xfrm>
            <a:off x="12369800" y="6324600"/>
            <a:ext cx="3467099" cy="838199"/>
          </a:xfrm>
          <a:prstGeom prst="rect">
            <a:avLst/>
          </a:prstGeom>
          <a:noFill/>
          <a:ln w="50800" cap="rnd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 err="1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istr</a:t>
            </a: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= -1</a:t>
            </a:r>
          </a:p>
        </p:txBody>
      </p:sp>
      <p:cxnSp>
        <p:nvCxnSpPr>
          <p:cNvPr id="657" name="Shape 657"/>
          <p:cNvCxnSpPr/>
          <p:nvPr/>
        </p:nvCxnSpPr>
        <p:spPr>
          <a:xfrm rot="10800000" flipH="1">
            <a:off x="9942675" y="5940375"/>
            <a:ext cx="4799" cy="1550399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658" name="Shape 658"/>
          <p:cNvCxnSpPr/>
          <p:nvPr/>
        </p:nvCxnSpPr>
        <p:spPr>
          <a:xfrm rot="10800000">
            <a:off x="9293225" y="1884361"/>
            <a:ext cx="673099" cy="485775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659" name="Shape 659"/>
          <p:cNvCxnSpPr/>
          <p:nvPr/>
        </p:nvCxnSpPr>
        <p:spPr>
          <a:xfrm rot="10800000">
            <a:off x="11690349" y="4181475"/>
            <a:ext cx="2400300" cy="17461"/>
          </a:xfrm>
          <a:prstGeom prst="straightConnector1">
            <a:avLst/>
          </a:prstGeom>
          <a:noFill/>
          <a:ln w="63500" cap="rnd" cmpd="sng">
            <a:solidFill>
              <a:srgbClr val="FF9900"/>
            </a:solidFill>
            <a:prstDash val="dash"/>
            <a:miter/>
            <a:headEnd type="stealth" w="med" len="med"/>
            <a:tailEnd type="none" w="med" len="med"/>
          </a:ln>
        </p:spPr>
      </p:cxnSp>
      <p:cxnSp>
        <p:nvCxnSpPr>
          <p:cNvPr id="660" name="Shape 660"/>
          <p:cNvCxnSpPr/>
          <p:nvPr/>
        </p:nvCxnSpPr>
        <p:spPr>
          <a:xfrm rot="10800000">
            <a:off x="11690349" y="5489575"/>
            <a:ext cx="2400300" cy="33336"/>
          </a:xfrm>
          <a:prstGeom prst="straightConnector1">
            <a:avLst/>
          </a:prstGeom>
          <a:noFill/>
          <a:ln w="63500" cap="rnd" cmpd="sng">
            <a:solidFill>
              <a:srgbClr val="FF9900"/>
            </a:solidFill>
            <a:prstDash val="dash"/>
            <a:miter/>
            <a:headEnd type="stealth" w="med" len="med"/>
            <a:tailEnd type="none" w="med" len="med"/>
          </a:ln>
        </p:spPr>
      </p:cxnSp>
      <p:cxnSp>
        <p:nvCxnSpPr>
          <p:cNvPr id="661" name="Shape 661"/>
          <p:cNvCxnSpPr/>
          <p:nvPr/>
        </p:nvCxnSpPr>
        <p:spPr>
          <a:xfrm rot="10800000">
            <a:off x="14150600" y="2753249"/>
            <a:ext cx="14999" cy="3511500"/>
          </a:xfrm>
          <a:prstGeom prst="straightConnector1">
            <a:avLst/>
          </a:prstGeom>
          <a:noFill/>
          <a:ln w="63500" cap="rnd" cmpd="sng">
            <a:solidFill>
              <a:srgbClr val="FF9900"/>
            </a:solidFill>
            <a:prstDash val="dash"/>
            <a:miter/>
            <a:headEnd type="stealth" w="med" len="med"/>
            <a:tailEnd type="none" w="med" len="med"/>
          </a:ln>
        </p:spPr>
      </p:cxnSp>
      <p:cxnSp>
        <p:nvCxnSpPr>
          <p:cNvPr id="662" name="Shape 662"/>
          <p:cNvCxnSpPr/>
          <p:nvPr/>
        </p:nvCxnSpPr>
        <p:spPr>
          <a:xfrm rot="10800000" flipH="1">
            <a:off x="9927550" y="6737349"/>
            <a:ext cx="2351700" cy="405300"/>
          </a:xfrm>
          <a:prstGeom prst="straightConnector1">
            <a:avLst/>
          </a:prstGeom>
          <a:noFill/>
          <a:ln w="63500" cap="rnd" cmpd="sng">
            <a:solidFill>
              <a:srgbClr val="FF9900"/>
            </a:solidFill>
            <a:prstDash val="dash"/>
            <a:miter/>
            <a:headEnd type="stealth" w="med" len="med"/>
            <a:tailEnd type="none" w="med" len="med"/>
          </a:ln>
        </p:spPr>
      </p:cxnSp>
      <p:sp>
        <p:nvSpPr>
          <p:cNvPr id="663" name="Shape 663"/>
          <p:cNvSpPr txBox="1"/>
          <p:nvPr/>
        </p:nvSpPr>
        <p:spPr>
          <a:xfrm>
            <a:off x="12920677" y="7340600"/>
            <a:ext cx="2351700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Safety net</a:t>
            </a:r>
          </a:p>
        </p:txBody>
      </p:sp>
    </p:spTree>
    <p:extLst>
      <p:ext uri="{BB962C8B-B14F-4D97-AF65-F5344CB8AC3E}">
        <p14:creationId xmlns:p14="http://schemas.microsoft.com/office/powerpoint/2010/main" val="199300185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Shape 66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Sample try / except</a:t>
            </a:r>
          </a:p>
        </p:txBody>
      </p:sp>
      <p:sp>
        <p:nvSpPr>
          <p:cNvPr id="669" name="Shape 669"/>
          <p:cNvSpPr txBox="1"/>
          <p:nvPr/>
        </p:nvSpPr>
        <p:spPr>
          <a:xfrm>
            <a:off x="9999150" y="3585854"/>
            <a:ext cx="5941499" cy="3746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$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python3 </a:t>
            </a:r>
            <a:r>
              <a:rPr lang="en-US" sz="30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trynum.py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Enter a number: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42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Nice work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$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python3 </a:t>
            </a:r>
            <a:r>
              <a:rPr lang="en-US" sz="30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trynum.py</a:t>
            </a:r>
            <a:endParaRPr lang="en-US" sz="3000" i="0" u="none" strike="noStrike" cap="none" dirty="0">
              <a:solidFill>
                <a:srgbClr val="FF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Enter a </a:t>
            </a:r>
            <a:r>
              <a:rPr lang="en-US" sz="3000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number:</a:t>
            </a:r>
            <a:r>
              <a:rPr lang="en-US" sz="30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forty-two</a:t>
            </a:r>
            <a:endParaRPr lang="en-US" sz="3000" i="0" u="none" strike="noStrike" cap="none" dirty="0">
              <a:solidFill>
                <a:srgbClr val="FF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Not a number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$</a:t>
            </a:r>
          </a:p>
        </p:txBody>
      </p:sp>
      <p:sp>
        <p:nvSpPr>
          <p:cNvPr id="670" name="Shape 670"/>
          <p:cNvSpPr txBox="1"/>
          <p:nvPr/>
        </p:nvSpPr>
        <p:spPr>
          <a:xfrm>
            <a:off x="910375" y="2860675"/>
            <a:ext cx="8561099" cy="49847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rawstr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= input('Enter a number:')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try: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ival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30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int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rawstr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except: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i="0" u="none" strike="noStrike" cap="none" dirty="0" err="1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ival</a:t>
            </a: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 = -1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endParaRPr lang="en-US" sz="3000" dirty="0">
              <a:solidFill>
                <a:srgbClr val="00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if </a:t>
            </a:r>
            <a:r>
              <a:rPr lang="en-US" sz="30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ival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&gt; 0 :  </a:t>
            </a:r>
          </a:p>
          <a:p>
            <a:pPr lvl="0">
              <a:buClr>
                <a:srgbClr val="00FF00"/>
              </a:buClr>
              <a:buSzPct val="25000"/>
            </a:pP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   print('Nice work</a:t>
            </a:r>
            <a:r>
              <a:rPr lang="en-US" sz="300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')</a:t>
            </a:r>
            <a:endParaRPr lang="en-US" sz="3000" i="0" u="none" strike="noStrike" cap="none" dirty="0">
              <a:solidFill>
                <a:srgbClr val="00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else:  </a:t>
            </a:r>
          </a:p>
          <a:p>
            <a:pPr lvl="0">
              <a:buClr>
                <a:srgbClr val="00FF00"/>
              </a:buClr>
              <a:buSzPct val="25000"/>
            </a:pP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   print('Not a number</a:t>
            </a:r>
            <a:r>
              <a:rPr lang="en-US" sz="300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')</a:t>
            </a:r>
            <a:endParaRPr lang="en-US" sz="3000" i="0" u="none" strike="noStrike" cap="none" dirty="0">
              <a:solidFill>
                <a:srgbClr val="00FF00"/>
              </a:solidFill>
              <a:latin typeface="Courier"/>
              <a:ea typeface="Courier"/>
              <a:cs typeface="Courier"/>
              <a:sym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28635862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Shape 66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Sample try / except</a:t>
            </a:r>
          </a:p>
        </p:txBody>
      </p:sp>
      <p:sp>
        <p:nvSpPr>
          <p:cNvPr id="669" name="Shape 669"/>
          <p:cNvSpPr txBox="1"/>
          <p:nvPr/>
        </p:nvSpPr>
        <p:spPr>
          <a:xfrm>
            <a:off x="9999150" y="3585854"/>
            <a:ext cx="5941499" cy="3746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$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python3 </a:t>
            </a:r>
            <a:r>
              <a:rPr lang="en-US" sz="30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trynum.py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Enter a number: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42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Nice work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$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python3 </a:t>
            </a:r>
            <a:r>
              <a:rPr lang="en-US" sz="30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trynum.py</a:t>
            </a:r>
            <a:endParaRPr lang="en-US" sz="3000" i="0" u="none" strike="noStrike" cap="none" dirty="0">
              <a:solidFill>
                <a:srgbClr val="FF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Enter a </a:t>
            </a:r>
            <a:r>
              <a:rPr lang="en-US" sz="3000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number:</a:t>
            </a:r>
            <a:r>
              <a:rPr lang="en-US" sz="30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forty-two</a:t>
            </a:r>
            <a:endParaRPr lang="en-US" sz="3000" i="0" u="none" strike="noStrike" cap="none" dirty="0">
              <a:solidFill>
                <a:srgbClr val="FF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Not a number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$</a:t>
            </a:r>
          </a:p>
        </p:txBody>
      </p:sp>
      <p:sp>
        <p:nvSpPr>
          <p:cNvPr id="670" name="Shape 670"/>
          <p:cNvSpPr txBox="1"/>
          <p:nvPr/>
        </p:nvSpPr>
        <p:spPr>
          <a:xfrm>
            <a:off x="910375" y="2860675"/>
            <a:ext cx="8561099" cy="49847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rawstr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= input('Enter a number:')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try: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ival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30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int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rawstr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except: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i="0" u="none" strike="noStrike" cap="none" dirty="0" err="1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ival</a:t>
            </a: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 = -1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endParaRPr lang="en-US" sz="3000" dirty="0">
              <a:solidFill>
                <a:srgbClr val="00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if </a:t>
            </a:r>
            <a:r>
              <a:rPr lang="en-US" sz="30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ival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&gt; 0 :  </a:t>
            </a:r>
          </a:p>
          <a:p>
            <a:pPr lvl="0">
              <a:buClr>
                <a:srgbClr val="00FF00"/>
              </a:buClr>
              <a:buSzPct val="25000"/>
            </a:pP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   print('Nice work</a:t>
            </a:r>
            <a:r>
              <a:rPr lang="en-US" sz="300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')</a:t>
            </a:r>
            <a:endParaRPr lang="en-US" sz="3000" i="0" u="none" strike="noStrike" cap="none" dirty="0">
              <a:solidFill>
                <a:srgbClr val="00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else:  </a:t>
            </a:r>
          </a:p>
          <a:p>
            <a:pPr lvl="0">
              <a:buClr>
                <a:srgbClr val="00FF00"/>
              </a:buClr>
              <a:buSzPct val="25000"/>
            </a:pP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   print('Not a number</a:t>
            </a:r>
            <a:r>
              <a:rPr lang="en-US" sz="300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')</a:t>
            </a:r>
            <a:endParaRPr lang="en-US" sz="3000" i="0" u="none" strike="noStrike" cap="none" dirty="0">
              <a:solidFill>
                <a:srgbClr val="00FF00"/>
              </a:solidFill>
              <a:latin typeface="Courier"/>
              <a:ea typeface="Courier"/>
              <a:cs typeface="Courier"/>
              <a:sym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04343584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Shape 688"/>
          <p:cNvSpPr txBox="1">
            <a:spLocks noGrp="1"/>
          </p:cNvSpPr>
          <p:nvPr>
            <p:ph type="title"/>
          </p:nvPr>
        </p:nvSpPr>
        <p:spPr>
          <a:xfrm>
            <a:off x="1562100" y="694788"/>
            <a:ext cx="13258800" cy="1794312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7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Code Break!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B96E0A-848E-E145-9E2F-5926C4ED9DE1}"/>
              </a:ext>
            </a:extLst>
          </p:cNvPr>
          <p:cNvSpPr txBox="1"/>
          <p:nvPr/>
        </p:nvSpPr>
        <p:spPr>
          <a:xfrm>
            <a:off x="1562100" y="3014134"/>
            <a:ext cx="1277196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solidFill>
                  <a:schemeClr val="bg1"/>
                </a:solidFill>
              </a:rPr>
              <a:t>You already wrote a program which can ask the user how old they are. Since input() returns a </a:t>
            </a:r>
            <a:r>
              <a:rPr lang="en-US" sz="3000" dirty="0">
                <a:solidFill>
                  <a:srgbClr val="29FD2F"/>
                </a:solidFill>
              </a:rPr>
              <a:t>string</a:t>
            </a:r>
            <a:r>
              <a:rPr lang="en-US" sz="3000" dirty="0">
                <a:solidFill>
                  <a:schemeClr val="bg1"/>
                </a:solidFill>
              </a:rPr>
              <a:t>, you have to have a line in your program that looks like this to convert the user’s age to a number:</a:t>
            </a:r>
          </a:p>
          <a:p>
            <a:endParaRPr lang="en-US" sz="3000" dirty="0">
              <a:solidFill>
                <a:schemeClr val="bg1"/>
              </a:solidFill>
            </a:endParaRPr>
          </a:p>
          <a:p>
            <a:r>
              <a:rPr lang="en-US" sz="3000" dirty="0">
                <a:solidFill>
                  <a:schemeClr val="bg1"/>
                </a:solidFill>
              </a:rPr>
              <a:t>age = </a:t>
            </a:r>
            <a:r>
              <a:rPr lang="en-US" sz="3000" dirty="0" err="1">
                <a:solidFill>
                  <a:schemeClr val="bg1"/>
                </a:solidFill>
              </a:rPr>
              <a:t>int</a:t>
            </a:r>
            <a:r>
              <a:rPr lang="en-US" sz="3000" dirty="0">
                <a:solidFill>
                  <a:schemeClr val="bg1"/>
                </a:solidFill>
              </a:rPr>
              <a:t>(age)</a:t>
            </a:r>
          </a:p>
          <a:p>
            <a:endParaRPr lang="en-US" sz="3000" dirty="0">
              <a:solidFill>
                <a:schemeClr val="bg1"/>
              </a:solidFill>
            </a:endParaRPr>
          </a:p>
          <a:p>
            <a:r>
              <a:rPr lang="en-US" sz="3000" dirty="0">
                <a:solidFill>
                  <a:schemeClr val="bg1"/>
                </a:solidFill>
              </a:rPr>
              <a:t>But what happens to your program if the user puts in “fifteen”? Use try/except to improve your program. If the user does not enter a number, print out “Sorry, try again. You can only input numbers like 33 or 28.” </a:t>
            </a:r>
          </a:p>
        </p:txBody>
      </p:sp>
    </p:spTree>
    <p:extLst>
      <p:ext uri="{BB962C8B-B14F-4D97-AF65-F5344CB8AC3E}">
        <p14:creationId xmlns:p14="http://schemas.microsoft.com/office/powerpoint/2010/main" val="377864965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Shape 688"/>
          <p:cNvSpPr txBox="1">
            <a:spLocks noGrp="1"/>
          </p:cNvSpPr>
          <p:nvPr>
            <p:ph type="title"/>
          </p:nvPr>
        </p:nvSpPr>
        <p:spPr>
          <a:xfrm>
            <a:off x="1155700" y="745588"/>
            <a:ext cx="13258800" cy="1794312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7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Summary</a:t>
            </a:r>
          </a:p>
        </p:txBody>
      </p:sp>
      <p:sp>
        <p:nvSpPr>
          <p:cNvPr id="689" name="Shape 689"/>
          <p:cNvSpPr txBox="1">
            <a:spLocks noGrp="1"/>
          </p:cNvSpPr>
          <p:nvPr>
            <p:ph type="body" idx="1"/>
          </p:nvPr>
        </p:nvSpPr>
        <p:spPr>
          <a:xfrm>
            <a:off x="1155700" y="2945058"/>
            <a:ext cx="13932000" cy="4705644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t" anchorCtr="0">
            <a:noAutofit/>
          </a:bodyPr>
          <a:lstStyle/>
          <a:p>
            <a:pPr marL="685800" marR="0" lvl="0" indent="-437896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Comparison operators  </a:t>
            </a:r>
            <a:b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</a:br>
            <a:r>
              <a:rPr lang="en-US" sz="36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==   &lt;=   &gt;=   &gt;   &lt;   !=</a:t>
            </a:r>
          </a:p>
          <a:p>
            <a:pPr marL="685800" marR="0" lvl="0" indent="-437896" algn="l" rtl="0">
              <a:lnSpc>
                <a:spcPct val="8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Indentation</a:t>
            </a:r>
          </a:p>
          <a:p>
            <a:pPr marL="685800" marR="0" lvl="0" indent="-437896" algn="l" rtl="0">
              <a:lnSpc>
                <a:spcPct val="8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One</a:t>
            </a:r>
            <a:r>
              <a:rPr lang="en-US" sz="36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-w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ay Decision</a:t>
            </a:r>
            <a:r>
              <a:rPr lang="en-US" sz="36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</a:t>
            </a:r>
          </a:p>
          <a:p>
            <a:pPr marL="685800" marR="0" lvl="0" indent="-437896" algn="l" rtl="0">
              <a:lnSpc>
                <a:spcPct val="8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Two-way decisions:</a:t>
            </a:r>
            <a:br>
              <a:rPr lang="en-US" sz="36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</a:br>
            <a:r>
              <a:rPr lang="en-US" sz="3600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if:</a:t>
            </a:r>
            <a:r>
              <a:rPr lang="en-US" sz="36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 and  </a:t>
            </a:r>
            <a:r>
              <a:rPr lang="en-US" sz="3600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else:</a:t>
            </a:r>
          </a:p>
        </p:txBody>
      </p:sp>
      <p:sp>
        <p:nvSpPr>
          <p:cNvPr id="690" name="Shape 690"/>
          <p:cNvSpPr txBox="1">
            <a:spLocks noGrp="1"/>
          </p:cNvSpPr>
          <p:nvPr>
            <p:ph type="body" idx="4294967295"/>
          </p:nvPr>
        </p:nvSpPr>
        <p:spPr>
          <a:xfrm>
            <a:off x="7967691" y="2945058"/>
            <a:ext cx="7000406" cy="478286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t" anchorCtr="0">
            <a:noAutofit/>
          </a:bodyPr>
          <a:lstStyle/>
          <a:p>
            <a:pPr marL="685800" marR="0" lvl="0" indent="-437896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Nested Decisions</a:t>
            </a:r>
          </a:p>
          <a:p>
            <a:pPr marL="685800" marR="0" lvl="0" indent="-437896" algn="l" rtl="0">
              <a:lnSpc>
                <a:spcPct val="8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Multi-way decisions using </a:t>
            </a:r>
            <a:r>
              <a:rPr lang="en-US" sz="3600" u="none" strike="noStrike" cap="none" dirty="0" err="1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elif</a:t>
            </a:r>
            <a:endParaRPr lang="en-US" sz="3600" u="none" strike="noStrike" cap="none" dirty="0">
              <a:solidFill>
                <a:srgbClr val="00FF00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  <a:p>
            <a:pPr marL="685800" marR="0" lvl="0" indent="-437896" algn="l" rtl="0">
              <a:lnSpc>
                <a:spcPct val="8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</a:t>
            </a:r>
            <a:r>
              <a:rPr lang="en-US" sz="36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ry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/ </a:t>
            </a:r>
            <a:r>
              <a:rPr lang="en-US" sz="3600" dirty="0">
                <a:solidFill>
                  <a:srgbClr val="FF99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e</a:t>
            </a:r>
            <a:r>
              <a:rPr lang="en-US" sz="3600" u="none" strike="noStrike" cap="none" dirty="0">
                <a:solidFill>
                  <a:srgbClr val="FF99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xcept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to compensate 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for errors</a:t>
            </a:r>
            <a:endParaRPr lang="en-US" sz="3600" u="none" strike="noStrike" cap="none" dirty="0">
              <a:solidFill>
                <a:schemeClr val="lt1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</p:spTree>
    <p:extLst>
      <p:ext uri="{BB962C8B-B14F-4D97-AF65-F5344CB8AC3E}">
        <p14:creationId xmlns:p14="http://schemas.microsoft.com/office/powerpoint/2010/main" val="128250985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Shape 688"/>
          <p:cNvSpPr txBox="1">
            <a:spLocks noGrp="1"/>
          </p:cNvSpPr>
          <p:nvPr>
            <p:ph type="title"/>
          </p:nvPr>
        </p:nvSpPr>
        <p:spPr>
          <a:xfrm>
            <a:off x="1443567" y="660921"/>
            <a:ext cx="13258800" cy="1794312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7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That’s It!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2213C61-C582-A843-BAE2-F1FC67B549A6}"/>
              </a:ext>
            </a:extLst>
          </p:cNvPr>
          <p:cNvSpPr txBox="1"/>
          <p:nvPr/>
        </p:nvSpPr>
        <p:spPr>
          <a:xfrm>
            <a:off x="2350759" y="4639734"/>
            <a:ext cx="1086868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solidFill>
                  <a:schemeClr val="bg1"/>
                </a:solidFill>
              </a:rPr>
              <a:t>Take a look at your homework and submit before next class. </a:t>
            </a:r>
            <a:r>
              <a:rPr lang="en-US" sz="3000" dirty="0">
                <a:solidFill>
                  <a:schemeClr val="bg1"/>
                </a:solidFill>
                <a:sym typeface="Wingdings" pitchFamily="2" charset="2"/>
              </a:rPr>
              <a:t></a:t>
            </a:r>
            <a:endParaRPr lang="en-US" sz="3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49014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Shape 54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3600" dirty="0">
                <a:solidFill>
                  <a:srgbClr val="FFFF00"/>
                </a:solidFill>
              </a:rPr>
              <a:t>Acknowledgements / Contributions</a:t>
            </a:r>
          </a:p>
        </p:txBody>
      </p:sp>
      <p:sp>
        <p:nvSpPr>
          <p:cNvPr id="549" name="Shape 549"/>
          <p:cNvSpPr txBox="1"/>
          <p:nvPr/>
        </p:nvSpPr>
        <p:spPr>
          <a:xfrm>
            <a:off x="1155700" y="2171403"/>
            <a:ext cx="6797699" cy="594389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1800" dirty="0">
                <a:solidFill>
                  <a:srgbClr val="FFFFFF"/>
                </a:solidFill>
              </a:rPr>
              <a:t>These slides are Copyright 2010-  Charles R. Severance (</a:t>
            </a:r>
            <a:r>
              <a:rPr lang="en-US" sz="1800" u="sng" dirty="0">
                <a:solidFill>
                  <a:srgbClr val="FFFF00"/>
                </a:solidFill>
                <a:hlinkClick r:id="rId3"/>
              </a:rPr>
              <a:t>www.dr-chuck.com</a:t>
            </a:r>
            <a:r>
              <a:rPr lang="en-US" sz="1800" dirty="0">
                <a:solidFill>
                  <a:srgbClr val="FFFFFF"/>
                </a:solidFill>
              </a:rPr>
              <a:t>) of the University of Michigan School of Information and made available under a Creative Commons Attribution 4.0 License.  Please maintain this last slide in all copies of the document to comply with the attribution requirements of the license.  If you make a change, feel free to add your name and organization to the list of contributors on this page as you republish the materials.</a:t>
            </a:r>
          </a:p>
          <a:p>
            <a:pPr lvl="0" rtl="0">
              <a:spcBef>
                <a:spcPts val="0"/>
              </a:spcBef>
              <a:buNone/>
            </a:pPr>
            <a:endParaRPr sz="1800" dirty="0">
              <a:solidFill>
                <a:srgbClr val="FFFFFF"/>
              </a:solidFill>
            </a:endParaRPr>
          </a:p>
          <a:p>
            <a:pPr lvl="0" rtl="0">
              <a:spcBef>
                <a:spcPts val="0"/>
              </a:spcBef>
              <a:buNone/>
            </a:pPr>
            <a:r>
              <a:rPr lang="en-US" sz="1800" dirty="0">
                <a:solidFill>
                  <a:srgbClr val="FFFFFF"/>
                </a:solidFill>
              </a:rPr>
              <a:t>Initial Development: Charles Severance, University of Michigan School of Information</a:t>
            </a:r>
          </a:p>
          <a:p>
            <a:pPr lvl="0" rtl="0">
              <a:spcBef>
                <a:spcPts val="0"/>
              </a:spcBef>
              <a:buNone/>
            </a:pPr>
            <a:endParaRPr sz="1800" dirty="0">
              <a:solidFill>
                <a:srgbClr val="FFFFFF"/>
              </a:solidFill>
            </a:endParaRPr>
          </a:p>
          <a:p>
            <a:pPr lvl="0" rtl="0">
              <a:spcBef>
                <a:spcPts val="0"/>
              </a:spcBef>
              <a:buNone/>
            </a:pPr>
            <a:r>
              <a:rPr lang="en-US" sz="1800" dirty="0">
                <a:solidFill>
                  <a:srgbClr val="FFFFFF"/>
                </a:solidFill>
              </a:rPr>
              <a:t>Slides condensed into an 8 deck series aimed at younger learners in China by Jeremy Pedersen.</a:t>
            </a:r>
            <a:endParaRPr sz="1800" dirty="0">
              <a:solidFill>
                <a:srgbClr val="FFFFFF"/>
              </a:solidFill>
            </a:endParaRPr>
          </a:p>
        </p:txBody>
      </p:sp>
      <p:pic>
        <p:nvPicPr>
          <p:cNvPr id="551" name="Shape 551"/>
          <p:cNvPicPr preferRelativeResize="0"/>
          <p:nvPr/>
        </p:nvPicPr>
        <p:blipFill rotWithShape="1"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897687" y="1170103"/>
            <a:ext cx="1968599" cy="6684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7919933"/>
      </p:ext>
    </p:extLst>
  </p:cSld>
  <p:clrMapOvr>
    <a:masterClrMapping/>
  </p:clrMapOvr>
</p:sld>
</file>

<file path=ppt/theme/theme1.xml><?xml version="1.0" encoding="utf-8"?>
<a:theme xmlns:a="http://schemas.openxmlformats.org/drawingml/2006/main" name="Title &amp; Subtitle">
  <a:themeElements>
    <a:clrScheme name="">
      <a:dk1>
        <a:srgbClr val="808080"/>
      </a:dk1>
      <a:lt1>
        <a:srgbClr val="FFFFFF"/>
      </a:lt1>
      <a:dk2>
        <a:srgbClr val="000000"/>
      </a:dk2>
      <a:lt2>
        <a:srgbClr val="000000"/>
      </a:lt2>
      <a:accent1>
        <a:srgbClr val="BBE0E3"/>
      </a:accent1>
      <a:accent2>
        <a:srgbClr val="333399"/>
      </a:accent2>
      <a:accent3>
        <a:srgbClr val="AAAAAA"/>
      </a:accent3>
      <a:accent4>
        <a:srgbClr val="DADADA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1233</TotalTime>
  <Words>3688</Words>
  <Application>Microsoft Macintosh PowerPoint</Application>
  <PresentationFormat>Custom</PresentationFormat>
  <Paragraphs>711</Paragraphs>
  <Slides>63</Slides>
  <Notes>58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71" baseType="lpstr">
      <vt:lpstr>Cabin</vt:lpstr>
      <vt:lpstr>ヒラギノ角ゴ ProN W3</vt:lpstr>
      <vt:lpstr>Arial</vt:lpstr>
      <vt:lpstr>Courier</vt:lpstr>
      <vt:lpstr>Courier New</vt:lpstr>
      <vt:lpstr>Gill Sans</vt:lpstr>
      <vt:lpstr>Wingdings</vt:lpstr>
      <vt:lpstr>Title &amp; Subtitle</vt:lpstr>
      <vt:lpstr>Constants, Variables, and Conditionals</vt:lpstr>
      <vt:lpstr>Constants</vt:lpstr>
      <vt:lpstr>Variables</vt:lpstr>
      <vt:lpstr>Variables</vt:lpstr>
      <vt:lpstr>Code Break!</vt:lpstr>
      <vt:lpstr>Python Variable Name Rules</vt:lpstr>
      <vt:lpstr>Mnemonic Variable Names</vt:lpstr>
      <vt:lpstr>PowerPoint Presentation</vt:lpstr>
      <vt:lpstr>PowerPoint Presentation</vt:lpstr>
      <vt:lpstr>PowerPoint Presentation</vt:lpstr>
      <vt:lpstr>Assignment Statements</vt:lpstr>
      <vt:lpstr>Expressions…</vt:lpstr>
      <vt:lpstr>Numeric Expressions</vt:lpstr>
      <vt:lpstr>Numeric Expressions</vt:lpstr>
      <vt:lpstr>Order of Evaluation</vt:lpstr>
      <vt:lpstr>Operator Precedence Rules</vt:lpstr>
      <vt:lpstr>PowerPoint Presentation</vt:lpstr>
      <vt:lpstr>PowerPoint Presentation</vt:lpstr>
      <vt:lpstr>PowerPoint Presentation</vt:lpstr>
      <vt:lpstr>Variable Types…</vt:lpstr>
      <vt:lpstr>What Does “Type” Mean?</vt:lpstr>
      <vt:lpstr>Try It Yourself</vt:lpstr>
      <vt:lpstr>Type Matters</vt:lpstr>
      <vt:lpstr>Type Conversions</vt:lpstr>
      <vt:lpstr>Type Conversions, Continued</vt:lpstr>
      <vt:lpstr>User Input</vt:lpstr>
      <vt:lpstr>Converting User Input</vt:lpstr>
      <vt:lpstr>Now You Try</vt:lpstr>
      <vt:lpstr>Comments…</vt:lpstr>
      <vt:lpstr>Comments in Python</vt:lpstr>
      <vt:lpstr>Conditionals!</vt:lpstr>
      <vt:lpstr>Conditional Steps</vt:lpstr>
      <vt:lpstr>Comparison Operators</vt:lpstr>
      <vt:lpstr>Comparison Operators</vt:lpstr>
      <vt:lpstr>One-Way Decisions</vt:lpstr>
      <vt:lpstr>Indentation</vt:lpstr>
      <vt:lpstr>PowerPoint Presentation</vt:lpstr>
      <vt:lpstr>PowerPoint Presentation</vt:lpstr>
      <vt:lpstr>Code Break!</vt:lpstr>
      <vt:lpstr>PowerPoint Presentation</vt:lpstr>
      <vt:lpstr>Two-way Decisions</vt:lpstr>
      <vt:lpstr>Two-way Decisions with else:</vt:lpstr>
      <vt:lpstr>Visualize Blocks</vt:lpstr>
      <vt:lpstr>More Conditional Structures…</vt:lpstr>
      <vt:lpstr>Multi-way</vt:lpstr>
      <vt:lpstr>Multi-way</vt:lpstr>
      <vt:lpstr>Multi-way</vt:lpstr>
      <vt:lpstr>Multi-way</vt:lpstr>
      <vt:lpstr>Multi-way</vt:lpstr>
      <vt:lpstr>Multi-way Puzzles</vt:lpstr>
      <vt:lpstr>Code Break!</vt:lpstr>
      <vt:lpstr>My Favorite Part!</vt:lpstr>
      <vt:lpstr>The try / except Structure</vt:lpstr>
      <vt:lpstr>PowerPoint Presentation</vt:lpstr>
      <vt:lpstr>PowerPoint Presentation</vt:lpstr>
      <vt:lpstr>PowerPoint Presentation</vt:lpstr>
      <vt:lpstr>try / except</vt:lpstr>
      <vt:lpstr>Sample try / except</vt:lpstr>
      <vt:lpstr>Sample try / except</vt:lpstr>
      <vt:lpstr>Code Break!</vt:lpstr>
      <vt:lpstr>Summary</vt:lpstr>
      <vt:lpstr>That’s It!</vt:lpstr>
      <vt:lpstr>Acknowledgements / Contributions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Variables, Expressions, and Statements</dc:title>
  <cp:lastModifiedBy>Microsoft Office User</cp:lastModifiedBy>
  <cp:revision>143</cp:revision>
  <cp:lastPrinted>2018-11-24T04:50:05Z</cp:lastPrinted>
  <dcterms:modified xsi:type="dcterms:W3CDTF">2018-11-24T06:35:16Z</dcterms:modified>
</cp:coreProperties>
</file>