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14" r:id="rId1"/>
  </p:sldMasterIdLst>
  <p:notesMasterIdLst>
    <p:notesMasterId r:id="rId65"/>
  </p:notesMasterIdLst>
  <p:sldIdLst>
    <p:sldId id="256" r:id="rId2"/>
    <p:sldId id="257" r:id="rId3"/>
    <p:sldId id="258" r:id="rId4"/>
    <p:sldId id="291" r:id="rId5"/>
    <p:sldId id="343" r:id="rId6"/>
    <p:sldId id="260" r:id="rId7"/>
    <p:sldId id="296" r:id="rId8"/>
    <p:sldId id="297" r:id="rId9"/>
    <p:sldId id="298" r:id="rId10"/>
    <p:sldId id="299" r:id="rId11"/>
    <p:sldId id="263" r:id="rId12"/>
    <p:sldId id="301" r:id="rId13"/>
    <p:sldId id="266" r:id="rId14"/>
    <p:sldId id="267" r:id="rId15"/>
    <p:sldId id="268" r:id="rId16"/>
    <p:sldId id="269" r:id="rId17"/>
    <p:sldId id="270" r:id="rId18"/>
    <p:sldId id="333" r:id="rId19"/>
    <p:sldId id="329" r:id="rId20"/>
    <p:sldId id="330" r:id="rId21"/>
    <p:sldId id="274" r:id="rId22"/>
    <p:sldId id="331" r:id="rId23"/>
    <p:sldId id="275" r:id="rId24"/>
    <p:sldId id="277" r:id="rId25"/>
    <p:sldId id="332" r:id="rId26"/>
    <p:sldId id="279" r:id="rId27"/>
    <p:sldId id="280" r:id="rId28"/>
    <p:sldId id="334" r:id="rId29"/>
    <p:sldId id="335" r:id="rId30"/>
    <p:sldId id="281" r:id="rId31"/>
    <p:sldId id="336" r:id="rId32"/>
    <p:sldId id="305" r:id="rId33"/>
    <p:sldId id="306" r:id="rId34"/>
    <p:sldId id="259" r:id="rId35"/>
    <p:sldId id="307" r:id="rId36"/>
    <p:sldId id="261" r:id="rId37"/>
    <p:sldId id="309" r:id="rId38"/>
    <p:sldId id="310" r:id="rId39"/>
    <p:sldId id="337" r:id="rId40"/>
    <p:sldId id="311" r:id="rId41"/>
    <p:sldId id="312" r:id="rId42"/>
    <p:sldId id="290" r:id="rId43"/>
    <p:sldId id="313" r:id="rId44"/>
    <p:sldId id="314" r:id="rId45"/>
    <p:sldId id="315" r:id="rId46"/>
    <p:sldId id="292" r:id="rId47"/>
    <p:sldId id="316" r:id="rId48"/>
    <p:sldId id="317" r:id="rId49"/>
    <p:sldId id="318" r:id="rId50"/>
    <p:sldId id="319" r:id="rId51"/>
    <p:sldId id="339" r:id="rId52"/>
    <p:sldId id="338" r:id="rId53"/>
    <p:sldId id="320" r:id="rId54"/>
    <p:sldId id="321" r:id="rId55"/>
    <p:sldId id="322" r:id="rId56"/>
    <p:sldId id="325" r:id="rId57"/>
    <p:sldId id="326" r:id="rId58"/>
    <p:sldId id="327" r:id="rId59"/>
    <p:sldId id="342" r:id="rId60"/>
    <p:sldId id="285" r:id="rId61"/>
    <p:sldId id="340" r:id="rId62"/>
    <p:sldId id="341" r:id="rId63"/>
    <p:sldId id="328" r:id="rId64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9FD2F"/>
    <a:srgbClr val="FFFB4E"/>
    <a:srgbClr val="FFFD38"/>
    <a:srgbClr val="FED86F"/>
    <a:srgbClr val="2DFFFE"/>
    <a:srgbClr val="00FA00"/>
    <a:srgbClr val="FF40FF"/>
    <a:srgbClr val="FF545A"/>
    <a:srgbClr val="FF898B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4014B03-8F40-49A2-A0EB-D18ED94CC971}">
  <a:tblStyle styleId="{54014B03-8F40-49A2-A0EB-D18ED94CC971}" styleName="Table_0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82"/>
    <p:restoredTop sz="93533"/>
  </p:normalViewPr>
  <p:slideViewPr>
    <p:cSldViewPr snapToGrid="0" snapToObjects="1">
      <p:cViewPr varScale="1">
        <p:scale>
          <a:sx n="76" d="100"/>
          <a:sy n="76" d="100"/>
        </p:scale>
        <p:origin x="1480" y="208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606313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39" name="Shape 23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402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24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96026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5" name="Shape 2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8351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5" name="Shape 2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2925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5" name="Shape 2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29658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3" name="Shape 28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869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4" name="Shape 50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6059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51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11" name="Shape 5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96784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Shape 5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17" name="Shape 51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7233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Shape 52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4" name="Shape 52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198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3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0" name="Shape 3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18228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35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2" name="Shape 35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18887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3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9" name="Shape 35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258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37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75" name="Shape 37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91699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3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2" name="Shape 38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0909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683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82671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90374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5002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7430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41" name="Shape 4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87150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4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55" name="Shape 4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516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534191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46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9" name="Shape 46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53411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7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77" name="Shape 4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13010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7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77" name="Shape 4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40253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4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86" name="Shape 4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94725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5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5" name="Shape 56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32709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2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79" name="Shape 2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69909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3176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6" name="Shape 29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94694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3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62169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6856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77381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85822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36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67" name="Shape 36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95793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85779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22275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94577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40646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93369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4171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98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5493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036755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30598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2874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7" name="Shape 58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51463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348838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623168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Shape 63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2" name="Shape 63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919947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64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4" name="Shape 64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57124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6" name="Shape 6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3752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6" name="Shape 6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40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659969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375504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716768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6848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155" name="Shape 155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749300" lvl="0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1pPr>
            <a:lvl2pPr marL="1041400" lvl="1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333500" lvl="2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638300" lvl="3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930400" lvl="4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387600" lvl="5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844800" lvl="6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302000" lvl="7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759200" lvl="8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2740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866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715" r:id="rId3"/>
    <p:sldLayoutId id="214748371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5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Mnemonic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George_Bool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Constants, Variables, and Conditionals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2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4081448" y="7131044"/>
            <a:ext cx="8328600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sng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www.py4e.com</a:t>
            </a:r>
            <a:endParaRPr lang="en-US" sz="3200" u="sng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  <a:hlinkClick r:id="rId3"/>
            </a:endParaRPr>
          </a:p>
        </p:txBody>
      </p:sp>
      <p:pic>
        <p:nvPicPr>
          <p:cNvPr id="244" name="Shape 24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00662" y="7435344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070626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8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</a:t>
            </a:r>
          </a:p>
        </p:txBody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60337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Fixed values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such as numbers, letters, and strings, are called </a:t>
            </a:r>
            <a:r>
              <a:rPr lang="en-US" sz="3600" b="0" i="0" u="none" strike="noStrike" cap="none" dirty="0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</a:t>
            </a:r>
            <a:r>
              <a:rPr lang="en-US" sz="3600" b="0" i="0" u="none" strike="noStrike" cap="none" dirty="0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because their value does not change</a:t>
            </a:r>
          </a:p>
          <a:p>
            <a:pPr marL="501523" marR="0" lvl="0" indent="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b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52" name="Shape 252"/>
          <p:cNvSpPr txBox="1"/>
          <p:nvPr/>
        </p:nvSpPr>
        <p:spPr>
          <a:xfrm>
            <a:off x="10115550" y="5041900"/>
            <a:ext cx="5986463" cy="31257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123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123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98.6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98.6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'Hello world'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Hello world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</p:txBody>
      </p:sp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26749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named place in the memory where a programmer can store data and later retrieve the data using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variable’s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“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Programmers get to choose the names of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change the contents of 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a later statement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10388600" y="50831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12.2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9534525" y="5280014"/>
            <a:ext cx="444500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</a:p>
        </p:txBody>
      </p:sp>
      <p:sp>
        <p:nvSpPr>
          <p:cNvPr id="261" name="Shape 261"/>
          <p:cNvSpPr txBox="1"/>
          <p:nvPr/>
        </p:nvSpPr>
        <p:spPr>
          <a:xfrm>
            <a:off x="10350500" y="67214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14               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9518650" y="6924664"/>
            <a:ext cx="404811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</a:t>
            </a:r>
          </a:p>
        </p:txBody>
      </p:sp>
      <p:sp>
        <p:nvSpPr>
          <p:cNvPr id="263" name="Shape 263"/>
          <p:cNvSpPr txBox="1"/>
          <p:nvPr/>
        </p:nvSpPr>
        <p:spPr>
          <a:xfrm>
            <a:off x="2624125" y="5314827"/>
            <a:ext cx="4038900" cy="2387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12.2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 dirty="0">
              <a:latin typeface="Courier"/>
              <a:ea typeface="Courier"/>
              <a:cs typeface="Courier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</p:txBody>
      </p:sp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26749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named place in the memory where a programmer can store data and later retrieve the data using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“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Programmers get to choose the names of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change the contents of 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a later statement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10388600" y="50831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12.2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9534525" y="5280014"/>
            <a:ext cx="444500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</a:p>
        </p:txBody>
      </p:sp>
      <p:sp>
        <p:nvSpPr>
          <p:cNvPr id="261" name="Shape 261"/>
          <p:cNvSpPr txBox="1"/>
          <p:nvPr/>
        </p:nvSpPr>
        <p:spPr>
          <a:xfrm>
            <a:off x="10350500" y="67214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14               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9518650" y="6924664"/>
            <a:ext cx="404811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</a:t>
            </a:r>
          </a:p>
        </p:txBody>
      </p:sp>
      <p:grpSp>
        <p:nvGrpSpPr>
          <p:cNvPr id="10" name="Shape 276"/>
          <p:cNvGrpSpPr/>
          <p:nvPr/>
        </p:nvGrpSpPr>
        <p:grpSpPr>
          <a:xfrm>
            <a:off x="10690224" y="5319702"/>
            <a:ext cx="763600" cy="903398"/>
            <a:chOff x="0" y="0"/>
            <a:chExt cx="762000" cy="901775"/>
          </a:xfrm>
        </p:grpSpPr>
        <p:cxnSp>
          <p:nvCxnSpPr>
            <p:cNvPr id="11" name="Shape 277"/>
            <p:cNvCxnSpPr/>
            <p:nvPr/>
          </p:nvCxnSpPr>
          <p:spPr>
            <a:xfrm flipH="1">
              <a:off x="0" y="15875"/>
              <a:ext cx="762000" cy="885900"/>
            </a:xfrm>
            <a:prstGeom prst="straightConnector1">
              <a:avLst/>
            </a:prstGeom>
            <a:noFill/>
            <a:ln w="63500" cap="rnd" cmpd="sng">
              <a:solidFill>
                <a:srgbClr val="FFFF00"/>
              </a:solidFill>
              <a:prstDash val="solid"/>
              <a:miter/>
              <a:headEnd type="none" w="med" len="med"/>
              <a:tailEnd type="none" w="med" len="med"/>
            </a:ln>
          </p:spPr>
        </p:cxnSp>
        <p:cxnSp>
          <p:nvCxnSpPr>
            <p:cNvPr id="12" name="Shape 278"/>
            <p:cNvCxnSpPr/>
            <p:nvPr/>
          </p:nvCxnSpPr>
          <p:spPr>
            <a:xfrm>
              <a:off x="0" y="0"/>
              <a:ext cx="571500" cy="796799"/>
            </a:xfrm>
            <a:prstGeom prst="straightConnector1">
              <a:avLst/>
            </a:prstGeom>
            <a:noFill/>
            <a:ln w="63500" cap="rnd" cmpd="sng">
              <a:solidFill>
                <a:srgbClr val="FFFF00"/>
              </a:solidFill>
              <a:prstDash val="solid"/>
              <a:miter/>
              <a:headEnd type="none" w="med" len="med"/>
              <a:tailEnd type="none" w="med" len="med"/>
            </a:ln>
          </p:spPr>
        </p:cxnSp>
      </p:grpSp>
      <p:sp>
        <p:nvSpPr>
          <p:cNvPr id="13" name="Shape 279"/>
          <p:cNvSpPr txBox="1"/>
          <p:nvPr/>
        </p:nvSpPr>
        <p:spPr>
          <a:xfrm>
            <a:off x="11852275" y="5256202"/>
            <a:ext cx="1669799" cy="939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5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100</a:t>
            </a:r>
          </a:p>
        </p:txBody>
      </p:sp>
      <p:sp>
        <p:nvSpPr>
          <p:cNvPr id="14" name="Shape 263"/>
          <p:cNvSpPr txBox="1"/>
          <p:nvPr/>
        </p:nvSpPr>
        <p:spPr>
          <a:xfrm>
            <a:off x="2624125" y="5314827"/>
            <a:ext cx="4038900" cy="2387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12.2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14</a:t>
            </a:r>
          </a:p>
          <a:p>
            <a:r>
              <a:rPr lang="en-US" sz="48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804962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 Break!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812800" y="3826934"/>
            <a:ext cx="14630400" cy="26749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lvl="0" indent="-371094">
              <a:spcBef>
                <a:spcPts val="0"/>
              </a:spcBef>
              <a:buSzPct val="100000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Start Python and make some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variables</a:t>
            </a:r>
          </a:p>
          <a:p>
            <a:pPr lvl="0" indent="-371094">
              <a:spcBef>
                <a:spcPts val="0"/>
              </a:spcBef>
              <a:buSzPct val="100000"/>
            </a:pP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changing the values of your variables, what happens?</a:t>
            </a:r>
            <a:endParaRPr lang="en-US" sz="32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62415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Variable Name Rules</a:t>
            </a:r>
          </a:p>
        </p:txBody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31242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949706" indent="-571500">
              <a:spcBef>
                <a:spcPts val="0"/>
              </a:spcBef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Must start with a letter or underscore _ </a:t>
            </a:r>
          </a:p>
          <a:p>
            <a:pPr marL="949706" indent="-571500"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Must consist of letters, numbers, and underscores</a:t>
            </a:r>
          </a:p>
          <a:p>
            <a:pPr marL="949706" indent="-571500"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Case Sensitive</a:t>
            </a:r>
            <a:b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endParaRPr lang="en-US"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34291" y="5500691"/>
            <a:ext cx="1155156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0FA00"/>
                </a:solidFill>
                <a:latin typeface="Courier" charset="0"/>
                <a:ea typeface="Courier" charset="0"/>
                <a:cs typeface="Courier" charset="0"/>
              </a:rPr>
              <a:t>Good: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spam    eggs   spam23    _speed</a:t>
            </a:r>
          </a:p>
          <a:p>
            <a:r>
              <a:rPr lang="en-US" sz="3600" dirty="0">
                <a:solidFill>
                  <a:srgbClr val="FF545A"/>
                </a:solidFill>
                <a:latin typeface="Courier" charset="0"/>
                <a:ea typeface="Courier" charset="0"/>
                <a:cs typeface="Courier" charset="0"/>
              </a:rPr>
              <a:t>Bad:</a:t>
            </a:r>
            <a:r>
              <a:rPr lang="en-US" sz="3600" dirty="0">
                <a:solidFill>
                  <a:srgbClr val="FF0000"/>
                </a:solidFill>
                <a:latin typeface="Courier" charset="0"/>
                <a:ea typeface="Courier" charset="0"/>
                <a:cs typeface="Courier" charset="0"/>
              </a:rPr>
              <a:t> 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23spam     #sign  var.12</a:t>
            </a:r>
          </a:p>
          <a:p>
            <a:r>
              <a:rPr lang="en-US" sz="3600" dirty="0">
                <a:solidFill>
                  <a:srgbClr val="00FDFF"/>
                </a:solidFill>
                <a:latin typeface="Courier" charset="0"/>
                <a:ea typeface="Courier" charset="0"/>
                <a:cs typeface="Courier" charset="0"/>
              </a:rPr>
              <a:t>Different: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spam   Spam   SPAM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50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8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Mnemonic Variable Names</a:t>
            </a:r>
          </a:p>
        </p:txBody>
      </p:sp>
      <p:sp>
        <p:nvSpPr>
          <p:cNvPr id="507" name="Shape 507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995863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60337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Since we programmers are given a choice in how we choose our variable names, there is a bit of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best practice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1104900" marR="0" lvl="0" indent="-603377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name variables to help us remember what we intend to store in them (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mnemonic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 aid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508" name="Shape 508"/>
          <p:cNvSpPr txBox="1"/>
          <p:nvPr/>
        </p:nvSpPr>
        <p:spPr>
          <a:xfrm>
            <a:off x="3980350" y="7521575"/>
            <a:ext cx="8295300" cy="660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sng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http://en.wikipedia.org/wiki/Mnemonic </a:t>
            </a:r>
          </a:p>
        </p:txBody>
      </p:sp>
    </p:spTree>
    <p:extLst>
      <p:ext uri="{BB962C8B-B14F-4D97-AF65-F5344CB8AC3E}">
        <p14:creationId xmlns:p14="http://schemas.microsoft.com/office/powerpoint/2010/main" val="1350906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13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14" name="Shape 514"/>
          <p:cNvSpPr txBox="1"/>
          <p:nvPr/>
        </p:nvSpPr>
        <p:spPr>
          <a:xfrm>
            <a:off x="1536700" y="6057900"/>
            <a:ext cx="3860400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does </a:t>
            </a:r>
            <a:r>
              <a:rPr lang="en-US" sz="3800" u="none" strike="noStrike" cap="none" dirty="0">
                <a:solidFill>
                  <a:srgbClr val="FFFD38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 do?</a:t>
            </a:r>
          </a:p>
        </p:txBody>
      </p:sp>
    </p:spTree>
    <p:extLst>
      <p:ext uri="{BB962C8B-B14F-4D97-AF65-F5344CB8AC3E}">
        <p14:creationId xmlns:p14="http://schemas.microsoft.com/office/powerpoint/2010/main" val="1538418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19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11531600" y="1676400"/>
            <a:ext cx="21098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a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b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 = a * b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print(c)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1536700" y="6057900"/>
            <a:ext cx="4186416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about </a:t>
            </a:r>
            <a:r>
              <a:rPr lang="en-US" sz="3800" u="none" strike="noStrike" cap="none" dirty="0">
                <a:solidFill>
                  <a:srgbClr val="2DFFFE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code?</a:t>
            </a:r>
          </a:p>
        </p:txBody>
      </p:sp>
    </p:spTree>
    <p:extLst>
      <p:ext uri="{BB962C8B-B14F-4D97-AF65-F5344CB8AC3E}">
        <p14:creationId xmlns:p14="http://schemas.microsoft.com/office/powerpoint/2010/main" val="1435388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526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7137400" y="5499100"/>
            <a:ext cx="52085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hours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rate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pay = hours * rate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print(pay)</a:t>
            </a:r>
          </a:p>
        </p:txBody>
      </p:sp>
      <p:sp>
        <p:nvSpPr>
          <p:cNvPr id="528" name="Shape 528"/>
          <p:cNvSpPr txBox="1"/>
          <p:nvPr/>
        </p:nvSpPr>
        <p:spPr>
          <a:xfrm>
            <a:off x="11531600" y="1676400"/>
            <a:ext cx="2109786" cy="233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a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b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 = a * b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print(c)</a:t>
            </a:r>
          </a:p>
        </p:txBody>
      </p:sp>
      <p:sp>
        <p:nvSpPr>
          <p:cNvPr id="529" name="Shape 529"/>
          <p:cNvSpPr txBox="1"/>
          <p:nvPr/>
        </p:nvSpPr>
        <p:spPr>
          <a:xfrm>
            <a:off x="1505339" y="6057900"/>
            <a:ext cx="4249136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And </a:t>
            </a:r>
            <a:r>
              <a:rPr lang="en-US" sz="3800" u="none" strike="noStrike" cap="none" dirty="0">
                <a:solidFill>
                  <a:srgbClr val="29FD2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code?</a:t>
            </a:r>
          </a:p>
        </p:txBody>
      </p:sp>
    </p:spTree>
    <p:extLst>
      <p:ext uri="{BB962C8B-B14F-4D97-AF65-F5344CB8AC3E}">
        <p14:creationId xmlns:p14="http://schemas.microsoft.com/office/powerpoint/2010/main" val="972378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3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 Statements</a:t>
            </a:r>
          </a:p>
        </p:txBody>
      </p:sp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314324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bin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assign a value to a variable using the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(=)</a:t>
            </a:r>
          </a:p>
          <a:p>
            <a:pPr marL="457200" marR="0" lvl="0" indent="-4572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SzPct val="100000"/>
              <a:buFont typeface="Cabin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 statement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consists of an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expression on the </a:t>
            </a:r>
            <a:b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right</a:t>
            </a:r>
            <a:r>
              <a:rPr lang="en-US" sz="36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hand side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a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store the result</a:t>
            </a:r>
          </a:p>
        </p:txBody>
      </p:sp>
      <p:sp>
        <p:nvSpPr>
          <p:cNvPr id="314" name="Shape 314"/>
          <p:cNvSpPr txBox="1"/>
          <p:nvPr/>
        </p:nvSpPr>
        <p:spPr>
          <a:xfrm>
            <a:off x="4252109" y="6134100"/>
            <a:ext cx="10078835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3.9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( 1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-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)</a:t>
            </a:r>
          </a:p>
        </p:txBody>
      </p:sp>
      <p:sp>
        <p:nvSpPr>
          <p:cNvPr id="315" name="Shape 315"/>
          <p:cNvSpPr txBox="1"/>
          <p:nvPr/>
        </p:nvSpPr>
        <p:spPr>
          <a:xfrm>
            <a:off x="5248625" y="6081811"/>
            <a:ext cx="6324599" cy="1066799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Expressions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79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Expressions</a:t>
            </a:r>
          </a:p>
        </p:txBody>
      </p:sp>
      <p:sp>
        <p:nvSpPr>
          <p:cNvPr id="355" name="Shape 355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90360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Computer keyboards don’t have math symbols, so we do math using the “operators” shown on the right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instance, ”*” is multiply and “/” is divide</a:t>
            </a:r>
          </a:p>
        </p:txBody>
      </p:sp>
      <p:graphicFrame>
        <p:nvGraphicFramePr>
          <p:cNvPr id="356" name="Shape 356"/>
          <p:cNvGraphicFramePr/>
          <p:nvPr>
            <p:extLst>
              <p:ext uri="{D42A27DB-BD31-4B8C-83A1-F6EECF244321}">
                <p14:modId xmlns:p14="http://schemas.microsoft.com/office/powerpoint/2010/main" val="1444946014"/>
              </p:ext>
            </p:extLst>
          </p:nvPr>
        </p:nvGraphicFramePr>
        <p:xfrm>
          <a:off x="10337800" y="2289175"/>
          <a:ext cx="5025250" cy="5567275"/>
        </p:xfrm>
        <a:graphic>
          <a:graphicData uri="http://schemas.openxmlformats.org/drawingml/2006/table">
            <a:tbl>
              <a:tblPr>
                <a:noFill/>
                <a:tableStyleId>{54014B03-8F40-49A2-A0EB-D18ED94CC971}</a:tableStyleId>
              </a:tblPr>
              <a:tblGrid>
                <a:gridCol w="2398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2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Operator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2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+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Addition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-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Subtraction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Multiplication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/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Division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Power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%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Remainder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 txBox="1"/>
          <p:nvPr/>
        </p:nvSpPr>
        <p:spPr>
          <a:xfrm>
            <a:off x="1727200" y="2230157"/>
            <a:ext cx="4460999" cy="530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2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440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12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5280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zz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/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1000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 New"/>
              </a:rPr>
              <a:t>zz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5.28</a:t>
            </a:r>
          </a:p>
        </p:txBody>
      </p:sp>
      <p:sp>
        <p:nvSpPr>
          <p:cNvPr id="362" name="Shape 362"/>
          <p:cNvSpPr txBox="1"/>
          <p:nvPr/>
        </p:nvSpPr>
        <p:spPr>
          <a:xfrm>
            <a:off x="7073900" y="2298700"/>
            <a:ext cx="4026600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jj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23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kk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jj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%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kk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**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64</a:t>
            </a:r>
          </a:p>
        </p:txBody>
      </p:sp>
      <p:graphicFrame>
        <p:nvGraphicFramePr>
          <p:cNvPr id="363" name="Shape 363"/>
          <p:cNvGraphicFramePr/>
          <p:nvPr/>
        </p:nvGraphicFramePr>
        <p:xfrm>
          <a:off x="11783875" y="2965450"/>
          <a:ext cx="3752000" cy="4556125"/>
        </p:xfrm>
        <a:graphic>
          <a:graphicData uri="http://schemas.openxmlformats.org/drawingml/2006/table">
            <a:tbl>
              <a:tblPr>
                <a:noFill/>
                <a:tableStyleId>{54014B03-8F40-49A2-A0EB-D18ED94CC971}</a:tableStyleId>
              </a:tblPr>
              <a:tblGrid>
                <a:gridCol w="18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4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Operator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4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+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Addition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-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Subtraction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Multiplication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/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Division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Power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%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Remainder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364" name="Shape 364"/>
          <p:cNvCxnSpPr/>
          <p:nvPr/>
        </p:nvCxnSpPr>
        <p:spPr>
          <a:xfrm>
            <a:off x="8432800" y="6225788"/>
            <a:ext cx="12699" cy="595311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65" name="Shape 365"/>
          <p:cNvCxnSpPr/>
          <p:nvPr/>
        </p:nvCxnSpPr>
        <p:spPr>
          <a:xfrm rot="10800000" flipH="1">
            <a:off x="8432800" y="6210300"/>
            <a:ext cx="2035175" cy="25399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66" name="Shape 366"/>
          <p:cNvSpPr txBox="1"/>
          <p:nvPr/>
        </p:nvSpPr>
        <p:spPr>
          <a:xfrm>
            <a:off x="7807325" y="6273800"/>
            <a:ext cx="342899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</p:txBody>
      </p:sp>
      <p:sp>
        <p:nvSpPr>
          <p:cNvPr id="367" name="Shape 367"/>
          <p:cNvSpPr txBox="1"/>
          <p:nvPr/>
        </p:nvSpPr>
        <p:spPr>
          <a:xfrm>
            <a:off x="8572500" y="6273800"/>
            <a:ext cx="57150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23</a:t>
            </a:r>
          </a:p>
        </p:txBody>
      </p:sp>
      <p:sp>
        <p:nvSpPr>
          <p:cNvPr id="368" name="Shape 368"/>
          <p:cNvSpPr txBox="1"/>
          <p:nvPr/>
        </p:nvSpPr>
        <p:spPr>
          <a:xfrm>
            <a:off x="8816975" y="5605462"/>
            <a:ext cx="1100136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 R 3</a:t>
            </a:r>
          </a:p>
        </p:txBody>
      </p:sp>
      <p:sp>
        <p:nvSpPr>
          <p:cNvPr id="369" name="Shape 369"/>
          <p:cNvSpPr txBox="1"/>
          <p:nvPr/>
        </p:nvSpPr>
        <p:spPr>
          <a:xfrm>
            <a:off x="8572500" y="6731000"/>
            <a:ext cx="57150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20</a:t>
            </a:r>
          </a:p>
        </p:txBody>
      </p:sp>
      <p:cxnSp>
        <p:nvCxnSpPr>
          <p:cNvPr id="370" name="Shape 370"/>
          <p:cNvCxnSpPr/>
          <p:nvPr/>
        </p:nvCxnSpPr>
        <p:spPr>
          <a:xfrm>
            <a:off x="8496300" y="7440611"/>
            <a:ext cx="584200" cy="0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71" name="Shape 371"/>
          <p:cNvSpPr txBox="1"/>
          <p:nvPr/>
        </p:nvSpPr>
        <p:spPr>
          <a:xfrm>
            <a:off x="8801100" y="7505700"/>
            <a:ext cx="342899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C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372" name="Shape 37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Expressions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37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Order of Evaluation</a:t>
            </a:r>
          </a:p>
        </p:txBody>
      </p:sp>
      <p:sp>
        <p:nvSpPr>
          <p:cNvPr id="378" name="Shape 378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0004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string operators together - Python must know which one to do first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 is called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operator precedence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Which operator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takes precedence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(comes first) over the others?</a:t>
            </a:r>
          </a:p>
        </p:txBody>
      </p:sp>
      <p:sp>
        <p:nvSpPr>
          <p:cNvPr id="379" name="Shape 379"/>
          <p:cNvSpPr txBox="1"/>
          <p:nvPr/>
        </p:nvSpPr>
        <p:spPr>
          <a:xfrm>
            <a:off x="3756025" y="6640900"/>
            <a:ext cx="874395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4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= 1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+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2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*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3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-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4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/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5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**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Operator Precedence Rules</a:t>
            </a:r>
          </a:p>
        </p:txBody>
      </p:sp>
      <p:sp>
        <p:nvSpPr>
          <p:cNvPr id="385" name="Shape 38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Highest precedence rule to lowest precedence rule: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Parentheses are always respected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Exponentiation (raise to a power)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Multiplication, Division, and Remainder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Addition and Subtraction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Left to right</a:t>
            </a:r>
          </a:p>
        </p:txBody>
      </p:sp>
      <p:grpSp>
        <p:nvGrpSpPr>
          <p:cNvPr id="386" name="Shape 386"/>
          <p:cNvGrpSpPr/>
          <p:nvPr/>
        </p:nvGrpSpPr>
        <p:grpSpPr>
          <a:xfrm>
            <a:off x="12079286" y="3276578"/>
            <a:ext cx="3338701" cy="3020428"/>
            <a:chOff x="0" y="-349272"/>
            <a:chExt cx="2522536" cy="3020428"/>
          </a:xfrm>
        </p:grpSpPr>
        <p:sp>
          <p:nvSpPr>
            <p:cNvPr id="387" name="Shape 387"/>
            <p:cNvSpPr txBox="1"/>
            <p:nvPr/>
          </p:nvSpPr>
          <p:spPr>
            <a:xfrm>
              <a:off x="0" y="-349272"/>
              <a:ext cx="2262187" cy="3020428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FF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00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Parenthesis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Power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Multiplication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99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Addition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Left to Right</a:t>
              </a:r>
            </a:p>
          </p:txBody>
        </p:sp>
        <p:cxnSp>
          <p:nvCxnSpPr>
            <p:cNvPr id="388" name="Shape 388"/>
            <p:cNvCxnSpPr/>
            <p:nvPr/>
          </p:nvCxnSpPr>
          <p:spPr>
            <a:xfrm flipV="1">
              <a:off x="2522536" y="134936"/>
              <a:ext cx="0" cy="2051050"/>
            </a:xfrm>
            <a:prstGeom prst="straightConnector1">
              <a:avLst/>
            </a:prstGeom>
            <a:noFill/>
            <a:ln w="889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396"/>
          <p:cNvSpPr txBox="1"/>
          <p:nvPr/>
        </p:nvSpPr>
        <p:spPr>
          <a:xfrm>
            <a:off x="10307636" y="990600"/>
            <a:ext cx="46275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2 ** 3</a:t>
            </a: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/ 4 * 5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0891836" y="2540000"/>
            <a:ext cx="40433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8 / 4</a:t>
            </a: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* 5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>
            <a:off x="11917975" y="1686224"/>
            <a:ext cx="277199" cy="837900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9" name="Shape 399"/>
          <p:cNvSpPr txBox="1"/>
          <p:nvPr/>
        </p:nvSpPr>
        <p:spPr>
          <a:xfrm>
            <a:off x="11298236" y="4000500"/>
            <a:ext cx="32178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2 * 5</a:t>
            </a:r>
          </a:p>
        </p:txBody>
      </p:sp>
      <p:cxnSp>
        <p:nvCxnSpPr>
          <p:cNvPr id="400" name="Shape 400"/>
          <p:cNvCxnSpPr/>
          <p:nvPr/>
        </p:nvCxnSpPr>
        <p:spPr>
          <a:xfrm flipV="1">
            <a:off x="12322173" y="3348026"/>
            <a:ext cx="74752" cy="65247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1590336" y="5638800"/>
            <a:ext cx="225901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99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+ 10</a:t>
            </a:r>
          </a:p>
        </p:txBody>
      </p:sp>
      <p:cxnSp>
        <p:nvCxnSpPr>
          <p:cNvPr id="402" name="Shape 402"/>
          <p:cNvCxnSpPr>
            <a:endCxn id="399" idx="2"/>
          </p:cNvCxnSpPr>
          <p:nvPr/>
        </p:nvCxnSpPr>
        <p:spPr>
          <a:xfrm flipV="1">
            <a:off x="12785524" y="4800599"/>
            <a:ext cx="121644" cy="86372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3" name="Shape 403"/>
          <p:cNvSpPr txBox="1"/>
          <p:nvPr/>
        </p:nvSpPr>
        <p:spPr>
          <a:xfrm>
            <a:off x="12085636" y="6934200"/>
            <a:ext cx="723900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99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11</a:t>
            </a:r>
          </a:p>
        </p:txBody>
      </p:sp>
      <p:cxnSp>
        <p:nvCxnSpPr>
          <p:cNvPr id="404" name="Shape 404"/>
          <p:cNvCxnSpPr/>
          <p:nvPr/>
        </p:nvCxnSpPr>
        <p:spPr>
          <a:xfrm rot="10800000">
            <a:off x="12225274" y="6308749"/>
            <a:ext cx="96899" cy="7080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455723" y="1309675"/>
            <a:ext cx="7351799" cy="295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 = 1 + 2 ** 3 / 4 *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11.0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6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</p:txBody>
      </p:sp>
      <p:grpSp>
        <p:nvGrpSpPr>
          <p:cNvPr id="18" name="Shape 386"/>
          <p:cNvGrpSpPr/>
          <p:nvPr/>
        </p:nvGrpSpPr>
        <p:grpSpPr>
          <a:xfrm>
            <a:off x="3242938" y="4450596"/>
            <a:ext cx="3338701" cy="3020428"/>
            <a:chOff x="0" y="-349272"/>
            <a:chExt cx="2522536" cy="3020428"/>
          </a:xfrm>
        </p:grpSpPr>
        <p:sp>
          <p:nvSpPr>
            <p:cNvPr id="19" name="Shape 387"/>
            <p:cNvSpPr txBox="1"/>
            <p:nvPr/>
          </p:nvSpPr>
          <p:spPr>
            <a:xfrm>
              <a:off x="0" y="-349272"/>
              <a:ext cx="2262187" cy="3020428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FF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00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Parenthesis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Power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Multiplication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99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Addition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Left to Right</a:t>
              </a:r>
            </a:p>
          </p:txBody>
        </p:sp>
        <p:cxnSp>
          <p:nvCxnSpPr>
            <p:cNvPr id="20" name="Shape 388"/>
            <p:cNvCxnSpPr/>
            <p:nvPr/>
          </p:nvCxnSpPr>
          <p:spPr>
            <a:xfrm flipV="1">
              <a:off x="2522536" y="134936"/>
              <a:ext cx="0" cy="2051050"/>
            </a:xfrm>
            <a:prstGeom prst="straightConnector1">
              <a:avLst/>
            </a:prstGeom>
            <a:noFill/>
            <a:ln w="889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84">
            <a:extLst>
              <a:ext uri="{FF2B5EF4-FFF2-40B4-BE49-F238E27FC236}">
                <a16:creationId xmlns:a16="http://schemas.microsoft.com/office/drawing/2014/main" id="{C446EA01-8BAE-E44D-B7F9-2C1EC8ABB17E}"/>
              </a:ext>
            </a:extLst>
          </p:cNvPr>
          <p:cNvSpPr txBox="1">
            <a:spLocks/>
          </p:cNvSpPr>
          <p:nvPr/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ctr"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Brain Games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E9B058-2234-A042-815A-42C7C652E65E}"/>
              </a:ext>
            </a:extLst>
          </p:cNvPr>
          <p:cNvSpPr txBox="1"/>
          <p:nvPr/>
        </p:nvSpPr>
        <p:spPr>
          <a:xfrm>
            <a:off x="1303867" y="3149600"/>
            <a:ext cx="8177239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When I run this program, what will print out?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r>
              <a:rPr lang="en-US" sz="3200" dirty="0">
                <a:solidFill>
                  <a:srgbClr val="FFFD38"/>
                </a:solidFill>
              </a:rPr>
              <a:t>x = 100**0 + 10 / 2 – 4</a:t>
            </a:r>
          </a:p>
          <a:p>
            <a:r>
              <a:rPr lang="en-US" sz="3200" dirty="0">
                <a:solidFill>
                  <a:srgbClr val="FFFD38"/>
                </a:solidFill>
              </a:rPr>
              <a:t>print(x)</a:t>
            </a:r>
            <a:endParaRPr lang="en-US" sz="3200" dirty="0">
              <a:solidFill>
                <a:schemeClr val="bg1"/>
              </a:solidFill>
            </a:endParaRPr>
          </a:p>
          <a:p>
            <a:endParaRPr lang="en-US" sz="3200" dirty="0">
              <a:solidFill>
                <a:schemeClr val="bg1"/>
              </a:solidFill>
            </a:endParaRPr>
          </a:p>
          <a:p>
            <a:r>
              <a:rPr lang="en-US" sz="3200" dirty="0">
                <a:solidFill>
                  <a:schemeClr val="bg1"/>
                </a:solidFill>
              </a:rPr>
              <a:t>How about this one? </a:t>
            </a:r>
          </a:p>
          <a:p>
            <a:endParaRPr lang="en-US" sz="3200" dirty="0">
              <a:solidFill>
                <a:srgbClr val="FFFB4E"/>
              </a:solidFill>
            </a:endParaRPr>
          </a:p>
          <a:p>
            <a:r>
              <a:rPr lang="en-US" sz="3200" dirty="0">
                <a:solidFill>
                  <a:srgbClr val="FFFB4E"/>
                </a:solidFill>
              </a:rPr>
              <a:t>x = (8 - 2) * 10 + 4 / (5-4) * 5</a:t>
            </a:r>
          </a:p>
          <a:p>
            <a:r>
              <a:rPr lang="en-US" sz="3200" dirty="0">
                <a:solidFill>
                  <a:srgbClr val="FFFB4E"/>
                </a:solidFill>
              </a:rPr>
              <a:t>print(x)</a:t>
            </a:r>
          </a:p>
          <a:p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145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84">
            <a:extLst>
              <a:ext uri="{FF2B5EF4-FFF2-40B4-BE49-F238E27FC236}">
                <a16:creationId xmlns:a16="http://schemas.microsoft.com/office/drawing/2014/main" id="{C446EA01-8BAE-E44D-B7F9-2C1EC8ABB17E}"/>
              </a:ext>
            </a:extLst>
          </p:cNvPr>
          <p:cNvSpPr txBox="1">
            <a:spLocks/>
          </p:cNvSpPr>
          <p:nvPr/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ctr"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E9B058-2234-A042-815A-42C7C652E65E}"/>
              </a:ext>
            </a:extLst>
          </p:cNvPr>
          <p:cNvSpPr txBox="1"/>
          <p:nvPr/>
        </p:nvSpPr>
        <p:spPr>
          <a:xfrm>
            <a:off x="1303867" y="3149600"/>
            <a:ext cx="1225367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Using what we have just learned, write this program: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Save your age into a variable called “age”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Add 100 to your age and save it back into the same variable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Print out “In 100 years you will be…”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Then print out the age variable</a:t>
            </a:r>
          </a:p>
        </p:txBody>
      </p:sp>
    </p:spTree>
    <p:extLst>
      <p:ext uri="{BB962C8B-B14F-4D97-AF65-F5344CB8AC3E}">
        <p14:creationId xmlns:p14="http://schemas.microsoft.com/office/powerpoint/2010/main" val="1916861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Variable Types…</a:t>
            </a:r>
          </a:p>
        </p:txBody>
      </p:sp>
    </p:spTree>
    <p:extLst>
      <p:ext uri="{BB962C8B-B14F-4D97-AF65-F5344CB8AC3E}">
        <p14:creationId xmlns:p14="http://schemas.microsoft.com/office/powerpoint/2010/main" val="26616012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Does 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Mean?</a:t>
            </a: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Python variables, literals, and constants have a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knows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difference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between an integer number and a string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example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+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means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addition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 something is a number and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concatenate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 something is a string </a:t>
            </a:r>
          </a:p>
        </p:txBody>
      </p:sp>
      <p:sp>
        <p:nvSpPr>
          <p:cNvPr id="437" name="Shape 437"/>
          <p:cNvSpPr txBox="1"/>
          <p:nvPr/>
        </p:nvSpPr>
        <p:spPr>
          <a:xfrm>
            <a:off x="9696450" y="3224956"/>
            <a:ext cx="6076799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1 + 4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' + 'there'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hello there</a:t>
            </a:r>
          </a:p>
        </p:txBody>
      </p:sp>
      <p:sp>
        <p:nvSpPr>
          <p:cNvPr id="438" name="Shape 438"/>
          <p:cNvSpPr txBox="1"/>
          <p:nvPr/>
        </p:nvSpPr>
        <p:spPr>
          <a:xfrm>
            <a:off x="9322576" y="7694909"/>
            <a:ext cx="62145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A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concatenate = put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Yourself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3857625" y="2438400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0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What happens when you type these things into Python?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endParaRPr lang="en-US" sz="3600" dirty="0">
              <a:solidFill>
                <a:schemeClr val="lt1"/>
              </a:solidFill>
              <a:latin typeface="Arial" charset="0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1+1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“1” + 1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“1” + “1”</a:t>
            </a:r>
          </a:p>
          <a:p>
            <a:pPr marL="378206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endParaRPr lang="en-US" sz="3600" b="0" i="0" dirty="0">
              <a:solidFill>
                <a:schemeClr val="lt1"/>
              </a:solidFill>
              <a:latin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7793221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Shape 443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3822827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Matters</a:t>
            </a:r>
          </a:p>
        </p:txBody>
      </p:sp>
      <p:sp>
        <p:nvSpPr>
          <p:cNvPr id="444" name="Shape 444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71691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knows what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everything is 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 operations are prohibited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00FFFF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cannot 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 1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a string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ask Python what type something is by using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type()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</p:txBody>
      </p:sp>
      <p:sp>
        <p:nvSpPr>
          <p:cNvPr id="445" name="Shape 445"/>
          <p:cNvSpPr txBox="1"/>
          <p:nvPr/>
        </p:nvSpPr>
        <p:spPr>
          <a:xfrm>
            <a:off x="8586779" y="2120900"/>
            <a:ext cx="7315200" cy="60467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' + 'there'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lvl="0">
              <a:buClr>
                <a:srgbClr val="FF0000"/>
              </a:buClr>
              <a:buSzPct val="25000"/>
            </a:pP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Traceback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 (most recent call last):  File "&lt;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stdin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&gt;", line 1, in &lt;module&gt;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TypeError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: Can't convert '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' object to 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str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 implicitly</a:t>
            </a:r>
          </a:p>
          <a:p>
            <a:pPr lvl="0">
              <a:buClr>
                <a:srgbClr val="FF0000"/>
              </a:buClr>
              <a:buSzPct val="25000"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('hello')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(1)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4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Conversions</a:t>
            </a:r>
          </a:p>
        </p:txBody>
      </p:sp>
      <p:sp>
        <p:nvSpPr>
          <p:cNvPr id="458" name="Shape 458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692150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convert between different types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 careful when you convert between number types…the result might not be what you think!</a:t>
            </a:r>
          </a:p>
        </p:txBody>
      </p:sp>
      <p:sp>
        <p:nvSpPr>
          <p:cNvPr id="459" name="Shape 459"/>
          <p:cNvSpPr txBox="1"/>
          <p:nvPr/>
        </p:nvSpPr>
        <p:spPr>
          <a:xfrm>
            <a:off x="9048750" y="1890711"/>
            <a:ext cx="7010399" cy="5981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</a:t>
            </a:r>
            <a:r>
              <a:rPr lang="en-US" sz="3200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(33.9)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class'int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f =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float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42.0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(f)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class'float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Conversions, Continued</a:t>
            </a: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812800" y="2302933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convert between numbers and strings as well…this lets you turn text into numbers and numbers into text</a:t>
            </a:r>
          </a:p>
          <a:p>
            <a:pPr marL="378206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endParaRPr lang="en-US"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Converting numbers into text always works, but converting text into numbers only works if the text is </a:t>
            </a:r>
            <a:r>
              <a:rPr lang="en-US" sz="3600" u="none" strike="noStrike" cap="none" dirty="0">
                <a:solidFill>
                  <a:srgbClr val="FED86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</a:t>
            </a:r>
            <a:r>
              <a:rPr lang="en-US" sz="36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(meaning made out of numbers 0-9). </a:t>
            </a:r>
          </a:p>
        </p:txBody>
      </p:sp>
      <p:sp>
        <p:nvSpPr>
          <p:cNvPr id="437" name="Shape 437"/>
          <p:cNvSpPr txBox="1"/>
          <p:nvPr/>
        </p:nvSpPr>
        <p:spPr>
          <a:xfrm>
            <a:off x="9696450" y="3224955"/>
            <a:ext cx="6076799" cy="46829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(55)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’1’)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‘551’</a:t>
            </a:r>
            <a:endParaRPr lang="en-US" sz="28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(‘55’)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+ 1)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56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float(‘55’)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+ 1)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56.0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endParaRPr lang="en-US" sz="28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819683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471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3652465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User Input</a:t>
            </a:r>
          </a:p>
        </p:txBody>
      </p:sp>
      <p:sp>
        <p:nvSpPr>
          <p:cNvPr id="472" name="Shape 472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6864350" cy="5295900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instruct Python to pause and read data from the user using the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input()</a:t>
            </a:r>
            <a:r>
              <a:rPr lang="en-US" sz="38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  <a:p>
            <a:pPr marL="1104900" marR="0" lvl="0" indent="-78740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input()</a:t>
            </a:r>
            <a:r>
              <a:rPr lang="en-US" sz="38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 returns a </a:t>
            </a:r>
            <a:r>
              <a:rPr lang="en-US" sz="3800" u="none" strike="noStrike" cap="none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string</a:t>
            </a:r>
          </a:p>
        </p:txBody>
      </p:sp>
      <p:sp>
        <p:nvSpPr>
          <p:cNvPr id="473" name="Shape 473"/>
          <p:cNvSpPr txBox="1"/>
          <p:nvPr/>
        </p:nvSpPr>
        <p:spPr>
          <a:xfrm>
            <a:off x="8822673" y="3226594"/>
            <a:ext cx="7077727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input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Who are you? 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'Welcome',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74" name="Shape 474"/>
          <p:cNvSpPr txBox="1"/>
          <p:nvPr/>
        </p:nvSpPr>
        <p:spPr>
          <a:xfrm>
            <a:off x="9385497" y="5781676"/>
            <a:ext cx="5079768" cy="19212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Who are you?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Jeremy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Welcome Jeremy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0521950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Converting User Input</a:t>
            </a:r>
          </a:p>
        </p:txBody>
      </p:sp>
      <p:sp>
        <p:nvSpPr>
          <p:cNvPr id="480" name="Shape 480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7245350" cy="6034087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we want to read a number from the user, we must convert it from a string to a number using a type conversion function</a:t>
            </a:r>
          </a:p>
          <a:p>
            <a:pPr marL="1104900" marR="0" lvl="0" indent="-78740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Later we will deal with bad input data</a:t>
            </a:r>
          </a:p>
        </p:txBody>
      </p:sp>
      <p:sp>
        <p:nvSpPr>
          <p:cNvPr id="481" name="Shape 481"/>
          <p:cNvSpPr txBox="1"/>
          <p:nvPr/>
        </p:nvSpPr>
        <p:spPr>
          <a:xfrm>
            <a:off x="8862999" y="3683000"/>
            <a:ext cx="6831899" cy="1778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Europe floor?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usf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'US floor',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usf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82" name="Shape 482"/>
          <p:cNvSpPr txBox="1"/>
          <p:nvPr/>
        </p:nvSpPr>
        <p:spPr>
          <a:xfrm>
            <a:off x="10198100" y="6515100"/>
            <a:ext cx="4569900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Europe floor? </a:t>
            </a:r>
            <a:r>
              <a:rPr lang="en-US" sz="38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 floor 1</a:t>
            </a:r>
          </a:p>
        </p:txBody>
      </p:sp>
      <p:pic>
        <p:nvPicPr>
          <p:cNvPr id="483" name="Shape 4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153875" y="1193800"/>
            <a:ext cx="3174900" cy="212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title"/>
          </p:nvPr>
        </p:nvSpPr>
        <p:spPr>
          <a:xfrm>
            <a:off x="3115734" y="527150"/>
            <a:ext cx="10521950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Now You Try</a:t>
            </a:r>
          </a:p>
        </p:txBody>
      </p:sp>
      <p:sp>
        <p:nvSpPr>
          <p:cNvPr id="480" name="Shape 480"/>
          <p:cNvSpPr txBox="1">
            <a:spLocks noGrp="1"/>
          </p:cNvSpPr>
          <p:nvPr>
            <p:ph type="body" idx="1"/>
          </p:nvPr>
        </p:nvSpPr>
        <p:spPr>
          <a:xfrm>
            <a:off x="812799" y="2133600"/>
            <a:ext cx="15019867" cy="6034087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Improve your “age” program from earlier. Use input() to let the program ask the user for their age. Don’t forget to convert the age into an </a:t>
            </a:r>
            <a:r>
              <a:rPr lang="en-US" sz="3800" u="none" strike="noStrike" cap="none" dirty="0">
                <a:solidFill>
                  <a:srgbClr val="29FD2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integer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</a:t>
            </a:r>
            <a:r>
              <a:rPr lang="en-US" sz="38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()!</a:t>
            </a:r>
          </a:p>
        </p:txBody>
      </p:sp>
    </p:spTree>
    <p:extLst>
      <p:ext uri="{BB962C8B-B14F-4D97-AF65-F5344CB8AC3E}">
        <p14:creationId xmlns:p14="http://schemas.microsoft.com/office/powerpoint/2010/main" val="4084835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Comments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2783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48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Comments in Python</a:t>
            </a:r>
          </a:p>
        </p:txBody>
      </p:sp>
      <p:sp>
        <p:nvSpPr>
          <p:cNvPr id="489" name="Shape 48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Anything after a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#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ignored by Python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Why comment?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Describe what is going to happen in a sequence of code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Document who wrote the code or other ancillary information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Turn off a line of code - perhaps temporarily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Conditionals!</a:t>
            </a:r>
          </a:p>
        </p:txBody>
      </p:sp>
    </p:spTree>
    <p:extLst>
      <p:ext uri="{BB962C8B-B14F-4D97-AF65-F5344CB8AC3E}">
        <p14:creationId xmlns:p14="http://schemas.microsoft.com/office/powerpoint/2010/main" val="35992120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567"/>
          <p:cNvSpPr txBox="1">
            <a:spLocks noGrp="1"/>
          </p:cNvSpPr>
          <p:nvPr>
            <p:ph type="title"/>
          </p:nvPr>
        </p:nvSpPr>
        <p:spPr>
          <a:xfrm>
            <a:off x="5854700" y="768096"/>
            <a:ext cx="9588499" cy="1365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Conditional Steps</a:t>
            </a:r>
          </a:p>
        </p:txBody>
      </p:sp>
      <p:sp>
        <p:nvSpPr>
          <p:cNvPr id="568" name="Shape 568"/>
          <p:cNvSpPr txBox="1"/>
          <p:nvPr/>
        </p:nvSpPr>
        <p:spPr>
          <a:xfrm>
            <a:off x="13684013" y="3562350"/>
            <a:ext cx="1581150" cy="2184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</a:t>
            </a:r>
          </a:p>
        </p:txBody>
      </p:sp>
      <p:sp>
        <p:nvSpPr>
          <p:cNvPr id="569" name="Shape 569"/>
          <p:cNvSpPr txBox="1"/>
          <p:nvPr/>
        </p:nvSpPr>
        <p:spPr>
          <a:xfrm>
            <a:off x="7799386" y="2873375"/>
            <a:ext cx="4535286" cy="49847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&lt; 10: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Smaller'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&gt; 20: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Bigger'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'Finis'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</p:txBody>
      </p:sp>
      <p:sp>
        <p:nvSpPr>
          <p:cNvPr id="570" name="Shape 570"/>
          <p:cNvSpPr txBox="1"/>
          <p:nvPr/>
        </p:nvSpPr>
        <p:spPr>
          <a:xfrm>
            <a:off x="1244600" y="977900"/>
            <a:ext cx="2743199" cy="597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5</a:t>
            </a:r>
          </a:p>
        </p:txBody>
      </p:sp>
      <p:cxnSp>
        <p:nvCxnSpPr>
          <p:cNvPr id="571" name="Shape 571"/>
          <p:cNvCxnSpPr/>
          <p:nvPr/>
        </p:nvCxnSpPr>
        <p:spPr>
          <a:xfrm rot="10800000">
            <a:off x="2597149" y="1560512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2" name="Shape 572"/>
          <p:cNvCxnSpPr>
            <a:endCxn id="569" idx="3"/>
          </p:cNvCxnSpPr>
          <p:nvPr/>
        </p:nvCxnSpPr>
        <p:spPr>
          <a:xfrm flipH="1">
            <a:off x="12334672" y="4948237"/>
            <a:ext cx="1206230" cy="417513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3" name="Shape 573"/>
          <p:cNvSpPr/>
          <p:nvPr/>
        </p:nvSpPr>
        <p:spPr>
          <a:xfrm>
            <a:off x="1181100" y="21209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&lt; 10 ?</a:t>
            </a:r>
          </a:p>
        </p:txBody>
      </p:sp>
      <p:cxnSp>
        <p:nvCxnSpPr>
          <p:cNvPr id="574" name="Shape 574"/>
          <p:cNvCxnSpPr/>
          <p:nvPr/>
        </p:nvCxnSpPr>
        <p:spPr>
          <a:xfrm rot="10800000">
            <a:off x="2597150" y="3338512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5" name="Shape 575"/>
          <p:cNvSpPr txBox="1"/>
          <p:nvPr/>
        </p:nvSpPr>
        <p:spPr>
          <a:xfrm>
            <a:off x="3327400" y="33528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76" name="Shape 576"/>
          <p:cNvCxnSpPr/>
          <p:nvPr/>
        </p:nvCxnSpPr>
        <p:spPr>
          <a:xfrm rot="10800000">
            <a:off x="4038599" y="27495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7" name="Shape 577"/>
          <p:cNvCxnSpPr/>
          <p:nvPr/>
        </p:nvCxnSpPr>
        <p:spPr>
          <a:xfrm rot="10800000" flipH="1">
            <a:off x="4783137" y="27495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8" name="Shape 578"/>
          <p:cNvCxnSpPr/>
          <p:nvPr/>
        </p:nvCxnSpPr>
        <p:spPr>
          <a:xfrm flipH="1">
            <a:off x="4783137" y="4087812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9" name="Shape 579"/>
          <p:cNvCxnSpPr/>
          <p:nvPr/>
        </p:nvCxnSpPr>
        <p:spPr>
          <a:xfrm>
            <a:off x="2649536" y="44196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0" name="Shape 580"/>
          <p:cNvSpPr/>
          <p:nvPr/>
        </p:nvSpPr>
        <p:spPr>
          <a:xfrm>
            <a:off x="1181100" y="48641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&gt; 20 ?</a:t>
            </a:r>
          </a:p>
        </p:txBody>
      </p:sp>
      <p:cxnSp>
        <p:nvCxnSpPr>
          <p:cNvPr id="581" name="Shape 581"/>
          <p:cNvCxnSpPr/>
          <p:nvPr/>
        </p:nvCxnSpPr>
        <p:spPr>
          <a:xfrm rot="10800000">
            <a:off x="2597150" y="6081711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2" name="Shape 582"/>
          <p:cNvSpPr txBox="1"/>
          <p:nvPr/>
        </p:nvSpPr>
        <p:spPr>
          <a:xfrm>
            <a:off x="3327400" y="60960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Bigger')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83" name="Shape 583"/>
          <p:cNvCxnSpPr/>
          <p:nvPr/>
        </p:nvCxnSpPr>
        <p:spPr>
          <a:xfrm rot="10800000">
            <a:off x="4038599" y="54927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4" name="Shape 584"/>
          <p:cNvCxnSpPr/>
          <p:nvPr/>
        </p:nvCxnSpPr>
        <p:spPr>
          <a:xfrm rot="10800000" flipH="1">
            <a:off x="4783137" y="54927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5" name="Shape 585"/>
          <p:cNvCxnSpPr/>
          <p:nvPr/>
        </p:nvCxnSpPr>
        <p:spPr>
          <a:xfrm flipH="1">
            <a:off x="4783137" y="6831011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6" name="Shape 586"/>
          <p:cNvCxnSpPr/>
          <p:nvPr/>
        </p:nvCxnSpPr>
        <p:spPr>
          <a:xfrm>
            <a:off x="2649536" y="71628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7" name="Shape 587"/>
          <p:cNvCxnSpPr/>
          <p:nvPr/>
        </p:nvCxnSpPr>
        <p:spPr>
          <a:xfrm flipH="1">
            <a:off x="11431588" y="5508625"/>
            <a:ext cx="2109314" cy="1654175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8" name="Shape 588"/>
          <p:cNvSpPr txBox="1"/>
          <p:nvPr/>
        </p:nvSpPr>
        <p:spPr>
          <a:xfrm>
            <a:off x="1244600" y="7658100"/>
            <a:ext cx="2743199" cy="5969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589" name="Shape 589"/>
          <p:cNvSpPr txBox="1"/>
          <p:nvPr/>
        </p:nvSpPr>
        <p:spPr>
          <a:xfrm>
            <a:off x="4414837" y="2108200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590" name="Shape 590"/>
          <p:cNvSpPr txBox="1"/>
          <p:nvPr/>
        </p:nvSpPr>
        <p:spPr>
          <a:xfrm>
            <a:off x="5747875" y="278505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1" name="Shape 591"/>
          <p:cNvSpPr txBox="1"/>
          <p:nvPr/>
        </p:nvSpPr>
        <p:spPr>
          <a:xfrm>
            <a:off x="1549262" y="6097586"/>
            <a:ext cx="725399" cy="52776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7" name="Shape 589"/>
          <p:cNvSpPr txBox="1"/>
          <p:nvPr/>
        </p:nvSpPr>
        <p:spPr>
          <a:xfrm>
            <a:off x="4436269" y="4765676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8" name="Shape 591"/>
          <p:cNvSpPr txBox="1"/>
          <p:nvPr/>
        </p:nvSpPr>
        <p:spPr>
          <a:xfrm>
            <a:off x="1590537" y="3394076"/>
            <a:ext cx="725399" cy="70802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595233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28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6444313" cy="515868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 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ask a question and produce a Yes or No result which we use to control program flow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</a:t>
            </a:r>
            <a:r>
              <a:rPr lang="en-US" sz="28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evaluate to True / False or Yes / No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look at variables but do not change the variables</a:t>
            </a:r>
          </a:p>
        </p:txBody>
      </p:sp>
      <p:sp>
        <p:nvSpPr>
          <p:cNvPr id="283" name="Shape 283"/>
          <p:cNvSpPr txBox="1"/>
          <p:nvPr/>
        </p:nvSpPr>
        <p:spPr>
          <a:xfrm>
            <a:off x="4377856" y="7762186"/>
            <a:ext cx="9042900" cy="4814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4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http://en.wikipedia.org/wiki/George_Boole</a:t>
            </a:r>
          </a:p>
        </p:txBody>
      </p:sp>
      <p:sp>
        <p:nvSpPr>
          <p:cNvPr id="284" name="Shape 284"/>
          <p:cNvSpPr txBox="1"/>
          <p:nvPr/>
        </p:nvSpPr>
        <p:spPr>
          <a:xfrm>
            <a:off x="8751728" y="6917437"/>
            <a:ext cx="6794231" cy="5132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Remember:  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used for assignment.</a:t>
            </a:r>
          </a:p>
        </p:txBody>
      </p:sp>
      <p:graphicFrame>
        <p:nvGraphicFramePr>
          <p:cNvPr id="285" name="Shape 285"/>
          <p:cNvGraphicFramePr/>
          <p:nvPr>
            <p:extLst/>
          </p:nvPr>
        </p:nvGraphicFramePr>
        <p:xfrm>
          <a:off x="8440443" y="2530257"/>
          <a:ext cx="7105516" cy="3873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276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8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4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Python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FFFF00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Meaning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 == 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!=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Not equal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09249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91" name="Shape 291"/>
          <p:cNvSpPr txBox="1"/>
          <p:nvPr/>
        </p:nvSpPr>
        <p:spPr>
          <a:xfrm>
            <a:off x="1155700" y="2608285"/>
            <a:ext cx="8797769" cy="547140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5 :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print('Equals 5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if x &gt; 4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print('Greater than 4</a:t>
            </a:r>
            <a:r>
              <a:rPr lang="en-US" sz="30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 x &gt;= 5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print('Greater than or Equals 5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0000"/>
              </a:buClr>
              <a:buSzPct val="25000"/>
            </a:pPr>
            <a:r>
              <a:rPr lang="en-US" sz="3000" i="0" u="none" strike="noStrike" cap="none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if x &lt; 6 : print('Less than 6</a:t>
            </a:r>
            <a:r>
              <a:rPr lang="en-US" sz="3000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D9D9D9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&lt;= 5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print('Less than or Equals 5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x != 6 :</a:t>
            </a:r>
          </a:p>
          <a:p>
            <a:pPr lvl="0">
              <a:buClr>
                <a:srgbClr val="00FFFF"/>
              </a:buClr>
              <a:buSzPct val="25000"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print('Not equal 6</a:t>
            </a:r>
            <a:r>
              <a:rPr lang="en-US" sz="30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292" name="Shape 292"/>
          <p:cNvSpPr txBox="1"/>
          <p:nvPr/>
        </p:nvSpPr>
        <p:spPr>
          <a:xfrm>
            <a:off x="10513900" y="2985796"/>
            <a:ext cx="5240762" cy="520286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4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CCCCCC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6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 equal 6</a:t>
            </a:r>
          </a:p>
        </p:txBody>
      </p:sp>
    </p:spTree>
    <p:extLst>
      <p:ext uri="{BB962C8B-B14F-4D97-AF65-F5344CB8AC3E}">
        <p14:creationId xmlns:p14="http://schemas.microsoft.com/office/powerpoint/2010/main" val="1771406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title"/>
          </p:nvPr>
        </p:nvSpPr>
        <p:spPr>
          <a:xfrm>
            <a:off x="2028825" y="564876"/>
            <a:ext cx="9515632" cy="10705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One-Way Decisions</a:t>
            </a:r>
          </a:p>
        </p:txBody>
      </p:sp>
      <p:sp>
        <p:nvSpPr>
          <p:cNvPr id="299" name="Shape 299"/>
          <p:cNvSpPr txBox="1"/>
          <p:nvPr/>
        </p:nvSpPr>
        <p:spPr>
          <a:xfrm>
            <a:off x="631900" y="1543987"/>
            <a:ext cx="5712000" cy="65057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print('Before 5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 x == 5 :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Still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print('Third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print('Afterwards 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5')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rint('Before 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6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Still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print('Third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rint('Afterwards 6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00" name="Shape 300"/>
          <p:cNvSpPr txBox="1"/>
          <p:nvPr/>
        </p:nvSpPr>
        <p:spPr>
          <a:xfrm>
            <a:off x="7321666" y="2088625"/>
            <a:ext cx="2826846" cy="59610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Still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Third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6</a:t>
            </a:r>
          </a:p>
        </p:txBody>
      </p:sp>
      <p:cxnSp>
        <p:nvCxnSpPr>
          <p:cNvPr id="301" name="Shape 301"/>
          <p:cNvCxnSpPr/>
          <p:nvPr/>
        </p:nvCxnSpPr>
        <p:spPr>
          <a:xfrm flipH="1" flipV="1">
            <a:off x="6384210" y="3857360"/>
            <a:ext cx="794254" cy="6525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2" name="Shape 302"/>
          <p:cNvCxnSpPr/>
          <p:nvPr/>
        </p:nvCxnSpPr>
        <p:spPr>
          <a:xfrm flipH="1">
            <a:off x="5382786" y="6345736"/>
            <a:ext cx="1669419" cy="116062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3" name="Shape 303"/>
          <p:cNvCxnSpPr/>
          <p:nvPr/>
        </p:nvCxnSpPr>
        <p:spPr>
          <a:xfrm rot="10800000">
            <a:off x="12087268" y="1315710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4" name="Shape 304"/>
          <p:cNvSpPr/>
          <p:nvPr/>
        </p:nvSpPr>
        <p:spPr>
          <a:xfrm>
            <a:off x="10671332" y="1876061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== 5 ?</a:t>
            </a:r>
          </a:p>
        </p:txBody>
      </p:sp>
      <p:cxnSp>
        <p:nvCxnSpPr>
          <p:cNvPr id="305" name="Shape 305"/>
          <p:cNvCxnSpPr/>
          <p:nvPr/>
        </p:nvCxnSpPr>
        <p:spPr>
          <a:xfrm rot="10800000">
            <a:off x="12087393" y="3093698"/>
            <a:ext cx="49200" cy="4060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6" name="Shape 306"/>
          <p:cNvCxnSpPr/>
          <p:nvPr/>
        </p:nvCxnSpPr>
        <p:spPr>
          <a:xfrm rot="10800000">
            <a:off x="13528956" y="2504710"/>
            <a:ext cx="724500" cy="57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07" name="Shape 307"/>
          <p:cNvCxnSpPr/>
          <p:nvPr/>
        </p:nvCxnSpPr>
        <p:spPr>
          <a:xfrm rot="10800000" flipH="1">
            <a:off x="14273369" y="2504835"/>
            <a:ext cx="15899" cy="644400"/>
          </a:xfrm>
          <a:prstGeom prst="straightConnector1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8" name="Shape 308"/>
          <p:cNvCxnSpPr/>
          <p:nvPr/>
        </p:nvCxnSpPr>
        <p:spPr>
          <a:xfrm>
            <a:off x="12144418" y="6345736"/>
            <a:ext cx="2149499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9" name="Shape 309"/>
          <p:cNvSpPr txBox="1"/>
          <p:nvPr/>
        </p:nvSpPr>
        <p:spPr>
          <a:xfrm>
            <a:off x="13365944" y="1667311"/>
            <a:ext cx="1114555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12817632" y="42128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print('Still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1" name="Shape 311"/>
          <p:cNvSpPr txBox="1"/>
          <p:nvPr/>
        </p:nvSpPr>
        <p:spPr>
          <a:xfrm>
            <a:off x="12817632" y="53177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print('Third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2" name="Shape 312"/>
          <p:cNvSpPr txBox="1"/>
          <p:nvPr/>
        </p:nvSpPr>
        <p:spPr>
          <a:xfrm>
            <a:off x="10988832" y="3171461"/>
            <a:ext cx="723900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13" name="Shape 313"/>
          <p:cNvSpPr txBox="1"/>
          <p:nvPr/>
        </p:nvSpPr>
        <p:spPr>
          <a:xfrm>
            <a:off x="12817632" y="31079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print('Is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5’)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314" name="Shape 314"/>
          <p:cNvCxnSpPr>
            <a:endCxn id="313" idx="2"/>
          </p:cNvCxnSpPr>
          <p:nvPr/>
        </p:nvCxnSpPr>
        <p:spPr>
          <a:xfrm rot="10800000" flipH="1">
            <a:off x="14267981" y="3857360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5" name="Shape 315"/>
          <p:cNvCxnSpPr/>
          <p:nvPr/>
        </p:nvCxnSpPr>
        <p:spPr>
          <a:xfrm rot="10800000" flipH="1">
            <a:off x="14267982" y="4999998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6" name="Shape 316"/>
          <p:cNvCxnSpPr/>
          <p:nvPr/>
        </p:nvCxnSpPr>
        <p:spPr>
          <a:xfrm rot="10800000" flipH="1">
            <a:off x="14276219" y="6066435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438528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 txBox="1">
            <a:spLocks noGrp="1"/>
          </p:cNvSpPr>
          <p:nvPr>
            <p:ph type="title"/>
          </p:nvPr>
        </p:nvSpPr>
        <p:spPr>
          <a:xfrm>
            <a:off x="727075" y="745588"/>
            <a:ext cx="13512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</p:txBody>
      </p:sp>
      <p:sp>
        <p:nvSpPr>
          <p:cNvPr id="322" name="Shape 322"/>
          <p:cNvSpPr txBox="1">
            <a:spLocks noGrp="1"/>
          </p:cNvSpPr>
          <p:nvPr>
            <p:ph type="body" idx="1"/>
          </p:nvPr>
        </p:nvSpPr>
        <p:spPr>
          <a:xfrm>
            <a:off x="946523" y="2592296"/>
            <a:ext cx="14269178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indent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 after an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(after : 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indicate the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scope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the block (which lines are affected by the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/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Reduce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back to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level of the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to indicate the end of the block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Blank lines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ignored - they do not affect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Comments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on a line by themselves are ignored w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ith regard to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indentation</a:t>
            </a:r>
          </a:p>
        </p:txBody>
      </p:sp>
    </p:spTree>
    <p:extLst>
      <p:ext uri="{BB962C8B-B14F-4D97-AF65-F5344CB8AC3E}">
        <p14:creationId xmlns:p14="http://schemas.microsoft.com/office/powerpoint/2010/main" val="363601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 txBox="1"/>
          <p:nvPr/>
        </p:nvSpPr>
        <p:spPr>
          <a:xfrm>
            <a:off x="5395988" y="2404977"/>
            <a:ext cx="7918337" cy="60065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print('Still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bigger')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print('Done with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for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if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print('Done with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print('All Done') </a:t>
            </a:r>
          </a:p>
        </p:txBody>
      </p:sp>
      <p:sp>
        <p:nvSpPr>
          <p:cNvPr id="344" name="Shape 344"/>
          <p:cNvSpPr txBox="1"/>
          <p:nvPr/>
        </p:nvSpPr>
        <p:spPr>
          <a:xfrm>
            <a:off x="4144962" y="957300"/>
            <a:ext cx="7183437" cy="12572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/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if or for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Font typeface="Cabin"/>
              <a:buNone/>
            </a:pPr>
            <a:endParaRPr sz="1200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decrease </a:t>
            </a:r>
            <a:r>
              <a:rPr lang="en-US" sz="3600" u="none" strike="noStrike" cap="none" dirty="0">
                <a:solidFill>
                  <a:srgbClr val="F3F3F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indicate end of block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/>
          </a:p>
        </p:txBody>
      </p:sp>
      <p:cxnSp>
        <p:nvCxnSpPr>
          <p:cNvPr id="345" name="Shape 345"/>
          <p:cNvCxnSpPr/>
          <p:nvPr/>
        </p:nvCxnSpPr>
        <p:spPr>
          <a:xfrm>
            <a:off x="3187095" y="47879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6" name="Shape 346"/>
          <p:cNvCxnSpPr/>
          <p:nvPr/>
        </p:nvCxnSpPr>
        <p:spPr>
          <a:xfrm rot="10800000">
            <a:off x="3818860" y="37210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7" name="Shape 347"/>
          <p:cNvCxnSpPr/>
          <p:nvPr/>
        </p:nvCxnSpPr>
        <p:spPr>
          <a:xfrm rot="10800000">
            <a:off x="4503199" y="71929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8" name="Shape 348"/>
          <p:cNvCxnSpPr/>
          <p:nvPr/>
        </p:nvCxnSpPr>
        <p:spPr>
          <a:xfrm>
            <a:off x="3794955" y="76200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9" name="Shape 349"/>
          <p:cNvCxnSpPr/>
          <p:nvPr/>
        </p:nvCxnSpPr>
        <p:spPr>
          <a:xfrm rot="10800000">
            <a:off x="3830000" y="6273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0" name="Shape 350"/>
          <p:cNvCxnSpPr/>
          <p:nvPr/>
        </p:nvCxnSpPr>
        <p:spPr>
          <a:xfrm rot="10800000">
            <a:off x="3830000" y="4241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1" name="Shape 351"/>
          <p:cNvCxnSpPr/>
          <p:nvPr/>
        </p:nvCxnSpPr>
        <p:spPr>
          <a:xfrm rot="10800000">
            <a:off x="3830000" y="67944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2" name="Shape 352"/>
          <p:cNvCxnSpPr/>
          <p:nvPr/>
        </p:nvCxnSpPr>
        <p:spPr>
          <a:xfrm rot="10800000">
            <a:off x="3261800" y="5718064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3" name="Shape 353"/>
          <p:cNvCxnSpPr/>
          <p:nvPr/>
        </p:nvCxnSpPr>
        <p:spPr>
          <a:xfrm rot="10800000">
            <a:off x="3395540" y="27050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4" name="Shape 354"/>
          <p:cNvCxnSpPr/>
          <p:nvPr/>
        </p:nvCxnSpPr>
        <p:spPr>
          <a:xfrm rot="10800000">
            <a:off x="3395540" y="31876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5" name="Shape 355"/>
          <p:cNvCxnSpPr/>
          <p:nvPr/>
        </p:nvCxnSpPr>
        <p:spPr>
          <a:xfrm>
            <a:off x="3261800" y="80772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6599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363"/>
          <p:cNvSpPr txBox="1"/>
          <p:nvPr/>
        </p:nvSpPr>
        <p:spPr>
          <a:xfrm>
            <a:off x="4598450" y="5392512"/>
            <a:ext cx="7704000" cy="2421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Shape 364"/>
          <p:cNvSpPr txBox="1"/>
          <p:nvPr/>
        </p:nvSpPr>
        <p:spPr>
          <a:xfrm>
            <a:off x="4576700" y="2941773"/>
            <a:ext cx="7704000" cy="1509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Shape 362"/>
          <p:cNvSpPr txBox="1"/>
          <p:nvPr/>
        </p:nvSpPr>
        <p:spPr>
          <a:xfrm>
            <a:off x="5533200" y="6313475"/>
            <a:ext cx="6377099" cy="10169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Shape 343"/>
          <p:cNvSpPr txBox="1"/>
          <p:nvPr/>
        </p:nvSpPr>
        <p:spPr>
          <a:xfrm>
            <a:off x="4598449" y="2438400"/>
            <a:ext cx="7918337" cy="5854799"/>
          </a:xfrm>
          <a:prstGeom prst="rect">
            <a:avLst/>
          </a:prstGeom>
          <a:noFill/>
          <a:ln w="12700" cap="rnd" cmpd="sng">
            <a:noFill/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print('Still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bigger')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print('Done with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for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if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print('Done with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15" name="Shape 361"/>
          <p:cNvSpPr txBox="1"/>
          <p:nvPr/>
        </p:nvSpPr>
        <p:spPr>
          <a:xfrm>
            <a:off x="2147475" y="524656"/>
            <a:ext cx="12044775" cy="1494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Think About begin/end Blocks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3085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051B5A-0193-9040-9899-5B115C28EECD}"/>
              </a:ext>
            </a:extLst>
          </p:cNvPr>
          <p:cNvSpPr txBox="1"/>
          <p:nvPr/>
        </p:nvSpPr>
        <p:spPr>
          <a:xfrm>
            <a:off x="763644" y="3471332"/>
            <a:ext cx="1467955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Change your age program from earlier so that the user gets a special message if they are the same age as you. For instance, my program would look like this when it runs: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How old are you? </a:t>
            </a:r>
            <a:r>
              <a:rPr lang="en-US" sz="3000" dirty="0">
                <a:solidFill>
                  <a:srgbClr val="29FD2F"/>
                </a:solidFill>
              </a:rPr>
              <a:t>28</a:t>
            </a:r>
          </a:p>
          <a:p>
            <a:r>
              <a:rPr lang="en-US" sz="3000" dirty="0">
                <a:solidFill>
                  <a:schemeClr val="bg1"/>
                </a:solidFill>
              </a:rPr>
              <a:t>Hey! You’re the same age as me!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If I put in a different number such as 28, I do not get the secret message.</a:t>
            </a:r>
          </a:p>
        </p:txBody>
      </p:sp>
    </p:spTree>
    <p:extLst>
      <p:ext uri="{BB962C8B-B14F-4D97-AF65-F5344CB8AC3E}">
        <p14:creationId xmlns:p14="http://schemas.microsoft.com/office/powerpoint/2010/main" val="3129399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/>
          <p:nvPr/>
        </p:nvSpPr>
        <p:spPr>
          <a:xfrm>
            <a:off x="797475" y="3210450"/>
            <a:ext cx="6953818" cy="3332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1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print('More than one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100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    print('Less than 100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</a:t>
            </a:r>
            <a:r>
              <a:rPr lang="en-US" sz="30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88" name="Shape 388"/>
          <p:cNvSpPr txBox="1"/>
          <p:nvPr/>
        </p:nvSpPr>
        <p:spPr>
          <a:xfrm>
            <a:off x="1168400" y="689548"/>
            <a:ext cx="4813299" cy="216795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</p:txBody>
      </p:sp>
      <p:cxnSp>
        <p:nvCxnSpPr>
          <p:cNvPr id="381" name="Shape 381"/>
          <p:cNvCxnSpPr/>
          <p:nvPr/>
        </p:nvCxnSpPr>
        <p:spPr>
          <a:xfrm rot="10800000">
            <a:off x="9451261" y="830128"/>
            <a:ext cx="13265" cy="40822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69" name="Shape 369"/>
          <p:cNvSpPr/>
          <p:nvPr/>
        </p:nvSpPr>
        <p:spPr>
          <a:xfrm>
            <a:off x="7986419" y="1182730"/>
            <a:ext cx="2966810" cy="1229106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1</a:t>
            </a:r>
          </a:p>
        </p:txBody>
      </p:sp>
      <p:sp>
        <p:nvSpPr>
          <p:cNvPr id="370" name="Shape 370"/>
          <p:cNvSpPr txBox="1"/>
          <p:nvPr/>
        </p:nvSpPr>
        <p:spPr>
          <a:xfrm>
            <a:off x="10253910" y="2433028"/>
            <a:ext cx="3488651" cy="105957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print('More than one’)</a:t>
            </a:r>
          </a:p>
        </p:txBody>
      </p:sp>
      <p:sp>
        <p:nvSpPr>
          <p:cNvPr id="371" name="Shape 371"/>
          <p:cNvSpPr/>
          <p:nvPr/>
        </p:nvSpPr>
        <p:spPr>
          <a:xfrm>
            <a:off x="10253910" y="3863455"/>
            <a:ext cx="3464810" cy="1229106"/>
          </a:xfrm>
          <a:prstGeom prst="diamond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100</a:t>
            </a:r>
          </a:p>
        </p:txBody>
      </p:sp>
      <p:sp>
        <p:nvSpPr>
          <p:cNvPr id="372" name="Shape 372"/>
          <p:cNvSpPr txBox="1"/>
          <p:nvPr/>
        </p:nvSpPr>
        <p:spPr>
          <a:xfrm>
            <a:off x="12636709" y="5050179"/>
            <a:ext cx="3327815" cy="1059575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print('Less </a:t>
            </a: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than </a:t>
            </a:r>
            <a:r>
              <a:rPr lang="en-US" sz="2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100')</a:t>
            </a:r>
            <a:endParaRPr lang="en-US" sz="2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73" name="Shape 373"/>
          <p:cNvSpPr txBox="1"/>
          <p:nvPr/>
        </p:nvSpPr>
        <p:spPr>
          <a:xfrm>
            <a:off x="8018206" y="7095158"/>
            <a:ext cx="2892639" cy="1059491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cxnSp>
        <p:nvCxnSpPr>
          <p:cNvPr id="374" name="Shape 374"/>
          <p:cNvCxnSpPr/>
          <p:nvPr/>
        </p:nvCxnSpPr>
        <p:spPr>
          <a:xfrm rot="10800000" flipH="1">
            <a:off x="10932038" y="1782610"/>
            <a:ext cx="1127071" cy="27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5" name="Shape 375"/>
          <p:cNvCxnSpPr/>
          <p:nvPr/>
        </p:nvCxnSpPr>
        <p:spPr>
          <a:xfrm rot="10800000" flipH="1">
            <a:off x="12049889" y="1782495"/>
            <a:ext cx="9261" cy="63199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6" name="Shape 376"/>
          <p:cNvCxnSpPr/>
          <p:nvPr/>
        </p:nvCxnSpPr>
        <p:spPr>
          <a:xfrm rot="10800000" flipH="1">
            <a:off x="9434062" y="2399916"/>
            <a:ext cx="30462" cy="468464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7" name="Shape 377"/>
          <p:cNvCxnSpPr/>
          <p:nvPr/>
        </p:nvCxnSpPr>
        <p:spPr>
          <a:xfrm>
            <a:off x="13697529" y="4456817"/>
            <a:ext cx="610580" cy="1192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8" name="Shape 378"/>
          <p:cNvCxnSpPr/>
          <p:nvPr/>
        </p:nvCxnSpPr>
        <p:spPr>
          <a:xfrm rot="10800000" flipH="1">
            <a:off x="14274997" y="4510191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9" name="Shape 379"/>
          <p:cNvCxnSpPr>
            <a:stCxn id="371" idx="0"/>
            <a:endCxn id="370" idx="2"/>
          </p:cNvCxnSpPr>
          <p:nvPr/>
        </p:nvCxnSpPr>
        <p:spPr>
          <a:xfrm flipV="1">
            <a:off x="11986315" y="3492603"/>
            <a:ext cx="11921" cy="3708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80" name="Shape 380"/>
          <p:cNvCxnSpPr/>
          <p:nvPr/>
        </p:nvCxnSpPr>
        <p:spPr>
          <a:xfrm>
            <a:off x="9496313" y="6618350"/>
            <a:ext cx="4749545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2" name="Shape 382"/>
          <p:cNvSpPr txBox="1"/>
          <p:nvPr/>
        </p:nvSpPr>
        <p:spPr>
          <a:xfrm>
            <a:off x="11358517" y="1230411"/>
            <a:ext cx="918430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83" name="Shape 383"/>
          <p:cNvSpPr txBox="1"/>
          <p:nvPr/>
        </p:nvSpPr>
        <p:spPr>
          <a:xfrm>
            <a:off x="13742561" y="3921731"/>
            <a:ext cx="917822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384" name="Shape 384"/>
          <p:cNvCxnSpPr/>
          <p:nvPr/>
        </p:nvCxnSpPr>
        <p:spPr>
          <a:xfrm rot="10800000">
            <a:off x="12003532" y="5123024"/>
            <a:ext cx="0" cy="1495324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5" name="Shape 385"/>
          <p:cNvSpPr txBox="1"/>
          <p:nvPr/>
        </p:nvSpPr>
        <p:spPr>
          <a:xfrm>
            <a:off x="11386329" y="5066072"/>
            <a:ext cx="451643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86" name="Shape 386"/>
          <p:cNvSpPr txBox="1"/>
          <p:nvPr/>
        </p:nvSpPr>
        <p:spPr>
          <a:xfrm>
            <a:off x="8801078" y="2544284"/>
            <a:ext cx="451643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389" name="Shape 389"/>
          <p:cNvCxnSpPr/>
          <p:nvPr/>
        </p:nvCxnSpPr>
        <p:spPr>
          <a:xfrm rot="10800000" flipH="1">
            <a:off x="14274997" y="6163128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729424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65153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</a:t>
            </a:r>
          </a:p>
        </p:txBody>
      </p:sp>
      <p:sp>
        <p:nvSpPr>
          <p:cNvPr id="395" name="Shape 395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5874687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Sometimes we want to do one thing if a logical expression is true and something else if the expression is false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like a fork in the road - we must choose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or the other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path but not both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>
            <a:off x="8805517" y="3910062"/>
            <a:ext cx="1209925" cy="5819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8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</p:spTree>
    <p:extLst>
      <p:ext uri="{BB962C8B-B14F-4D97-AF65-F5344CB8AC3E}">
        <p14:creationId xmlns:p14="http://schemas.microsoft.com/office/powerpoint/2010/main" val="14151957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1126051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 with else: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24599449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458"/>
          <p:cNvSpPr txBox="1"/>
          <p:nvPr/>
        </p:nvSpPr>
        <p:spPr>
          <a:xfrm>
            <a:off x="955900" y="4404944"/>
            <a:ext cx="4726519" cy="22986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Visualize Blocks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40"/>
          <p:cNvSpPr txBox="1"/>
          <p:nvPr/>
        </p:nvSpPr>
        <p:spPr>
          <a:xfrm>
            <a:off x="6891553" y="3024705"/>
            <a:ext cx="9189198" cy="33782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00"/>
              </a:solidFill>
            </a:endParaRPr>
          </a:p>
        </p:txBody>
      </p:sp>
      <p:sp>
        <p:nvSpPr>
          <p:cNvPr id="24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25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26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7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8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9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0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31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2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3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34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5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6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8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0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2186026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More Conditional Structures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0459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endParaRPr lang="en-US" sz="3000" b="1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6412" y="2286710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2613" y="2376410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6368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7836" y="6893651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9312" y="2202616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8374" y="3503271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9225" y="2955278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8748" y="1716348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2986" y="6743717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7624" y="7377204"/>
            <a:ext cx="3061023" cy="8520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5199" y="4002229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41401" y="4091929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5155" y="465535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3862" y="3974197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2870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9232" y="46441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8212" y="3578833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8837" y="561683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4387" y="5295942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8974" y="507302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6901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4315" y="2283417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0516" y="237311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4271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5739" y="6890358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7215" y="2199323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6277" y="3499978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7128" y="2951985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6651" y="1713055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0889" y="6740424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5527" y="7373911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3102" y="399893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9304" y="408863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3058" y="465206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1765" y="3970904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0773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7135" y="4640854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6115" y="3575540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6740" y="5613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2290" y="5292649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6877" y="5069734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602488" y="972862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1078285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5 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Medium')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88036" y="2276842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44237" y="2366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77992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19460" y="6883783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0936" y="2192748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49998" y="349340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0849" y="2945410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0372" y="1706480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74610" y="6733849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99248" y="7367336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76823" y="3992361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3025" y="408206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66779" y="4645491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15486" y="3964329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44494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0856" y="463427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29836" y="3568965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0461" y="560696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76011" y="5286074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0598" y="5063159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96209" y="966287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5</a:t>
            </a:r>
          </a:p>
        </p:txBody>
      </p:sp>
    </p:spTree>
    <p:extLst>
      <p:ext uri="{BB962C8B-B14F-4D97-AF65-F5344CB8AC3E}">
        <p14:creationId xmlns:p14="http://schemas.microsoft.com/office/powerpoint/2010/main" val="4118588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33161" y="2935664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20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print('LARGE'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b="1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76941" y="226709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33142" y="235679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66897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08365" y="6874037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69841" y="2183002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38903" y="348365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19754" y="2935664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59277" y="1696734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63515" y="6724103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88153" y="7357590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65728" y="3982615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21930" y="407231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55684" y="4635745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04391" y="3954583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33399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599761" y="4624533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18741" y="3559219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799366" y="559722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64916" y="5276328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59503" y="505341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85114" y="956541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20</a:t>
            </a:r>
          </a:p>
        </p:txBody>
      </p:sp>
    </p:spTree>
    <p:extLst>
      <p:ext uri="{BB962C8B-B14F-4D97-AF65-F5344CB8AC3E}">
        <p14:creationId xmlns:p14="http://schemas.microsoft.com/office/powerpoint/2010/main" val="30955566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1060450" y="745588"/>
            <a:ext cx="5934648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575" name="Shape 575"/>
          <p:cNvSpPr txBox="1"/>
          <p:nvPr/>
        </p:nvSpPr>
        <p:spPr>
          <a:xfrm>
            <a:off x="1243605" y="3121862"/>
            <a:ext cx="5311799" cy="4187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# No Else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print('Medium')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576" name="Shape 576"/>
          <p:cNvSpPr txBox="1"/>
          <p:nvPr/>
        </p:nvSpPr>
        <p:spPr>
          <a:xfrm>
            <a:off x="8707420" y="1563873"/>
            <a:ext cx="6437700" cy="617771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print('Medium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20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print('Big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40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print('Large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100: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print('Huge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print('Ginormous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2942367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11175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Puzzles</a:t>
            </a:r>
          </a:p>
        </p:txBody>
      </p:sp>
      <p:sp>
        <p:nvSpPr>
          <p:cNvPr id="582" name="Shape 582"/>
          <p:cNvSpPr txBox="1"/>
          <p:nvPr/>
        </p:nvSpPr>
        <p:spPr>
          <a:xfrm>
            <a:off x="8677001" y="3640379"/>
            <a:ext cx="6410699" cy="40464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print('Below 2')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20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20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10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3" name="Shape 583"/>
          <p:cNvSpPr txBox="1"/>
          <p:nvPr/>
        </p:nvSpPr>
        <p:spPr>
          <a:xfrm>
            <a:off x="1404925" y="4496066"/>
            <a:ext cx="6554852" cy="32209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print('Below 2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&gt;= 2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print('Two or more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else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b="1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4" name="Shape 584"/>
          <p:cNvSpPr txBox="1"/>
          <p:nvPr/>
        </p:nvSpPr>
        <p:spPr>
          <a:xfrm>
            <a:off x="925250" y="2981784"/>
            <a:ext cx="6429707" cy="9683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Which will never print regardless of the value for x?</a:t>
            </a:r>
          </a:p>
        </p:txBody>
      </p:sp>
    </p:spTree>
    <p:extLst>
      <p:ext uri="{BB962C8B-B14F-4D97-AF65-F5344CB8AC3E}">
        <p14:creationId xmlns:p14="http://schemas.microsoft.com/office/powerpoint/2010/main" val="9156888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1460500" y="322255"/>
            <a:ext cx="13211175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282C30-8830-B04A-B24C-563A1355F714}"/>
              </a:ext>
            </a:extLst>
          </p:cNvPr>
          <p:cNvSpPr txBox="1"/>
          <p:nvPr/>
        </p:nvSpPr>
        <p:spPr>
          <a:xfrm>
            <a:off x="897466" y="3556000"/>
            <a:ext cx="141393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test your if/</a:t>
            </a:r>
            <a:r>
              <a:rPr lang="en-US" sz="3000" dirty="0" err="1">
                <a:solidFill>
                  <a:schemeClr val="bg1"/>
                </a:solidFill>
              </a:rPr>
              <a:t>elif</a:t>
            </a:r>
            <a:r>
              <a:rPr lang="en-US" sz="3000" dirty="0">
                <a:solidFill>
                  <a:schemeClr val="bg1"/>
                </a:solidFill>
              </a:rPr>
              <a:t>/else skills! Write the following program: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Ask the user for their height in centimeters (cm)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user’s height is less than 150 cm, print “You are short”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user’s height is less than 160 cm, print “You are average”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 is taller than 180 cm, print “You are Yao Ming!”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 is taller than 190 cm, print “You are a giant!”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6F0B78-8A0A-7447-A59F-763C89D7A4A4}"/>
              </a:ext>
            </a:extLst>
          </p:cNvPr>
          <p:cNvSpPr txBox="1"/>
          <p:nvPr/>
        </p:nvSpPr>
        <p:spPr>
          <a:xfrm>
            <a:off x="897466" y="7549979"/>
            <a:ext cx="13140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29FD2F"/>
                </a:solidFill>
              </a:rPr>
              <a:t>There are many ways to do this…see what you can come up with! For a fun challenge, try to make your program as short as possible, then try to make it as long as possible!</a:t>
            </a:r>
          </a:p>
        </p:txBody>
      </p:sp>
    </p:spTree>
    <p:extLst>
      <p:ext uri="{BB962C8B-B14F-4D97-AF65-F5344CB8AC3E}">
        <p14:creationId xmlns:p14="http://schemas.microsoft.com/office/powerpoint/2010/main" val="37755400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xfrm>
            <a:off x="812800" y="3664479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My Favorite Part!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7F0B0B-BAEC-EC40-8EA2-B2C2071E57A4}"/>
              </a:ext>
            </a:extLst>
          </p:cNvPr>
          <p:cNvSpPr txBox="1"/>
          <p:nvPr/>
        </p:nvSpPr>
        <p:spPr>
          <a:xfrm>
            <a:off x="6370147" y="4769378"/>
            <a:ext cx="351570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Dealing With Errors</a:t>
            </a:r>
          </a:p>
        </p:txBody>
      </p:sp>
    </p:spTree>
    <p:extLst>
      <p:ext uri="{BB962C8B-B14F-4D97-AF65-F5344CB8AC3E}">
        <p14:creationId xmlns:p14="http://schemas.microsoft.com/office/powerpoint/2010/main" val="18551553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5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try / except Structure</a:t>
            </a:r>
          </a:p>
        </p:txBody>
      </p:sp>
      <p:sp>
        <p:nvSpPr>
          <p:cNvPr id="590" name="Shape 590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454551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surround a dangerous section of code with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works -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skipped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fails - it jumps to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section</a:t>
            </a:r>
          </a:p>
        </p:txBody>
      </p:sp>
    </p:spTree>
    <p:extLst>
      <p:ext uri="{BB962C8B-B14F-4D97-AF65-F5344CB8AC3E}">
        <p14:creationId xmlns:p14="http://schemas.microsoft.com/office/powerpoint/2010/main" val="18717340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147704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2560629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091999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  <p:cxnSp>
        <p:nvCxnSpPr>
          <p:cNvPr id="6" name="Shape 604"/>
          <p:cNvCxnSpPr/>
          <p:nvPr/>
        </p:nvCxnSpPr>
        <p:spPr>
          <a:xfrm rot="10800000">
            <a:off x="1127215" y="5574171"/>
            <a:ext cx="1217400" cy="13499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7" name="Shape 605"/>
          <p:cNvSpPr txBox="1"/>
          <p:nvPr/>
        </p:nvSpPr>
        <p:spPr>
          <a:xfrm>
            <a:off x="174715" y="3120844"/>
            <a:ext cx="1904999" cy="218430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program stops here</a:t>
            </a:r>
          </a:p>
        </p:txBody>
      </p:sp>
      <p:sp>
        <p:nvSpPr>
          <p:cNvPr id="8" name="Shape 609"/>
          <p:cNvSpPr txBox="1"/>
          <p:nvPr/>
        </p:nvSpPr>
        <p:spPr>
          <a:xfrm>
            <a:off x="2344618" y="5934684"/>
            <a:ext cx="4819500" cy="202813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E0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5050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634"/>
          <p:cNvSpPr txBox="1"/>
          <p:nvPr/>
        </p:nvSpPr>
        <p:spPr>
          <a:xfrm>
            <a:off x="2882900" y="1130300"/>
            <a:ext cx="5204399" cy="71892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35" name="Shape 635"/>
          <p:cNvSpPr txBox="1"/>
          <p:nvPr/>
        </p:nvSpPr>
        <p:spPr>
          <a:xfrm>
            <a:off x="9926612" y="3460549"/>
            <a:ext cx="5204399" cy="16890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python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tryexcept.py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First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Second 123</a:t>
            </a:r>
          </a:p>
        </p:txBody>
      </p:sp>
      <p:sp>
        <p:nvSpPr>
          <p:cNvPr id="636" name="Shape 636"/>
          <p:cNvSpPr txBox="1"/>
          <p:nvPr/>
        </p:nvSpPr>
        <p:spPr>
          <a:xfrm>
            <a:off x="8836025" y="1130300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first conversion fails - it just drops into the except: clause and the program continues.</a:t>
            </a:r>
          </a:p>
        </p:txBody>
      </p:sp>
      <p:cxnSp>
        <p:nvCxnSpPr>
          <p:cNvPr id="637" name="Shape 637"/>
          <p:cNvCxnSpPr/>
          <p:nvPr/>
        </p:nvCxnSpPr>
        <p:spPr>
          <a:xfrm flipH="1">
            <a:off x="1469169" y="2565411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38" name="Shape 638"/>
          <p:cNvSpPr txBox="1"/>
          <p:nvPr/>
        </p:nvSpPr>
        <p:spPr>
          <a:xfrm>
            <a:off x="9582411" y="6787409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second conversion succeeds - it just skips the except: clause and the program continues.</a:t>
            </a:r>
          </a:p>
        </p:txBody>
      </p:sp>
      <p:cxnSp>
        <p:nvCxnSpPr>
          <p:cNvPr id="639" name="Shape 639"/>
          <p:cNvCxnSpPr/>
          <p:nvPr/>
        </p:nvCxnSpPr>
        <p:spPr>
          <a:xfrm>
            <a:off x="6301625" y="3443150"/>
            <a:ext cx="903299" cy="17399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0" name="Shape 640"/>
          <p:cNvCxnSpPr/>
          <p:nvPr/>
        </p:nvCxnSpPr>
        <p:spPr>
          <a:xfrm flipH="1">
            <a:off x="1390096" y="6179937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1" name="Shape 641"/>
          <p:cNvCxnSpPr/>
          <p:nvPr/>
        </p:nvCxnSpPr>
        <p:spPr>
          <a:xfrm rot="10800000" flipH="1">
            <a:off x="7866125" y="7987829"/>
            <a:ext cx="969900" cy="144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065985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9839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/ except</a:t>
            </a:r>
          </a:p>
        </p:txBody>
      </p:sp>
      <p:sp>
        <p:nvSpPr>
          <p:cNvPr id="647" name="Shape 647"/>
          <p:cNvSpPr txBox="1"/>
          <p:nvPr/>
        </p:nvSpPr>
        <p:spPr>
          <a:xfrm>
            <a:off x="7581900" y="9525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'Bob'</a:t>
            </a:r>
          </a:p>
        </p:txBody>
      </p:sp>
      <p:cxnSp>
        <p:nvCxnSpPr>
          <p:cNvPr id="648" name="Shape 648"/>
          <p:cNvCxnSpPr/>
          <p:nvPr/>
        </p:nvCxnSpPr>
        <p:spPr>
          <a:xfrm rot="10800000">
            <a:off x="11690350" y="2797174"/>
            <a:ext cx="2417761" cy="20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49" name="Shape 649"/>
          <p:cNvSpPr txBox="1"/>
          <p:nvPr/>
        </p:nvSpPr>
        <p:spPr>
          <a:xfrm>
            <a:off x="1328126" y="2840245"/>
            <a:ext cx="5171100" cy="475115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print('Hello')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print('There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print('Done',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 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50" name="Shape 650"/>
          <p:cNvSpPr txBox="1"/>
          <p:nvPr/>
        </p:nvSpPr>
        <p:spPr>
          <a:xfrm>
            <a:off x="8229600" y="2387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print('Hello')</a:t>
            </a:r>
          </a:p>
        </p:txBody>
      </p:sp>
      <p:sp>
        <p:nvSpPr>
          <p:cNvPr id="651" name="Shape 651"/>
          <p:cNvSpPr txBox="1"/>
          <p:nvPr/>
        </p:nvSpPr>
        <p:spPr>
          <a:xfrm>
            <a:off x="8229600" y="50800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print('There')</a:t>
            </a:r>
          </a:p>
        </p:txBody>
      </p:sp>
      <p:sp>
        <p:nvSpPr>
          <p:cNvPr id="652" name="Shape 652"/>
          <p:cNvSpPr txBox="1"/>
          <p:nvPr/>
        </p:nvSpPr>
        <p:spPr>
          <a:xfrm>
            <a:off x="8229600" y="37719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653" name="Shape 653"/>
          <p:cNvSpPr txBox="1"/>
          <p:nvPr/>
        </p:nvSpPr>
        <p:spPr>
          <a:xfrm>
            <a:off x="8153400" y="74422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print('Done',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cxnSp>
        <p:nvCxnSpPr>
          <p:cNvPr id="654" name="Shape 654"/>
          <p:cNvCxnSpPr/>
          <p:nvPr/>
        </p:nvCxnSpPr>
        <p:spPr>
          <a:xfrm rot="10800000">
            <a:off x="9947275" y="3227386"/>
            <a:ext cx="19049" cy="541337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5" name="Shape 655"/>
          <p:cNvCxnSpPr/>
          <p:nvPr/>
        </p:nvCxnSpPr>
        <p:spPr>
          <a:xfrm rot="10800000" flipH="1">
            <a:off x="9947275" y="4618036"/>
            <a:ext cx="22225" cy="439736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56" name="Shape 656"/>
          <p:cNvSpPr txBox="1"/>
          <p:nvPr/>
        </p:nvSpPr>
        <p:spPr>
          <a:xfrm>
            <a:off x="12369800" y="6324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-1</a:t>
            </a:r>
          </a:p>
        </p:txBody>
      </p:sp>
      <p:cxnSp>
        <p:nvCxnSpPr>
          <p:cNvPr id="657" name="Shape 657"/>
          <p:cNvCxnSpPr/>
          <p:nvPr/>
        </p:nvCxnSpPr>
        <p:spPr>
          <a:xfrm rot="10800000" flipH="1">
            <a:off x="9942675" y="5940375"/>
            <a:ext cx="4799" cy="1550399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8" name="Shape 658"/>
          <p:cNvCxnSpPr/>
          <p:nvPr/>
        </p:nvCxnSpPr>
        <p:spPr>
          <a:xfrm rot="10800000">
            <a:off x="9293225" y="1884361"/>
            <a:ext cx="673099" cy="48577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9" name="Shape 659"/>
          <p:cNvCxnSpPr/>
          <p:nvPr/>
        </p:nvCxnSpPr>
        <p:spPr>
          <a:xfrm rot="10800000">
            <a:off x="11690349" y="4181475"/>
            <a:ext cx="2400300" cy="1746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0" name="Shape 660"/>
          <p:cNvCxnSpPr/>
          <p:nvPr/>
        </p:nvCxnSpPr>
        <p:spPr>
          <a:xfrm rot="10800000">
            <a:off x="11690349" y="5489575"/>
            <a:ext cx="2400300" cy="333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1" name="Shape 661"/>
          <p:cNvCxnSpPr/>
          <p:nvPr/>
        </p:nvCxnSpPr>
        <p:spPr>
          <a:xfrm rot="10800000">
            <a:off x="14150600" y="2753249"/>
            <a:ext cx="14999" cy="35115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2" name="Shape 662"/>
          <p:cNvCxnSpPr/>
          <p:nvPr/>
        </p:nvCxnSpPr>
        <p:spPr>
          <a:xfrm rot="10800000" flipH="1">
            <a:off x="9927550" y="6737349"/>
            <a:ext cx="2351700" cy="4053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63" name="Shape 663"/>
          <p:cNvSpPr txBox="1"/>
          <p:nvPr/>
        </p:nvSpPr>
        <p:spPr>
          <a:xfrm>
            <a:off x="12920677" y="7340600"/>
            <a:ext cx="23517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Safety net</a:t>
            </a:r>
          </a:p>
        </p:txBody>
      </p:sp>
    </p:spTree>
    <p:extLst>
      <p:ext uri="{BB962C8B-B14F-4D97-AF65-F5344CB8AC3E}">
        <p14:creationId xmlns:p14="http://schemas.microsoft.com/office/powerpoint/2010/main" val="19930018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6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Sample try / except</a:t>
            </a:r>
          </a:p>
        </p:txBody>
      </p:sp>
      <p:sp>
        <p:nvSpPr>
          <p:cNvPr id="669" name="Shape 669"/>
          <p:cNvSpPr txBox="1"/>
          <p:nvPr/>
        </p:nvSpPr>
        <p:spPr>
          <a:xfrm>
            <a:off x="9999150" y="3585854"/>
            <a:ext cx="59414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number: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Nice work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number: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forty-two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Not a number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</a:t>
            </a:r>
          </a:p>
        </p:txBody>
      </p:sp>
      <p:sp>
        <p:nvSpPr>
          <p:cNvPr id="670" name="Shape 670"/>
          <p:cNvSpPr txBox="1"/>
          <p:nvPr/>
        </p:nvSpPr>
        <p:spPr>
          <a:xfrm>
            <a:off x="910375" y="2860675"/>
            <a:ext cx="85610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try: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except: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endParaRPr lang="en-US" sz="3000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&gt; 0 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print('Nice work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print('Not a number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2863586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6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Sample try / except</a:t>
            </a:r>
          </a:p>
        </p:txBody>
      </p:sp>
      <p:sp>
        <p:nvSpPr>
          <p:cNvPr id="669" name="Shape 669"/>
          <p:cNvSpPr txBox="1"/>
          <p:nvPr/>
        </p:nvSpPr>
        <p:spPr>
          <a:xfrm>
            <a:off x="9999150" y="3585854"/>
            <a:ext cx="59414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number: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Nice work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number: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forty-two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Not a number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</a:t>
            </a:r>
          </a:p>
        </p:txBody>
      </p:sp>
      <p:sp>
        <p:nvSpPr>
          <p:cNvPr id="670" name="Shape 670"/>
          <p:cNvSpPr txBox="1"/>
          <p:nvPr/>
        </p:nvSpPr>
        <p:spPr>
          <a:xfrm>
            <a:off x="910375" y="2860675"/>
            <a:ext cx="85610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try: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except: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endParaRPr lang="en-US" sz="3000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&gt; 0 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print('Nice work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print('Not a number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0434358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562100" y="694788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96E0A-848E-E145-9E2F-5926C4ED9DE1}"/>
              </a:ext>
            </a:extLst>
          </p:cNvPr>
          <p:cNvSpPr txBox="1"/>
          <p:nvPr/>
        </p:nvSpPr>
        <p:spPr>
          <a:xfrm>
            <a:off x="1562100" y="3014134"/>
            <a:ext cx="1277196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You already wrote a program which can ask the user how old they are. Since input() returns a </a:t>
            </a:r>
            <a:r>
              <a:rPr lang="en-US" sz="3000" dirty="0">
                <a:solidFill>
                  <a:srgbClr val="29FD2F"/>
                </a:solidFill>
              </a:rPr>
              <a:t>string</a:t>
            </a:r>
            <a:r>
              <a:rPr lang="en-US" sz="3000" dirty="0">
                <a:solidFill>
                  <a:schemeClr val="bg1"/>
                </a:solidFill>
              </a:rPr>
              <a:t>, you have to have a line in your program that looks like this to convert the user’s age to a number: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age = </a:t>
            </a:r>
            <a:r>
              <a:rPr lang="en-US" sz="3000" dirty="0" err="1">
                <a:solidFill>
                  <a:schemeClr val="bg1"/>
                </a:solidFill>
              </a:rPr>
              <a:t>int</a:t>
            </a:r>
            <a:r>
              <a:rPr lang="en-US" sz="3000" dirty="0">
                <a:solidFill>
                  <a:schemeClr val="bg1"/>
                </a:solidFill>
              </a:rPr>
              <a:t>(age)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But what happens to your program if the user puts in “fifteen”? Use try/except to improve your program. If the user does not enter a number, print out “Sorry, try again. You can only input numbers like 33 or 28.” </a:t>
            </a:r>
          </a:p>
        </p:txBody>
      </p:sp>
    </p:spTree>
    <p:extLst>
      <p:ext uri="{BB962C8B-B14F-4D97-AF65-F5344CB8AC3E}">
        <p14:creationId xmlns:p14="http://schemas.microsoft.com/office/powerpoint/2010/main" val="37786496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Summary</a:t>
            </a:r>
          </a:p>
        </p:txBody>
      </p:sp>
      <p:sp>
        <p:nvSpPr>
          <p:cNvPr id="689" name="Shape 689"/>
          <p:cNvSpPr txBox="1">
            <a:spLocks noGrp="1"/>
          </p:cNvSpPr>
          <p:nvPr>
            <p:ph type="body" idx="1"/>
          </p:nvPr>
        </p:nvSpPr>
        <p:spPr>
          <a:xfrm>
            <a:off x="1155700" y="2945058"/>
            <a:ext cx="13932000" cy="470564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 </a:t>
            </a:r>
            <a:b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==   &lt;=   &gt;=   &gt;   &lt;   !=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Two-way decisions:</a:t>
            </a:r>
            <a:b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if: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and  </a:t>
            </a: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else:</a:t>
            </a:r>
          </a:p>
        </p:txBody>
      </p:sp>
      <p:sp>
        <p:nvSpPr>
          <p:cNvPr id="690" name="Shape 690"/>
          <p:cNvSpPr txBox="1">
            <a:spLocks noGrp="1"/>
          </p:cNvSpPr>
          <p:nvPr>
            <p:ph type="body" idx="4294967295"/>
          </p:nvPr>
        </p:nvSpPr>
        <p:spPr>
          <a:xfrm>
            <a:off x="7967691" y="2945058"/>
            <a:ext cx="7000406" cy="478286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decisions using </a:t>
            </a:r>
            <a:r>
              <a:rPr lang="en-US" sz="36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elif</a:t>
            </a:r>
            <a:endParaRPr lang="en-US" sz="3600" u="none" strike="noStrike" cap="none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/ </a:t>
            </a:r>
            <a:r>
              <a:rPr lang="en-US" sz="3600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compensate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errors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2825098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443567" y="660921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That’s It!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213C61-C582-A843-BAE2-F1FC67B549A6}"/>
              </a:ext>
            </a:extLst>
          </p:cNvPr>
          <p:cNvSpPr txBox="1"/>
          <p:nvPr/>
        </p:nvSpPr>
        <p:spPr>
          <a:xfrm>
            <a:off x="2350759" y="4639734"/>
            <a:ext cx="108686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Take a look at your homework and submit before next class. </a:t>
            </a:r>
            <a:r>
              <a:rPr lang="en-US" sz="3000" dirty="0">
                <a:solidFill>
                  <a:schemeClr val="bg1"/>
                </a:solidFill>
                <a:sym typeface="Wingdings" pitchFamily="2" charset="2"/>
              </a:rPr>
              <a:t></a:t>
            </a:r>
            <a:endParaRPr 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490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Slides condensed into an 8 deck series aimed at younger learners in China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919933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1233</TotalTime>
  <Words>3688</Words>
  <Application>Microsoft Macintosh PowerPoint</Application>
  <PresentationFormat>Custom</PresentationFormat>
  <Paragraphs>711</Paragraphs>
  <Slides>63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1" baseType="lpstr">
      <vt:lpstr>Cabin</vt:lpstr>
      <vt:lpstr>ヒラギノ角ゴ ProN W3</vt:lpstr>
      <vt:lpstr>Arial</vt:lpstr>
      <vt:lpstr>Courier</vt:lpstr>
      <vt:lpstr>Courier New</vt:lpstr>
      <vt:lpstr>Gill Sans</vt:lpstr>
      <vt:lpstr>Wingdings</vt:lpstr>
      <vt:lpstr>Title &amp; Subtitle</vt:lpstr>
      <vt:lpstr>Constants, Variables, and Conditionals</vt:lpstr>
      <vt:lpstr>Constants</vt:lpstr>
      <vt:lpstr>Variables</vt:lpstr>
      <vt:lpstr>Variables</vt:lpstr>
      <vt:lpstr>Code Break!</vt:lpstr>
      <vt:lpstr>Python Variable Name Rules</vt:lpstr>
      <vt:lpstr>Mnemonic Variable Names</vt:lpstr>
      <vt:lpstr>PowerPoint Presentation</vt:lpstr>
      <vt:lpstr>PowerPoint Presentation</vt:lpstr>
      <vt:lpstr>PowerPoint Presentation</vt:lpstr>
      <vt:lpstr>Assignment Statements</vt:lpstr>
      <vt:lpstr>Expressions…</vt:lpstr>
      <vt:lpstr>Numeric Expressions</vt:lpstr>
      <vt:lpstr>Numeric Expressions</vt:lpstr>
      <vt:lpstr>Order of Evaluation</vt:lpstr>
      <vt:lpstr>Operator Precedence Rules</vt:lpstr>
      <vt:lpstr>PowerPoint Presentation</vt:lpstr>
      <vt:lpstr>PowerPoint Presentation</vt:lpstr>
      <vt:lpstr>PowerPoint Presentation</vt:lpstr>
      <vt:lpstr>Variable Types…</vt:lpstr>
      <vt:lpstr>What Does “Type” Mean?</vt:lpstr>
      <vt:lpstr>Try It Yourself</vt:lpstr>
      <vt:lpstr>Type Matters</vt:lpstr>
      <vt:lpstr>Type Conversions</vt:lpstr>
      <vt:lpstr>Type Conversions, Continued</vt:lpstr>
      <vt:lpstr>User Input</vt:lpstr>
      <vt:lpstr>Converting User Input</vt:lpstr>
      <vt:lpstr>Now You Try</vt:lpstr>
      <vt:lpstr>Comments…</vt:lpstr>
      <vt:lpstr>Comments in Python</vt:lpstr>
      <vt:lpstr>Conditionals!</vt:lpstr>
      <vt:lpstr>Conditional Steps</vt:lpstr>
      <vt:lpstr>Comparison Operators</vt:lpstr>
      <vt:lpstr>Comparison Operators</vt:lpstr>
      <vt:lpstr>One-Way Decisions</vt:lpstr>
      <vt:lpstr>Indentation</vt:lpstr>
      <vt:lpstr>PowerPoint Presentation</vt:lpstr>
      <vt:lpstr>PowerPoint Presentation</vt:lpstr>
      <vt:lpstr>Code Break!</vt:lpstr>
      <vt:lpstr>PowerPoint Presentation</vt:lpstr>
      <vt:lpstr>Two-way Decisions</vt:lpstr>
      <vt:lpstr>Two-way Decisions with else:</vt:lpstr>
      <vt:lpstr>Visualize Blocks</vt:lpstr>
      <vt:lpstr>More Conditional Structures…</vt:lpstr>
      <vt:lpstr>Multi-way</vt:lpstr>
      <vt:lpstr>Multi-way</vt:lpstr>
      <vt:lpstr>Multi-way</vt:lpstr>
      <vt:lpstr>Multi-way</vt:lpstr>
      <vt:lpstr>Multi-way</vt:lpstr>
      <vt:lpstr>Multi-way Puzzles</vt:lpstr>
      <vt:lpstr>Code Break!</vt:lpstr>
      <vt:lpstr>My Favorite Part!</vt:lpstr>
      <vt:lpstr>The try / except Structure</vt:lpstr>
      <vt:lpstr>PowerPoint Presentation</vt:lpstr>
      <vt:lpstr>PowerPoint Presentation</vt:lpstr>
      <vt:lpstr>PowerPoint Presentation</vt:lpstr>
      <vt:lpstr>try / except</vt:lpstr>
      <vt:lpstr>Sample try / except</vt:lpstr>
      <vt:lpstr>Sample try / except</vt:lpstr>
      <vt:lpstr>Code Break!</vt:lpstr>
      <vt:lpstr>Summary</vt:lpstr>
      <vt:lpstr>That’s It!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Variables, Expressions, and Statements</dc:title>
  <cp:lastModifiedBy>Microsoft Office User</cp:lastModifiedBy>
  <cp:revision>142</cp:revision>
  <cp:lastPrinted>2018-11-24T04:50:05Z</cp:lastPrinted>
  <dcterms:modified xsi:type="dcterms:W3CDTF">2018-11-24T05:35:07Z</dcterms:modified>
</cp:coreProperties>
</file>